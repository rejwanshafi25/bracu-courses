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8" r:id="rId20"/>
    <p:sldId id="279" r:id="rId21"/>
    <p:sldId id="280" r:id="rId22"/>
  </p:sldIdLst>
  <p:sldSz cx="10058400" cy="7772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3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58616" y="3007868"/>
            <a:ext cx="2741167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1502" y="785875"/>
            <a:ext cx="837539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0088" y="1549404"/>
            <a:ext cx="7554595" cy="2167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2025-01-15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658616" y="3007868"/>
            <a:ext cx="3656584" cy="25975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Bottom Up </a:t>
            </a:r>
            <a:r>
              <a:rPr spc="-5" dirty="0"/>
              <a:t>Parsing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28181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Bottom-Up</a:t>
            </a:r>
            <a:r>
              <a:rPr spc="-35" dirty="0"/>
              <a:t> </a:t>
            </a:r>
            <a:r>
              <a:rPr spc="-5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088" y="1549404"/>
            <a:ext cx="7773670" cy="3846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30810" indent="-343535">
              <a:lnSpc>
                <a:spcPct val="100000"/>
              </a:lnSpc>
              <a:spcBef>
                <a:spcPts val="9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A </a:t>
            </a:r>
            <a:r>
              <a:rPr sz="2600" b="1" spc="-5" dirty="0">
                <a:latin typeface="Arial"/>
                <a:cs typeface="Arial"/>
              </a:rPr>
              <a:t>bottom-up parser </a:t>
            </a:r>
            <a:r>
              <a:rPr sz="2600" spc="-5" dirty="0">
                <a:latin typeface="Arial"/>
                <a:cs typeface="Arial"/>
              </a:rPr>
              <a:t>creates the parse tree of the  given input starting from leaves towards the</a:t>
            </a:r>
            <a:r>
              <a:rPr sz="2600" spc="7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root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CC3300"/>
              </a:buClr>
              <a:buFont typeface="Arial"/>
              <a:buChar char="•"/>
            </a:pPr>
            <a:endParaRPr sz="3800">
              <a:latin typeface="Arial"/>
              <a:cs typeface="Arial"/>
            </a:endParaRPr>
          </a:p>
          <a:p>
            <a:pPr marL="355600" marR="162560" indent="-343535">
              <a:lnSpc>
                <a:spcPct val="100000"/>
              </a:lnSpc>
              <a:spcBef>
                <a:spcPts val="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A bottom-up parser tries to find the </a:t>
            </a:r>
            <a:r>
              <a:rPr sz="2600" b="1" spc="-5" dirty="0">
                <a:latin typeface="Arial"/>
                <a:cs typeface="Arial"/>
              </a:rPr>
              <a:t>right-most  derivation </a:t>
            </a:r>
            <a:r>
              <a:rPr sz="2600" spc="-5" dirty="0">
                <a:latin typeface="Arial"/>
                <a:cs typeface="Arial"/>
              </a:rPr>
              <a:t>of the given input in the reverse</a:t>
            </a:r>
            <a:r>
              <a:rPr sz="2600" spc="13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order.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0">
              <a:latin typeface="Arial"/>
              <a:cs typeface="Arial"/>
            </a:endParaRPr>
          </a:p>
          <a:p>
            <a:pPr marL="638810">
              <a:lnSpc>
                <a:spcPct val="100000"/>
              </a:lnSpc>
              <a:tabLst>
                <a:tab pos="2493645" algn="l"/>
              </a:tabLst>
            </a:pPr>
            <a:r>
              <a:rPr sz="2400" dirty="0">
                <a:latin typeface="Arial"/>
                <a:cs typeface="Arial"/>
              </a:rPr>
              <a:t>S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...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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Arial"/>
                <a:cs typeface="Arial"/>
              </a:rPr>
              <a:t>(the right-most derivation of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Symbol"/>
                <a:cs typeface="Symbol"/>
              </a:rPr>
              <a:t></a:t>
            </a:r>
            <a:r>
              <a:rPr sz="2400" spc="-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755650" marR="5080" indent="928369">
              <a:lnSpc>
                <a:spcPts val="2830"/>
              </a:lnSpc>
              <a:spcBef>
                <a:spcPts val="710"/>
              </a:spcBef>
              <a:tabLst>
                <a:tab pos="2153285" algn="l"/>
              </a:tabLst>
            </a:pPr>
            <a:r>
              <a:rPr sz="2400" dirty="0">
                <a:latin typeface="Symbol"/>
                <a:cs typeface="Symbol"/>
              </a:rPr>
              <a:t>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(the bottom-up </a:t>
            </a:r>
            <a:r>
              <a:rPr sz="2400" spc="-5" dirty="0">
                <a:latin typeface="Arial"/>
                <a:cs typeface="Arial"/>
              </a:rPr>
              <a:t>parser finds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right-most  </a:t>
            </a:r>
            <a:r>
              <a:rPr sz="2400" spc="-5" dirty="0">
                <a:latin typeface="Arial"/>
                <a:cs typeface="Arial"/>
              </a:rPr>
              <a:t>derivation in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reverse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order)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30943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Rightmost</a:t>
            </a:r>
            <a:r>
              <a:rPr spc="-25" dirty="0"/>
              <a:t> </a:t>
            </a:r>
            <a:r>
              <a:rPr spc="-5" dirty="0"/>
              <a:t>Derivation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66991" y="1066800"/>
            <a:ext cx="8434705" cy="6169660"/>
            <a:chOff x="1166991" y="1066800"/>
            <a:chExt cx="8434705" cy="6169660"/>
          </a:xfrm>
        </p:grpSpPr>
        <p:sp>
          <p:nvSpPr>
            <p:cNvPr id="4" name="object 4"/>
            <p:cNvSpPr/>
            <p:nvPr/>
          </p:nvSpPr>
          <p:spPr>
            <a:xfrm>
              <a:off x="1166991" y="1667255"/>
              <a:ext cx="8251328" cy="55686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95843" y="1066800"/>
              <a:ext cx="1705355" cy="14386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43461B6-8AB9-73C2-F64C-E46457934677}"/>
              </a:ext>
            </a:extLst>
          </p:cNvPr>
          <p:cNvSpPr txBox="1"/>
          <p:nvPr/>
        </p:nvSpPr>
        <p:spPr>
          <a:xfrm>
            <a:off x="841501" y="1667255"/>
            <a:ext cx="309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string: (id + id) * 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7233284" cy="1582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Reduction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Arial"/>
              <a:cs typeface="Arial"/>
            </a:endParaRPr>
          </a:p>
          <a:p>
            <a:pPr marL="583565" marR="5080" indent="-343535">
              <a:lnSpc>
                <a:spcPct val="100000"/>
              </a:lnSpc>
              <a:buClr>
                <a:srgbClr val="CC3300"/>
              </a:buClr>
              <a:buChar char="•"/>
              <a:tabLst>
                <a:tab pos="583565" algn="l"/>
                <a:tab pos="584200" algn="l"/>
              </a:tabLst>
            </a:pPr>
            <a:r>
              <a:rPr sz="2600" spc="-5" dirty="0">
                <a:latin typeface="Arial"/>
                <a:cs typeface="Arial"/>
              </a:rPr>
              <a:t>A reduction step replaces a specific substring  (matching the body of a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production)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0088" y="5196759"/>
            <a:ext cx="8134984" cy="137858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5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Reduction is the opposite of</a:t>
            </a:r>
            <a:r>
              <a:rPr sz="2600" spc="5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derivation</a:t>
            </a:r>
            <a:endParaRPr sz="2600">
              <a:latin typeface="Arial"/>
              <a:cs typeface="Arial"/>
            </a:endParaRPr>
          </a:p>
          <a:p>
            <a:pPr marL="355600" indent="-343535">
              <a:lnSpc>
                <a:spcPts val="3110"/>
              </a:lnSpc>
              <a:spcBef>
                <a:spcPts val="650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Bottom up parsing is a process of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reducing </a:t>
            </a:r>
            <a:r>
              <a:rPr sz="2600" spc="-5" dirty="0">
                <a:latin typeface="Arial"/>
                <a:cs typeface="Arial"/>
              </a:rPr>
              <a:t>a string</a:t>
            </a:r>
            <a:r>
              <a:rPr sz="2600" spc="120" dirty="0">
                <a:latin typeface="Arial"/>
                <a:cs typeface="Arial"/>
              </a:rPr>
              <a:t> </a:t>
            </a:r>
            <a:r>
              <a:rPr sz="2600" spc="-5" dirty="0">
                <a:latin typeface="Symbol"/>
                <a:cs typeface="Symbol"/>
              </a:rPr>
              <a:t></a:t>
            </a:r>
            <a:endParaRPr sz="2600">
              <a:latin typeface="Symbol"/>
              <a:cs typeface="Symbol"/>
            </a:endParaRPr>
          </a:p>
          <a:p>
            <a:pPr marL="355600">
              <a:lnSpc>
                <a:spcPts val="3110"/>
              </a:lnSpc>
            </a:pPr>
            <a:r>
              <a:rPr sz="2600" spc="-5" dirty="0">
                <a:latin typeface="Arial"/>
                <a:cs typeface="Arial"/>
              </a:rPr>
              <a:t>to the start symbol S of the</a:t>
            </a:r>
            <a:r>
              <a:rPr sz="2600" spc="6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grammar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4583" y="2895600"/>
            <a:ext cx="1829488" cy="2212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31684" y="3048000"/>
            <a:ext cx="1883715" cy="1606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0" y="2971800"/>
            <a:ext cx="2023872" cy="23888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107188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Handle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088" y="1549404"/>
            <a:ext cx="8274684" cy="3686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Informally, a </a:t>
            </a:r>
            <a:r>
              <a:rPr sz="2600" b="1" spc="-5" dirty="0">
                <a:latin typeface="Arial"/>
                <a:cs typeface="Arial"/>
              </a:rPr>
              <a:t>handle </a:t>
            </a:r>
            <a:r>
              <a:rPr sz="2600" spc="-5" dirty="0">
                <a:latin typeface="Arial"/>
                <a:cs typeface="Arial"/>
              </a:rPr>
              <a:t>is a substring (in the parsing  string) that matches the right side of a production</a:t>
            </a:r>
            <a:r>
              <a:rPr sz="2600" spc="1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rule.</a:t>
            </a:r>
            <a:endParaRPr sz="2600" dirty="0">
              <a:latin typeface="Arial"/>
              <a:cs typeface="Arial"/>
            </a:endParaRPr>
          </a:p>
          <a:p>
            <a:pPr marL="755650" marR="735330" indent="-28575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But not every substring matches the right side of a  production rule is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handle</a:t>
            </a:r>
            <a:endParaRPr sz="2400" dirty="0">
              <a:latin typeface="Arial"/>
              <a:cs typeface="Arial"/>
            </a:endParaRPr>
          </a:p>
          <a:p>
            <a:pPr marL="354965" marR="958215" indent="-354965">
              <a:lnSpc>
                <a:spcPct val="120200"/>
              </a:lnSpc>
              <a:spcBef>
                <a:spcPts val="1900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  <a:tab pos="5549900" algn="l"/>
                <a:tab pos="7069455" algn="l"/>
              </a:tabLst>
            </a:pPr>
            <a:r>
              <a:rPr sz="2600" spc="-5" dirty="0">
                <a:latin typeface="Arial"/>
                <a:cs typeface="Arial"/>
              </a:rPr>
              <a:t>A </a:t>
            </a:r>
            <a:r>
              <a:rPr sz="2600" b="1" spc="-5" dirty="0">
                <a:latin typeface="Arial"/>
                <a:cs typeface="Arial"/>
              </a:rPr>
              <a:t>handle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of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right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sentential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form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" dirty="0">
                <a:latin typeface="Symbol"/>
                <a:cs typeface="Symbol"/>
              </a:rPr>
              <a:t>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Arial"/>
                <a:cs typeface="Arial"/>
              </a:rPr>
              <a:t>(</a:t>
            </a:r>
            <a:r>
              <a:rPr sz="2600" spc="-5" dirty="0">
                <a:latin typeface="Symbol"/>
                <a:cs typeface="Symbol"/>
              </a:rPr>
              <a:t>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Symbol"/>
                <a:cs typeface="Symbol"/>
              </a:rPr>
              <a:t></a:t>
            </a:r>
            <a:r>
              <a:rPr sz="2600" dirty="0">
                <a:latin typeface="Symbol"/>
                <a:cs typeface="Symbol"/>
              </a:rPr>
              <a:t></a:t>
            </a:r>
            <a:r>
              <a:rPr sz="2600" spc="-5" dirty="0">
                <a:latin typeface="Arial"/>
                <a:cs typeface="Arial"/>
              </a:rPr>
              <a:t>)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" dirty="0">
                <a:latin typeface="Arial"/>
                <a:cs typeface="Arial"/>
              </a:rPr>
              <a:t>is  a production rule A </a:t>
            </a:r>
            <a:r>
              <a:rPr sz="2600" spc="-5" dirty="0">
                <a:latin typeface="Symbol"/>
                <a:cs typeface="Symbol"/>
              </a:rPr>
              <a:t>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Symbol"/>
                <a:cs typeface="Symbol"/>
              </a:rPr>
              <a:t>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Arial"/>
                <a:cs typeface="Arial"/>
              </a:rPr>
              <a:t>and </a:t>
            </a:r>
            <a:r>
              <a:rPr sz="2600" spc="-5" dirty="0">
                <a:latin typeface="Arial"/>
                <a:cs typeface="Arial"/>
              </a:rPr>
              <a:t>a </a:t>
            </a:r>
            <a:r>
              <a:rPr sz="2600" dirty="0">
                <a:latin typeface="Arial"/>
                <a:cs typeface="Arial"/>
              </a:rPr>
              <a:t>position of</a:t>
            </a:r>
            <a:r>
              <a:rPr sz="2600" spc="225" dirty="0">
                <a:latin typeface="Arial"/>
                <a:cs typeface="Arial"/>
              </a:rPr>
              <a:t> </a:t>
            </a:r>
            <a:r>
              <a:rPr sz="2600" spc="-5" dirty="0">
                <a:latin typeface="Symbol"/>
                <a:cs typeface="Symbol"/>
              </a:rPr>
              <a:t></a:t>
            </a:r>
            <a:endParaRPr sz="2600" dirty="0">
              <a:latin typeface="Symbol"/>
              <a:cs typeface="Symbol"/>
            </a:endParaRPr>
          </a:p>
          <a:p>
            <a:pPr marL="355600" marR="168275" indent="571500">
              <a:lnSpc>
                <a:spcPts val="3100"/>
              </a:lnSpc>
              <a:spcBef>
                <a:spcPts val="750"/>
              </a:spcBef>
            </a:pPr>
            <a:r>
              <a:rPr sz="2600" spc="-5" dirty="0">
                <a:latin typeface="Arial"/>
                <a:cs typeface="Arial"/>
              </a:rPr>
              <a:t>where the string </a:t>
            </a:r>
            <a:r>
              <a:rPr sz="2600" spc="-5" dirty="0">
                <a:latin typeface="Symbol"/>
                <a:cs typeface="Symbol"/>
              </a:rPr>
              <a:t>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Arial"/>
                <a:cs typeface="Arial"/>
              </a:rPr>
              <a:t>may be found and replaced by  A to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produce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0314" y="5290041"/>
            <a:ext cx="7609205" cy="14801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5400" marR="17780" indent="571500">
              <a:lnSpc>
                <a:spcPct val="100800"/>
              </a:lnSpc>
              <a:spcBef>
                <a:spcPts val="70"/>
              </a:spcBef>
              <a:tabLst>
                <a:tab pos="5947410" algn="l"/>
              </a:tabLst>
            </a:pPr>
            <a:r>
              <a:rPr lang="en-US" sz="2600" spc="-5" dirty="0">
                <a:latin typeface="Arial"/>
                <a:cs typeface="Arial"/>
              </a:rPr>
              <a:t>the previous right-sentential form in a rightmost derivation of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600" dirty="0">
                <a:latin typeface="Arial"/>
                <a:cs typeface="Arial"/>
              </a:rPr>
              <a:t>.</a:t>
            </a:r>
          </a:p>
          <a:p>
            <a:pPr marL="1510665">
              <a:lnSpc>
                <a:spcPct val="100000"/>
              </a:lnSpc>
              <a:spcBef>
                <a:spcPts val="2070"/>
              </a:spcBef>
            </a:pPr>
            <a:r>
              <a:rPr sz="2600" spc="-5" dirty="0">
                <a:latin typeface="Arial"/>
                <a:cs typeface="Arial"/>
              </a:rPr>
              <a:t>S </a:t>
            </a:r>
            <a:r>
              <a:rPr sz="2600" spc="-5" dirty="0">
                <a:latin typeface="Symbol"/>
                <a:cs typeface="Symbol"/>
              </a:rPr>
              <a:t>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Symbol"/>
                <a:cs typeface="Symbol"/>
              </a:rPr>
              <a:t></a:t>
            </a:r>
            <a:r>
              <a:rPr sz="2600" spc="-5" dirty="0">
                <a:latin typeface="Arial"/>
                <a:cs typeface="Arial"/>
              </a:rPr>
              <a:t>A</a:t>
            </a:r>
            <a:r>
              <a:rPr sz="2600" spc="-5" dirty="0">
                <a:latin typeface="Symbol"/>
                <a:cs typeface="Symbol"/>
              </a:rPr>
              <a:t>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Symbol"/>
                <a:cs typeface="Symbol"/>
              </a:rPr>
              <a:t></a:t>
            </a:r>
            <a:r>
              <a:rPr sz="2600" spc="22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Symbol"/>
                <a:cs typeface="Symbol"/>
              </a:rPr>
              <a:t></a:t>
            </a:r>
            <a:endParaRPr sz="2600" dirty="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230568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Handle</a:t>
            </a:r>
            <a:r>
              <a:rPr spc="-40" dirty="0"/>
              <a:t> </a:t>
            </a:r>
            <a:r>
              <a:rPr spc="-5" dirty="0"/>
              <a:t>Pruning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088" y="1549404"/>
            <a:ext cx="8110220" cy="818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A right-most derivation in reverse can be obtained</a:t>
            </a:r>
            <a:r>
              <a:rPr sz="2600" spc="14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by</a:t>
            </a:r>
            <a:endParaRPr sz="26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600" b="1" spc="-5" dirty="0">
                <a:latin typeface="Arial"/>
                <a:cs typeface="Arial"/>
              </a:rPr>
              <a:t>handle-pruning</a:t>
            </a:r>
            <a:r>
              <a:rPr sz="2600" spc="-5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0" y="3198114"/>
            <a:ext cx="497205" cy="235585"/>
          </a:xfrm>
          <a:custGeom>
            <a:avLst/>
            <a:gdLst/>
            <a:ahLst/>
            <a:cxnLst/>
            <a:rect l="l" t="t" r="r" b="b"/>
            <a:pathLst>
              <a:path w="497204" h="235585">
                <a:moveTo>
                  <a:pt x="85344" y="0"/>
                </a:moveTo>
                <a:lnTo>
                  <a:pt x="0" y="2286"/>
                </a:lnTo>
                <a:lnTo>
                  <a:pt x="53340" y="68580"/>
                </a:lnTo>
                <a:lnTo>
                  <a:pt x="53340" y="26670"/>
                </a:lnTo>
                <a:lnTo>
                  <a:pt x="55625" y="24384"/>
                </a:lnTo>
                <a:lnTo>
                  <a:pt x="59435" y="24384"/>
                </a:lnTo>
                <a:lnTo>
                  <a:pt x="71374" y="29934"/>
                </a:lnTo>
                <a:lnTo>
                  <a:pt x="85344" y="0"/>
                </a:lnTo>
                <a:close/>
              </a:path>
              <a:path w="497204" h="235585">
                <a:moveTo>
                  <a:pt x="71374" y="29934"/>
                </a:moveTo>
                <a:lnTo>
                  <a:pt x="59435" y="24384"/>
                </a:lnTo>
                <a:lnTo>
                  <a:pt x="55625" y="24384"/>
                </a:lnTo>
                <a:lnTo>
                  <a:pt x="53340" y="26670"/>
                </a:lnTo>
                <a:lnTo>
                  <a:pt x="53340" y="30480"/>
                </a:lnTo>
                <a:lnTo>
                  <a:pt x="55625" y="33528"/>
                </a:lnTo>
                <a:lnTo>
                  <a:pt x="67188" y="38903"/>
                </a:lnTo>
                <a:lnTo>
                  <a:pt x="71374" y="29934"/>
                </a:lnTo>
                <a:close/>
              </a:path>
              <a:path w="497204" h="235585">
                <a:moveTo>
                  <a:pt x="67188" y="38903"/>
                </a:moveTo>
                <a:lnTo>
                  <a:pt x="55625" y="33528"/>
                </a:lnTo>
                <a:lnTo>
                  <a:pt x="53340" y="30480"/>
                </a:lnTo>
                <a:lnTo>
                  <a:pt x="53340" y="68580"/>
                </a:lnTo>
                <a:lnTo>
                  <a:pt x="67188" y="38903"/>
                </a:lnTo>
                <a:close/>
              </a:path>
              <a:path w="497204" h="235585">
                <a:moveTo>
                  <a:pt x="496824" y="229362"/>
                </a:moveTo>
                <a:lnTo>
                  <a:pt x="493775" y="226313"/>
                </a:lnTo>
                <a:lnTo>
                  <a:pt x="71374" y="29934"/>
                </a:lnTo>
                <a:lnTo>
                  <a:pt x="67188" y="38903"/>
                </a:lnTo>
                <a:lnTo>
                  <a:pt x="489966" y="235458"/>
                </a:lnTo>
                <a:lnTo>
                  <a:pt x="493775" y="235458"/>
                </a:lnTo>
                <a:lnTo>
                  <a:pt x="496061" y="233172"/>
                </a:lnTo>
                <a:lnTo>
                  <a:pt x="496824" y="229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6615" y="2769361"/>
            <a:ext cx="7218680" cy="3726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8990">
              <a:lnSpc>
                <a:spcPts val="1480"/>
              </a:lnSpc>
              <a:spcBef>
                <a:spcPts val="100"/>
              </a:spcBef>
              <a:tabLst>
                <a:tab pos="1370965" algn="l"/>
                <a:tab pos="2004695" algn="l"/>
                <a:tab pos="2637790" algn="l"/>
                <a:tab pos="3411220" algn="l"/>
              </a:tabLst>
            </a:pPr>
            <a:r>
              <a:rPr sz="1600" dirty="0">
                <a:latin typeface="Times New Roman"/>
                <a:cs typeface="Times New Roman"/>
              </a:rPr>
              <a:t>rm	rm	rm	rm	rm</a:t>
            </a:r>
            <a:endParaRPr sz="1600">
              <a:latin typeface="Times New Roman"/>
              <a:cs typeface="Times New Roman"/>
            </a:endParaRPr>
          </a:p>
          <a:p>
            <a:pPr marL="418465">
              <a:lnSpc>
                <a:spcPts val="2680"/>
              </a:lnSpc>
            </a:pPr>
            <a:r>
              <a:rPr sz="2600" dirty="0">
                <a:latin typeface="Arial"/>
                <a:cs typeface="Arial"/>
              </a:rPr>
              <a:t>S=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0 </a:t>
            </a:r>
            <a:r>
              <a:rPr sz="2600" spc="-5" dirty="0">
                <a:latin typeface="Symbol"/>
                <a:cs typeface="Symbol"/>
              </a:rPr>
              <a:t>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1 </a:t>
            </a:r>
            <a:r>
              <a:rPr sz="2600" spc="-5" dirty="0">
                <a:latin typeface="Symbol"/>
                <a:cs typeface="Symbol"/>
              </a:rPr>
              <a:t>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2 </a:t>
            </a:r>
            <a:r>
              <a:rPr sz="2600" spc="-5" dirty="0">
                <a:latin typeface="Symbol"/>
                <a:cs typeface="Symbol"/>
              </a:rPr>
              <a:t>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Arial"/>
                <a:cs typeface="Arial"/>
              </a:rPr>
              <a:t>... </a:t>
            </a:r>
            <a:r>
              <a:rPr sz="2600" spc="-5" dirty="0">
                <a:latin typeface="Symbol"/>
                <a:cs typeface="Symbol"/>
              </a:rPr>
              <a:t>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Symbol"/>
                <a:cs typeface="Symbol"/>
              </a:rPr>
              <a:t></a:t>
            </a:r>
            <a:r>
              <a:rPr sz="2550" spc="-7" baseline="-22875" dirty="0">
                <a:latin typeface="Arial"/>
                <a:cs typeface="Arial"/>
              </a:rPr>
              <a:t>n-1 </a:t>
            </a:r>
            <a:r>
              <a:rPr sz="2600" spc="-5" dirty="0">
                <a:latin typeface="Symbol"/>
                <a:cs typeface="Symbol"/>
              </a:rPr>
              <a:t>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5" dirty="0">
                <a:latin typeface="Symbol"/>
                <a:cs typeface="Symbol"/>
              </a:rPr>
              <a:t></a:t>
            </a:r>
            <a:endParaRPr sz="2600">
              <a:latin typeface="Symbol"/>
              <a:cs typeface="Symbol"/>
            </a:endParaRPr>
          </a:p>
          <a:p>
            <a:pPr marR="30480" algn="r">
              <a:lnSpc>
                <a:spcPct val="100000"/>
              </a:lnSpc>
              <a:spcBef>
                <a:spcPts val="605"/>
              </a:spcBef>
            </a:pPr>
            <a:r>
              <a:rPr sz="2600" spc="-5" dirty="0">
                <a:latin typeface="Arial"/>
                <a:cs typeface="Arial"/>
              </a:rPr>
              <a:t>input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string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800">
              <a:latin typeface="Arial"/>
              <a:cs typeface="Arial"/>
            </a:endParaRPr>
          </a:p>
          <a:p>
            <a:pPr marL="418465" marR="1059815" indent="-342900">
              <a:lnSpc>
                <a:spcPct val="100000"/>
              </a:lnSpc>
              <a:buClr>
                <a:srgbClr val="CC3300"/>
              </a:buClr>
              <a:buChar char="•"/>
              <a:tabLst>
                <a:tab pos="418465" algn="l"/>
                <a:tab pos="419734" algn="l"/>
              </a:tabLst>
            </a:pPr>
            <a:r>
              <a:rPr sz="2600" spc="-5" dirty="0">
                <a:latin typeface="Arial"/>
                <a:cs typeface="Arial"/>
              </a:rPr>
              <a:t>Start from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, </a:t>
            </a:r>
            <a:r>
              <a:rPr sz="2600" spc="-5" dirty="0">
                <a:latin typeface="Arial"/>
                <a:cs typeface="Arial"/>
              </a:rPr>
              <a:t>find a handle A</a:t>
            </a:r>
            <a:r>
              <a:rPr sz="2550" spc="-7" baseline="-22875" dirty="0">
                <a:latin typeface="Arial"/>
                <a:cs typeface="Arial"/>
              </a:rPr>
              <a:t>n</a:t>
            </a:r>
            <a:r>
              <a:rPr sz="2600" spc="-5" dirty="0">
                <a:latin typeface="Symbol"/>
                <a:cs typeface="Symbol"/>
              </a:rPr>
              <a:t></a:t>
            </a:r>
            <a:r>
              <a:rPr sz="2550" spc="-7" baseline="-22875" dirty="0">
                <a:latin typeface="Arial"/>
                <a:cs typeface="Arial"/>
              </a:rPr>
              <a:t>n </a:t>
            </a:r>
            <a:r>
              <a:rPr sz="2600" spc="-5" dirty="0">
                <a:latin typeface="Arial"/>
                <a:cs typeface="Arial"/>
              </a:rPr>
              <a:t>in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,  </a:t>
            </a:r>
            <a:r>
              <a:rPr sz="2600" spc="-5" dirty="0">
                <a:latin typeface="Arial"/>
                <a:cs typeface="Arial"/>
              </a:rPr>
              <a:t>and replace </a:t>
            </a:r>
            <a:r>
              <a:rPr sz="2600" dirty="0">
                <a:latin typeface="Symbol"/>
                <a:cs typeface="Symbol"/>
              </a:rPr>
              <a:t></a:t>
            </a:r>
            <a:r>
              <a:rPr sz="2550" baseline="-22875" dirty="0">
                <a:latin typeface="Arial"/>
                <a:cs typeface="Arial"/>
              </a:rPr>
              <a:t>n </a:t>
            </a:r>
            <a:r>
              <a:rPr sz="2600" spc="-5" dirty="0">
                <a:latin typeface="Arial"/>
                <a:cs typeface="Arial"/>
              </a:rPr>
              <a:t>in by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550" baseline="-22875" dirty="0">
                <a:latin typeface="Arial"/>
                <a:cs typeface="Arial"/>
              </a:rPr>
              <a:t>n </a:t>
            </a:r>
            <a:r>
              <a:rPr sz="2600" spc="-5" dirty="0">
                <a:latin typeface="Arial"/>
                <a:cs typeface="Arial"/>
              </a:rPr>
              <a:t>to get</a:t>
            </a:r>
            <a:r>
              <a:rPr sz="2600" spc="-41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n-1</a:t>
            </a:r>
            <a:r>
              <a:rPr sz="260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418465" marR="1506220" indent="-342900">
              <a:lnSpc>
                <a:spcPct val="100000"/>
              </a:lnSpc>
              <a:spcBef>
                <a:spcPts val="635"/>
              </a:spcBef>
              <a:buClr>
                <a:srgbClr val="CC3300"/>
              </a:buClr>
              <a:buChar char="•"/>
              <a:tabLst>
                <a:tab pos="418465" algn="l"/>
                <a:tab pos="419734" algn="l"/>
              </a:tabLst>
            </a:pPr>
            <a:r>
              <a:rPr sz="2600" spc="-5" dirty="0">
                <a:latin typeface="Arial"/>
                <a:cs typeface="Arial"/>
              </a:rPr>
              <a:t>Then find a handle A</a:t>
            </a:r>
            <a:r>
              <a:rPr sz="2550" spc="-7" baseline="-22875" dirty="0">
                <a:latin typeface="Arial"/>
                <a:cs typeface="Arial"/>
              </a:rPr>
              <a:t>n-1</a:t>
            </a:r>
            <a:r>
              <a:rPr sz="2600" spc="-5" dirty="0">
                <a:latin typeface="Symbol"/>
                <a:cs typeface="Symbol"/>
              </a:rPr>
              <a:t></a:t>
            </a:r>
            <a:r>
              <a:rPr sz="2550" spc="-7" baseline="-22875" dirty="0">
                <a:latin typeface="Arial"/>
                <a:cs typeface="Arial"/>
              </a:rPr>
              <a:t>n-1 </a:t>
            </a:r>
            <a:r>
              <a:rPr sz="2600" dirty="0">
                <a:latin typeface="Arial"/>
                <a:cs typeface="Arial"/>
              </a:rPr>
              <a:t>in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n-1</a:t>
            </a:r>
            <a:r>
              <a:rPr sz="2600" dirty="0">
                <a:latin typeface="Arial"/>
                <a:cs typeface="Arial"/>
              </a:rPr>
              <a:t>,  </a:t>
            </a:r>
            <a:r>
              <a:rPr sz="2600" spc="-5" dirty="0">
                <a:latin typeface="Arial"/>
                <a:cs typeface="Arial"/>
              </a:rPr>
              <a:t>and replace </a:t>
            </a:r>
            <a:r>
              <a:rPr sz="2600" dirty="0">
                <a:latin typeface="Symbol"/>
                <a:cs typeface="Symbol"/>
              </a:rPr>
              <a:t></a:t>
            </a:r>
            <a:r>
              <a:rPr sz="2550" baseline="-22875" dirty="0">
                <a:latin typeface="Arial"/>
                <a:cs typeface="Arial"/>
              </a:rPr>
              <a:t>n-1 </a:t>
            </a:r>
            <a:r>
              <a:rPr sz="2600" spc="-5" dirty="0">
                <a:latin typeface="Arial"/>
                <a:cs typeface="Arial"/>
              </a:rPr>
              <a:t>in by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550" baseline="-22875" dirty="0">
                <a:latin typeface="Arial"/>
                <a:cs typeface="Arial"/>
              </a:rPr>
              <a:t>n-1 </a:t>
            </a:r>
            <a:r>
              <a:rPr sz="2600" spc="-5" dirty="0">
                <a:latin typeface="Arial"/>
                <a:cs typeface="Arial"/>
              </a:rPr>
              <a:t>to get</a:t>
            </a:r>
            <a:r>
              <a:rPr sz="2600" spc="-425" dirty="0">
                <a:latin typeface="Arial"/>
                <a:cs typeface="Arial"/>
              </a:rPr>
              <a:t> </a:t>
            </a:r>
            <a:r>
              <a:rPr sz="2600" dirty="0">
                <a:latin typeface="Symbol"/>
                <a:cs typeface="Symbol"/>
              </a:rPr>
              <a:t></a:t>
            </a:r>
            <a:r>
              <a:rPr sz="2550" baseline="-22875" dirty="0">
                <a:latin typeface="Arial"/>
                <a:cs typeface="Arial"/>
              </a:rPr>
              <a:t>n-2</a:t>
            </a:r>
            <a:r>
              <a:rPr sz="260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 marL="419100" indent="-343535">
              <a:lnSpc>
                <a:spcPct val="100000"/>
              </a:lnSpc>
              <a:spcBef>
                <a:spcPts val="615"/>
              </a:spcBef>
              <a:buClr>
                <a:srgbClr val="CC3300"/>
              </a:buClr>
              <a:buChar char="•"/>
              <a:tabLst>
                <a:tab pos="418465" algn="l"/>
                <a:tab pos="419100" algn="l"/>
              </a:tabLst>
            </a:pPr>
            <a:r>
              <a:rPr sz="2600" spc="-5" dirty="0">
                <a:latin typeface="Arial"/>
                <a:cs typeface="Arial"/>
              </a:rPr>
              <a:t>Repeat this, until we reach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48526" y="2236724"/>
            <a:ext cx="27743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n-th right-sentential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form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29121" y="2510027"/>
            <a:ext cx="767080" cy="538480"/>
          </a:xfrm>
          <a:custGeom>
            <a:avLst/>
            <a:gdLst/>
            <a:ahLst/>
            <a:cxnLst/>
            <a:rect l="l" t="t" r="r" b="b"/>
            <a:pathLst>
              <a:path w="767079" h="538480">
                <a:moveTo>
                  <a:pt x="59638" y="490514"/>
                </a:moveTo>
                <a:lnTo>
                  <a:pt x="40386" y="463295"/>
                </a:lnTo>
                <a:lnTo>
                  <a:pt x="0" y="537971"/>
                </a:lnTo>
                <a:lnTo>
                  <a:pt x="47243" y="531162"/>
                </a:lnTo>
                <a:lnTo>
                  <a:pt x="47243" y="500633"/>
                </a:lnTo>
                <a:lnTo>
                  <a:pt x="49529" y="497585"/>
                </a:lnTo>
                <a:lnTo>
                  <a:pt x="59638" y="490514"/>
                </a:lnTo>
                <a:close/>
              </a:path>
              <a:path w="767079" h="538480">
                <a:moveTo>
                  <a:pt x="65009" y="498108"/>
                </a:moveTo>
                <a:lnTo>
                  <a:pt x="59638" y="490514"/>
                </a:lnTo>
                <a:lnTo>
                  <a:pt x="49529" y="497585"/>
                </a:lnTo>
                <a:lnTo>
                  <a:pt x="47243" y="500633"/>
                </a:lnTo>
                <a:lnTo>
                  <a:pt x="48005" y="504444"/>
                </a:lnTo>
                <a:lnTo>
                  <a:pt x="51053" y="505967"/>
                </a:lnTo>
                <a:lnTo>
                  <a:pt x="54863" y="505205"/>
                </a:lnTo>
                <a:lnTo>
                  <a:pt x="65009" y="498108"/>
                </a:lnTo>
                <a:close/>
              </a:path>
              <a:path w="767079" h="538480">
                <a:moveTo>
                  <a:pt x="84581" y="525779"/>
                </a:moveTo>
                <a:lnTo>
                  <a:pt x="65009" y="498108"/>
                </a:lnTo>
                <a:lnTo>
                  <a:pt x="54863" y="505205"/>
                </a:lnTo>
                <a:lnTo>
                  <a:pt x="51053" y="505967"/>
                </a:lnTo>
                <a:lnTo>
                  <a:pt x="48005" y="504444"/>
                </a:lnTo>
                <a:lnTo>
                  <a:pt x="47243" y="500633"/>
                </a:lnTo>
                <a:lnTo>
                  <a:pt x="47243" y="531162"/>
                </a:lnTo>
                <a:lnTo>
                  <a:pt x="84581" y="525779"/>
                </a:lnTo>
                <a:close/>
              </a:path>
              <a:path w="767079" h="538480">
                <a:moveTo>
                  <a:pt x="766572" y="5333"/>
                </a:moveTo>
                <a:lnTo>
                  <a:pt x="765809" y="1523"/>
                </a:lnTo>
                <a:lnTo>
                  <a:pt x="762761" y="0"/>
                </a:lnTo>
                <a:lnTo>
                  <a:pt x="759713" y="761"/>
                </a:lnTo>
                <a:lnTo>
                  <a:pt x="59638" y="490514"/>
                </a:lnTo>
                <a:lnTo>
                  <a:pt x="65009" y="498108"/>
                </a:lnTo>
                <a:lnTo>
                  <a:pt x="765048" y="8381"/>
                </a:lnTo>
                <a:lnTo>
                  <a:pt x="766572" y="53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314960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Shift-Reduce</a:t>
            </a:r>
            <a:r>
              <a:rPr spc="-20" dirty="0"/>
              <a:t> </a:t>
            </a:r>
            <a:r>
              <a:rPr spc="-5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088" y="1549404"/>
            <a:ext cx="8091170" cy="5380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97815" indent="-343535">
              <a:lnSpc>
                <a:spcPct val="100000"/>
              </a:lnSpc>
              <a:spcBef>
                <a:spcPts val="9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Bottom-up parsing is also known as </a:t>
            </a:r>
            <a:r>
              <a:rPr sz="2600" b="1" spc="-5" dirty="0">
                <a:solidFill>
                  <a:srgbClr val="CC3300"/>
                </a:solidFill>
                <a:latin typeface="Arial"/>
                <a:cs typeface="Arial"/>
              </a:rPr>
              <a:t>shift-reduce  parsing </a:t>
            </a:r>
            <a:r>
              <a:rPr sz="2600" spc="-5" dirty="0">
                <a:latin typeface="Arial"/>
                <a:cs typeface="Arial"/>
              </a:rPr>
              <a:t>because its two main actions are shift and  reduce.</a:t>
            </a:r>
            <a:endParaRPr sz="26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4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data structures: input-string and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stack</a:t>
            </a:r>
            <a:endParaRPr sz="26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30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Operations</a:t>
            </a:r>
            <a:endParaRPr sz="2600">
              <a:latin typeface="Arial"/>
              <a:cs typeface="Arial"/>
            </a:endParaRPr>
          </a:p>
          <a:p>
            <a:pPr marL="755650" marR="502284" lvl="1" indent="-285750">
              <a:lnSpc>
                <a:spcPct val="100000"/>
              </a:lnSpc>
              <a:spcBef>
                <a:spcPts val="565"/>
              </a:spcBef>
              <a:buClr>
                <a:srgbClr val="CC3300"/>
              </a:buClr>
              <a:buChar char="–"/>
              <a:tabLst>
                <a:tab pos="756285" algn="l"/>
              </a:tabLst>
            </a:pPr>
            <a:r>
              <a:rPr sz="2400" spc="-5" dirty="0">
                <a:latin typeface="Arial"/>
                <a:cs typeface="Arial"/>
              </a:rPr>
              <a:t>At each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shift </a:t>
            </a:r>
            <a:r>
              <a:rPr sz="2400" dirty="0">
                <a:latin typeface="Arial"/>
                <a:cs typeface="Arial"/>
              </a:rPr>
              <a:t>action, the current </a:t>
            </a:r>
            <a:r>
              <a:rPr sz="2400" spc="-5" dirty="0">
                <a:latin typeface="Arial"/>
                <a:cs typeface="Arial"/>
              </a:rPr>
              <a:t>symbol in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input  string is pushed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stack.</a:t>
            </a:r>
            <a:endParaRPr sz="24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65"/>
              </a:spcBef>
              <a:buClr>
                <a:srgbClr val="CC3300"/>
              </a:buClr>
              <a:buChar char="–"/>
              <a:tabLst>
                <a:tab pos="756285" algn="l"/>
              </a:tabLst>
            </a:pPr>
            <a:r>
              <a:rPr sz="2400" spc="-5" dirty="0">
                <a:latin typeface="Arial"/>
                <a:cs typeface="Arial"/>
              </a:rPr>
              <a:t>At each 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reduction </a:t>
            </a:r>
            <a:r>
              <a:rPr sz="2400" spc="-5" dirty="0">
                <a:latin typeface="Arial"/>
                <a:cs typeface="Arial"/>
              </a:rPr>
              <a:t>step, the symbols at the top of the  </a:t>
            </a:r>
            <a:r>
              <a:rPr sz="2400" dirty="0">
                <a:latin typeface="Arial"/>
                <a:cs typeface="Arial"/>
              </a:rPr>
              <a:t>stack (this </a:t>
            </a:r>
            <a:r>
              <a:rPr sz="2400" spc="-5" dirty="0">
                <a:latin typeface="Arial"/>
                <a:cs typeface="Arial"/>
              </a:rPr>
              <a:t>symbol sequence is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right side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a  production) will replaced by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non-terminal </a:t>
            </a:r>
            <a:r>
              <a:rPr sz="2400" dirty="0">
                <a:latin typeface="Arial"/>
                <a:cs typeface="Arial"/>
              </a:rPr>
              <a:t>at the left  </a:t>
            </a:r>
            <a:r>
              <a:rPr sz="2400" spc="-5" dirty="0">
                <a:latin typeface="Arial"/>
                <a:cs typeface="Arial"/>
              </a:rPr>
              <a:t>side of that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production.</a:t>
            </a:r>
            <a:endParaRPr sz="24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555"/>
              </a:spcBef>
              <a:buChar char="–"/>
              <a:tabLst>
                <a:tab pos="755650" algn="l"/>
              </a:tabLst>
            </a:pP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Accept: </a:t>
            </a:r>
            <a:r>
              <a:rPr sz="2400" spc="-5" dirty="0">
                <a:latin typeface="Arial"/>
                <a:cs typeface="Arial"/>
              </a:rPr>
              <a:t>Announce </a:t>
            </a:r>
            <a:r>
              <a:rPr sz="2400" dirty="0">
                <a:latin typeface="Arial"/>
                <a:cs typeface="Arial"/>
              </a:rPr>
              <a:t>successful </a:t>
            </a:r>
            <a:r>
              <a:rPr sz="2400" spc="-5" dirty="0">
                <a:latin typeface="Arial"/>
                <a:cs typeface="Arial"/>
              </a:rPr>
              <a:t>completion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parsing</a:t>
            </a:r>
            <a:endParaRPr sz="24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Error: </a:t>
            </a:r>
            <a:r>
              <a:rPr sz="2400" spc="-5" dirty="0">
                <a:latin typeface="Arial"/>
                <a:cs typeface="Arial"/>
              </a:rPr>
              <a:t>Discover a </a:t>
            </a:r>
            <a:r>
              <a:rPr sz="2400" dirty="0">
                <a:latin typeface="Arial"/>
                <a:cs typeface="Arial"/>
              </a:rPr>
              <a:t>syntax </a:t>
            </a:r>
            <a:r>
              <a:rPr sz="2400" spc="-5" dirty="0">
                <a:latin typeface="Arial"/>
                <a:cs typeface="Arial"/>
              </a:rPr>
              <a:t>error and call error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recovery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Shift Reduce</a:t>
            </a:r>
            <a:r>
              <a:rPr spc="-15" dirty="0"/>
              <a:t> </a:t>
            </a:r>
            <a:r>
              <a:rPr spc="-5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597" y="1600200"/>
            <a:ext cx="2733803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sz="2200" dirty="0">
                <a:latin typeface="Arial"/>
                <a:cs typeface="Arial"/>
              </a:rPr>
              <a:t>S</a:t>
            </a:r>
            <a:r>
              <a:rPr lang="en-US" sz="2200" dirty="0">
                <a:latin typeface="Arial"/>
                <a:cs typeface="Arial"/>
              </a:rPr>
              <a:t>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sz="2200" dirty="0">
                <a:latin typeface="Arial"/>
                <a:cs typeface="Arial"/>
              </a:rPr>
              <a:t>T </a:t>
            </a:r>
            <a:r>
              <a:rPr lang="en-US" sz="2200" dirty="0">
                <a:latin typeface="Arial"/>
                <a:cs typeface="Arial"/>
              </a:rPr>
              <a:t>-&gt; </a:t>
            </a:r>
            <a:r>
              <a:rPr sz="2200" dirty="0">
                <a:latin typeface="Arial"/>
                <a:cs typeface="Arial"/>
              </a:rPr>
              <a:t>T  b c | b   </a:t>
            </a:r>
            <a:endParaRPr lang="en-US" sz="2200" dirty="0">
              <a:latin typeface="Arial"/>
              <a:cs typeface="Arial"/>
            </a:endParaRP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en-US" sz="2200" spc="40" dirty="0">
                <a:latin typeface="Arial"/>
                <a:cs typeface="Arial"/>
              </a:rPr>
              <a:t>R -&gt; 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06900" y="2065274"/>
            <a:ext cx="372554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" dirty="0">
                <a:latin typeface="Times New Roman"/>
                <a:cs typeface="Times New Roman"/>
              </a:rPr>
              <a:t>Remaining </a:t>
            </a:r>
            <a:r>
              <a:rPr sz="2900" spc="-5" dirty="0">
                <a:latin typeface="Times New Roman"/>
                <a:cs typeface="Times New Roman"/>
              </a:rPr>
              <a:t>input: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5" dirty="0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sz="2900" spc="-5" dirty="0">
                <a:latin typeface="Times New Roman"/>
                <a:cs typeface="Times New Roman"/>
              </a:rPr>
              <a:t>bbcde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1702" y="5296621"/>
            <a:ext cx="224282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5080" indent="-254000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Rightmost derivation: 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R 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</a:t>
            </a:r>
            <a:r>
              <a:rPr sz="2000" b="1" spc="-5" dirty="0">
                <a:solidFill>
                  <a:srgbClr val="7F7F7F"/>
                </a:solidFill>
                <a:latin typeface="Times New Roman"/>
                <a:cs typeface="Times New Roman"/>
              </a:rPr>
              <a:t>d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</a:t>
            </a:r>
            <a:r>
              <a:rPr sz="2000" b="1" spc="-5" dirty="0">
                <a:solidFill>
                  <a:srgbClr val="7F7F7F"/>
                </a:solidFill>
                <a:latin typeface="Times New Roman"/>
                <a:cs typeface="Times New Roman"/>
              </a:rPr>
              <a:t>T b c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d </a:t>
            </a:r>
            <a:r>
              <a:rPr sz="2000" spc="-894" dirty="0">
                <a:solidFill>
                  <a:srgbClr val="7F7F7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 b b c d </a:t>
            </a:r>
            <a:r>
              <a:rPr sz="2000" spc="-500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Shift Reduce</a:t>
            </a:r>
            <a:r>
              <a:rPr sz="2600" spc="-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Parsing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597" y="2022144"/>
            <a:ext cx="2202435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S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T -&gt; T  b c | b   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spc="40" dirty="0">
                <a:latin typeface="Arial"/>
                <a:cs typeface="Arial"/>
              </a:rPr>
              <a:t>R -&gt; </a:t>
            </a:r>
            <a:r>
              <a:rPr lang="pt-BR" sz="2200" spc="40" dirty="0">
                <a:latin typeface="Times New Roman"/>
                <a:cs typeface="Times New Roman"/>
              </a:rPr>
              <a:t> </a:t>
            </a:r>
            <a:r>
              <a:rPr lang="pt-BR"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2902" y="5101082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a	b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101" y="3603752"/>
            <a:ext cx="34510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/>
              <a:t>Shift </a:t>
            </a:r>
            <a:r>
              <a:rPr lang="en-US" sz="2400" dirty="0"/>
              <a:t>a, Shift 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06900" y="2065274"/>
            <a:ext cx="3376929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" dirty="0">
                <a:latin typeface="Times New Roman"/>
                <a:cs typeface="Times New Roman"/>
              </a:rPr>
              <a:t>Remaining </a:t>
            </a:r>
            <a:r>
              <a:rPr sz="2900" spc="-5" dirty="0">
                <a:latin typeface="Times New Roman"/>
                <a:cs typeface="Times New Roman"/>
              </a:rPr>
              <a:t>input: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spc="-10" dirty="0">
                <a:solidFill>
                  <a:srgbClr val="FF3300"/>
                </a:solidFill>
                <a:latin typeface="Times New Roman"/>
                <a:cs typeface="Times New Roman"/>
              </a:rPr>
              <a:t>b</a:t>
            </a:r>
            <a:r>
              <a:rPr sz="2900" spc="-10" dirty="0">
                <a:latin typeface="Times New Roman"/>
                <a:cs typeface="Times New Roman"/>
              </a:rPr>
              <a:t>cde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1702" y="5296621"/>
            <a:ext cx="224282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5080" indent="-254000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Rightmost derivation: 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R e</a:t>
            </a:r>
            <a:endParaRPr sz="2000" dirty="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</a:t>
            </a:r>
            <a:r>
              <a:rPr sz="2000" b="1" spc="-5" dirty="0">
                <a:solidFill>
                  <a:srgbClr val="7F7F7F"/>
                </a:solidFill>
                <a:latin typeface="Times New Roman"/>
                <a:cs typeface="Times New Roman"/>
              </a:rPr>
              <a:t>d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e</a:t>
            </a:r>
            <a:endParaRPr sz="2000" dirty="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</a:t>
            </a:r>
            <a:r>
              <a:rPr sz="2000" b="1" spc="-5" dirty="0">
                <a:solidFill>
                  <a:srgbClr val="7F7F7F"/>
                </a:solidFill>
                <a:latin typeface="Times New Roman"/>
                <a:cs typeface="Times New Roman"/>
              </a:rPr>
              <a:t>T b c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d </a:t>
            </a:r>
            <a:r>
              <a:rPr sz="2000" spc="-894" dirty="0">
                <a:solidFill>
                  <a:srgbClr val="7F7F7F"/>
                </a:solidFill>
                <a:latin typeface="Times New Roman"/>
                <a:cs typeface="Times New Roman"/>
              </a:rPr>
              <a:t>e</a:t>
            </a:r>
            <a:endParaRPr sz="2000" dirty="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a b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 b c d </a:t>
            </a:r>
            <a:r>
              <a:rPr sz="2000" spc="-49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Shift Reduce</a:t>
            </a:r>
            <a:r>
              <a:rPr sz="2600" spc="-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Parsing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597" y="2022144"/>
            <a:ext cx="2581403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S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T -&gt; T  b c | b   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spc="40" dirty="0">
                <a:latin typeface="Arial"/>
                <a:cs typeface="Arial"/>
              </a:rPr>
              <a:t>R -&gt; </a:t>
            </a:r>
            <a:r>
              <a:rPr lang="pt-BR" sz="2200" spc="40" dirty="0">
                <a:latin typeface="Times New Roman"/>
                <a:cs typeface="Times New Roman"/>
              </a:rPr>
              <a:t> </a:t>
            </a:r>
            <a:r>
              <a:rPr lang="pt-BR"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2902" y="5029454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a	b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3603752"/>
            <a:ext cx="420287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Shift a, Shift b</a:t>
            </a:r>
          </a:p>
          <a:p>
            <a:r>
              <a:rPr lang="en-US" sz="2400" dirty="0"/>
              <a:t>Reduce T --&gt; 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96088" y="4186697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5202" y="4648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06900" y="2065274"/>
            <a:ext cx="3376929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" dirty="0">
                <a:latin typeface="Times New Roman"/>
                <a:cs typeface="Times New Roman"/>
              </a:rPr>
              <a:t>Remaining </a:t>
            </a:r>
            <a:r>
              <a:rPr sz="2900" spc="-5" dirty="0">
                <a:latin typeface="Times New Roman"/>
                <a:cs typeface="Times New Roman"/>
              </a:rPr>
              <a:t>input: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spc="-10" dirty="0">
                <a:solidFill>
                  <a:srgbClr val="FF3300"/>
                </a:solidFill>
                <a:latin typeface="Times New Roman"/>
                <a:cs typeface="Times New Roman"/>
              </a:rPr>
              <a:t>b</a:t>
            </a:r>
            <a:r>
              <a:rPr sz="2900" spc="-10" dirty="0">
                <a:latin typeface="Times New Roman"/>
                <a:cs typeface="Times New Roman"/>
              </a:rPr>
              <a:t>cde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51702" y="5296621"/>
            <a:ext cx="224282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5080" indent="-254000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Rightmost derivation: 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R 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</a:t>
            </a:r>
            <a:r>
              <a:rPr sz="2000" b="1" spc="-5" dirty="0">
                <a:solidFill>
                  <a:srgbClr val="7F7F7F"/>
                </a:solidFill>
                <a:latin typeface="Times New Roman"/>
                <a:cs typeface="Times New Roman"/>
              </a:rPr>
              <a:t>d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u="heavy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a </a:t>
            </a:r>
            <a:r>
              <a:rPr sz="2000" b="1" u="heavy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 b c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894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a b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b c d </a:t>
            </a:r>
            <a:r>
              <a:rPr sz="2000" spc="-71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Shift Reduce</a:t>
            </a:r>
            <a:r>
              <a:rPr sz="2600" spc="-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Parsing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597" y="2022144"/>
            <a:ext cx="2733803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S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T -&gt; T  b c | b   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spc="40" dirty="0">
                <a:latin typeface="Arial"/>
                <a:cs typeface="Arial"/>
              </a:rPr>
              <a:t>R -&gt; </a:t>
            </a:r>
            <a:r>
              <a:rPr lang="pt-BR" sz="2200" spc="40" dirty="0">
                <a:latin typeface="Times New Roman"/>
                <a:cs typeface="Times New Roman"/>
              </a:rPr>
              <a:t> </a:t>
            </a:r>
            <a:r>
              <a:rPr lang="pt-BR"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2902" y="5029454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a	b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102" y="3603752"/>
            <a:ext cx="399637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Shift a, Shift b</a:t>
            </a:r>
          </a:p>
          <a:p>
            <a:r>
              <a:rPr lang="en-US" sz="2400" dirty="0"/>
              <a:t>Reduce T --&gt; b</a:t>
            </a:r>
          </a:p>
          <a:p>
            <a:r>
              <a:rPr lang="en-US" sz="2400" dirty="0"/>
              <a:t>Shift b, Shift 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96088" y="4186697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5202" y="4648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81903" y="5024882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341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b	c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6900" y="2065274"/>
            <a:ext cx="302958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" dirty="0">
                <a:latin typeface="Times New Roman"/>
                <a:cs typeface="Times New Roman"/>
              </a:rPr>
              <a:t>Remaining </a:t>
            </a:r>
            <a:r>
              <a:rPr sz="2900" spc="-5" dirty="0">
                <a:latin typeface="Times New Roman"/>
                <a:cs typeface="Times New Roman"/>
              </a:rPr>
              <a:t>input: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spc="-5" dirty="0">
                <a:solidFill>
                  <a:srgbClr val="FF3300"/>
                </a:solidFill>
                <a:latin typeface="Times New Roman"/>
                <a:cs typeface="Times New Roman"/>
              </a:rPr>
              <a:t>d</a:t>
            </a:r>
            <a:r>
              <a:rPr sz="2900" spc="-5" dirty="0"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1702" y="5296621"/>
            <a:ext cx="224282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5080" indent="-254000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Rightmost derivation: 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R 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</a:t>
            </a:r>
            <a:r>
              <a:rPr sz="2000" b="1" spc="-5" dirty="0">
                <a:solidFill>
                  <a:srgbClr val="7F7F7F"/>
                </a:solidFill>
                <a:latin typeface="Times New Roman"/>
                <a:cs typeface="Times New Roman"/>
              </a:rPr>
              <a:t>d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u="heavy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a </a:t>
            </a:r>
            <a:r>
              <a:rPr sz="2000" b="1" u="heavy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T b c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894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a b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b c d </a:t>
            </a:r>
            <a:r>
              <a:rPr sz="2000" spc="-71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Shift Reduce</a:t>
            </a:r>
            <a:r>
              <a:rPr sz="2600" spc="-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Parsing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597" y="2022144"/>
            <a:ext cx="2505203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S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T -&gt; T  b c | b   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spc="40" dirty="0">
                <a:latin typeface="Arial"/>
                <a:cs typeface="Arial"/>
              </a:rPr>
              <a:t>R -&gt; </a:t>
            </a:r>
            <a:r>
              <a:rPr lang="pt-BR" sz="2200" spc="40" dirty="0">
                <a:latin typeface="Times New Roman"/>
                <a:cs typeface="Times New Roman"/>
              </a:rPr>
              <a:t> </a:t>
            </a:r>
            <a:r>
              <a:rPr lang="pt-BR"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2902" y="5029454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a	b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102" y="3603752"/>
            <a:ext cx="315785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Shift a, Shift b</a:t>
            </a:r>
          </a:p>
          <a:p>
            <a:r>
              <a:rPr lang="en-US" sz="2400" dirty="0"/>
              <a:t>Reduce T --&gt; b</a:t>
            </a:r>
          </a:p>
          <a:p>
            <a:r>
              <a:rPr lang="en-US" sz="2400" dirty="0"/>
              <a:t>Shift b, Shift c</a:t>
            </a:r>
          </a:p>
          <a:p>
            <a:r>
              <a:rPr lang="en-US" sz="2400" dirty="0"/>
              <a:t>Reduce T --&gt;  T b 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96088" y="4186663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5202" y="4648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81903" y="5024882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341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b	c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9519" y="3500897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21402" y="3886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78602" y="3886200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54802" y="3962400"/>
            <a:ext cx="533400" cy="1219200"/>
          </a:xfrm>
          <a:custGeom>
            <a:avLst/>
            <a:gdLst/>
            <a:ahLst/>
            <a:cxnLst/>
            <a:rect l="l" t="t" r="r" b="b"/>
            <a:pathLst>
              <a:path w="533400" h="1219200">
                <a:moveTo>
                  <a:pt x="0" y="0"/>
                </a:moveTo>
                <a:lnTo>
                  <a:pt x="533400" y="12191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06900" y="2065274"/>
            <a:ext cx="3029585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" dirty="0">
                <a:latin typeface="Times New Roman"/>
                <a:cs typeface="Times New Roman"/>
              </a:rPr>
              <a:t>Remaining </a:t>
            </a:r>
            <a:r>
              <a:rPr sz="2900" spc="-5" dirty="0">
                <a:latin typeface="Times New Roman"/>
                <a:cs typeface="Times New Roman"/>
              </a:rPr>
              <a:t>input: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spc="-5" dirty="0">
                <a:solidFill>
                  <a:srgbClr val="FF3300"/>
                </a:solidFill>
                <a:latin typeface="Times New Roman"/>
                <a:cs typeface="Times New Roman"/>
              </a:rPr>
              <a:t>d</a:t>
            </a:r>
            <a:r>
              <a:rPr sz="2900" spc="-5" dirty="0"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1702" y="5296621"/>
            <a:ext cx="224282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5080" indent="-254000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Rightmost derivation: 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R 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a T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T b c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894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a b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b c d </a:t>
            </a:r>
            <a:r>
              <a:rPr sz="2000" spc="-71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Shift Reduce</a:t>
            </a:r>
            <a:r>
              <a:rPr sz="2600" spc="-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Parsing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597" y="2022144"/>
            <a:ext cx="2124203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S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T -&gt; T  b c | b   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spc="40" dirty="0">
                <a:latin typeface="Arial"/>
                <a:cs typeface="Arial"/>
              </a:rPr>
              <a:t>R -&gt; </a:t>
            </a:r>
            <a:r>
              <a:rPr lang="pt-BR" sz="2200" spc="40" dirty="0">
                <a:latin typeface="Times New Roman"/>
                <a:cs typeface="Times New Roman"/>
              </a:rPr>
              <a:t> </a:t>
            </a:r>
            <a:r>
              <a:rPr lang="pt-BR"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2902" y="5029454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a	b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102" y="3603752"/>
            <a:ext cx="307009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Shift a, Shift b</a:t>
            </a:r>
          </a:p>
          <a:p>
            <a:r>
              <a:rPr lang="en-US" sz="2400" dirty="0"/>
              <a:t>Reduce T --&gt; b</a:t>
            </a:r>
          </a:p>
          <a:p>
            <a:r>
              <a:rPr lang="en-US" sz="2400" dirty="0"/>
              <a:t>Shift b, Shift c</a:t>
            </a:r>
          </a:p>
          <a:p>
            <a:r>
              <a:rPr lang="en-US" sz="2400" dirty="0"/>
              <a:t>Reduce T --&gt;  T b c</a:t>
            </a:r>
          </a:p>
          <a:p>
            <a:r>
              <a:rPr lang="en-US" sz="2400" dirty="0"/>
              <a:t>Shift 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96088" y="4186663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5202" y="4648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29519" y="3500897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21402" y="3886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78602" y="3886200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4802" y="3962400"/>
            <a:ext cx="533400" cy="1219200"/>
          </a:xfrm>
          <a:custGeom>
            <a:avLst/>
            <a:gdLst/>
            <a:ahLst/>
            <a:cxnLst/>
            <a:rect l="l" t="t" r="r" b="b"/>
            <a:pathLst>
              <a:path w="533400" h="1219200">
                <a:moveTo>
                  <a:pt x="0" y="0"/>
                </a:moveTo>
                <a:lnTo>
                  <a:pt x="533400" y="12191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81903" y="5024882"/>
            <a:ext cx="2912110" cy="212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30"/>
              </a:lnSpc>
              <a:spcBef>
                <a:spcPts val="100"/>
              </a:spcBef>
              <a:tabLst>
                <a:tab pos="613410" algn="l"/>
                <a:tab pos="1231265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b	c	d</a:t>
            </a:r>
            <a:endParaRPr sz="2700">
              <a:latin typeface="Times New Roman"/>
              <a:cs typeface="Times New Roman"/>
            </a:endParaRPr>
          </a:p>
          <a:p>
            <a:pPr marL="681990">
              <a:lnSpc>
                <a:spcPts val="2090"/>
              </a:lnSpc>
            </a:pPr>
            <a:r>
              <a:rPr sz="2000" spc="-10" dirty="0">
                <a:latin typeface="Times New Roman"/>
                <a:cs typeface="Times New Roman"/>
              </a:rPr>
              <a:t>Rightmost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derivation:</a:t>
            </a:r>
            <a:endParaRPr sz="2000">
              <a:latin typeface="Times New Roman"/>
              <a:cs typeface="Times New Roman"/>
            </a:endParaRPr>
          </a:p>
          <a:p>
            <a:pPr marL="93599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a T R e</a:t>
            </a:r>
            <a:endParaRPr sz="2000">
              <a:latin typeface="Times New Roman"/>
              <a:cs typeface="Times New Roman"/>
            </a:endParaRPr>
          </a:p>
          <a:p>
            <a:pPr marL="1126490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u="heavy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a T </a:t>
            </a:r>
            <a:r>
              <a:rPr sz="2000" b="1" u="heavy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1126490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1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b</a:t>
            </a:r>
            <a:r>
              <a:rPr sz="2000" b="1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c</a:t>
            </a:r>
            <a:r>
              <a:rPr sz="2000" b="1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d</a:t>
            </a:r>
            <a:r>
              <a:rPr sz="2000" spc="-46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spc="-47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1126490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a b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b c d </a:t>
            </a:r>
            <a:r>
              <a:rPr sz="2000" spc="-720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06900" y="2065274"/>
            <a:ext cx="284607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" dirty="0">
                <a:latin typeface="Times New Roman"/>
                <a:cs typeface="Times New Roman"/>
              </a:rPr>
              <a:t>Remaining </a:t>
            </a:r>
            <a:r>
              <a:rPr sz="2900" spc="-5" dirty="0">
                <a:latin typeface="Times New Roman"/>
                <a:cs typeface="Times New Roman"/>
              </a:rPr>
              <a:t>input: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spc="-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Shift Reduce</a:t>
            </a:r>
            <a:r>
              <a:rPr sz="2600" spc="-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Parsing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597" y="2022144"/>
            <a:ext cx="2581403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S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T -&gt; T  b c | b   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spc="40" dirty="0">
                <a:latin typeface="Arial"/>
                <a:cs typeface="Arial"/>
              </a:rPr>
              <a:t>R -&gt; </a:t>
            </a:r>
            <a:r>
              <a:rPr lang="pt-BR" sz="2200" spc="40" dirty="0">
                <a:latin typeface="Times New Roman"/>
                <a:cs typeface="Times New Roman"/>
              </a:rPr>
              <a:t> </a:t>
            </a:r>
            <a:r>
              <a:rPr lang="pt-BR"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2902" y="5029454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a	b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102" y="3603752"/>
            <a:ext cx="3451098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Shift a, Shift b</a:t>
            </a:r>
          </a:p>
          <a:p>
            <a:r>
              <a:rPr lang="en-US" sz="2400" dirty="0"/>
              <a:t>Reduce T --&gt; b</a:t>
            </a:r>
          </a:p>
          <a:p>
            <a:r>
              <a:rPr lang="en-US" sz="2400" dirty="0"/>
              <a:t>Shift b, Shift c</a:t>
            </a:r>
          </a:p>
          <a:p>
            <a:r>
              <a:rPr lang="en-US" sz="2400" dirty="0"/>
              <a:t>Reduce T --&gt;  T b c</a:t>
            </a:r>
          </a:p>
          <a:p>
            <a:r>
              <a:rPr lang="en-US" sz="2400" dirty="0"/>
              <a:t>Shift d</a:t>
            </a:r>
          </a:p>
          <a:p>
            <a:r>
              <a:rPr lang="en-US" sz="2400" dirty="0"/>
              <a:t>Reduce R --&gt;  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96088" y="4186663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5202" y="4648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29519" y="3500897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21402" y="3886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78602" y="3886200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4802" y="3962400"/>
            <a:ext cx="533400" cy="1219200"/>
          </a:xfrm>
          <a:custGeom>
            <a:avLst/>
            <a:gdLst/>
            <a:ahLst/>
            <a:cxnLst/>
            <a:rect l="l" t="t" r="r" b="b"/>
            <a:pathLst>
              <a:path w="533400" h="1219200">
                <a:moveTo>
                  <a:pt x="0" y="0"/>
                </a:moveTo>
                <a:lnTo>
                  <a:pt x="533400" y="12191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24911" y="4186697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R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74002" y="45720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81903" y="5024882"/>
            <a:ext cx="2912110" cy="212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30"/>
              </a:lnSpc>
              <a:spcBef>
                <a:spcPts val="100"/>
              </a:spcBef>
              <a:tabLst>
                <a:tab pos="613410" algn="l"/>
                <a:tab pos="1231265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b	c	d</a:t>
            </a:r>
            <a:endParaRPr sz="2700">
              <a:latin typeface="Times New Roman"/>
              <a:cs typeface="Times New Roman"/>
            </a:endParaRPr>
          </a:p>
          <a:p>
            <a:pPr marL="681990">
              <a:lnSpc>
                <a:spcPts val="2090"/>
              </a:lnSpc>
            </a:pPr>
            <a:r>
              <a:rPr sz="2000" spc="-10" dirty="0">
                <a:latin typeface="Times New Roman"/>
                <a:cs typeface="Times New Roman"/>
              </a:rPr>
              <a:t>Rightmost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derivation:</a:t>
            </a:r>
            <a:endParaRPr sz="2000">
              <a:latin typeface="Times New Roman"/>
              <a:cs typeface="Times New Roman"/>
            </a:endParaRPr>
          </a:p>
          <a:p>
            <a:pPr marL="93599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a T R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 e</a:t>
            </a:r>
            <a:endParaRPr sz="2000">
              <a:latin typeface="Times New Roman"/>
              <a:cs typeface="Times New Roman"/>
            </a:endParaRPr>
          </a:p>
          <a:p>
            <a:pPr marL="1126490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 T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1126490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1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r>
              <a:rPr sz="2000" b="1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b</a:t>
            </a:r>
            <a:r>
              <a:rPr sz="2000" b="1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c</a:t>
            </a:r>
            <a:r>
              <a:rPr sz="2000" b="1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d</a:t>
            </a:r>
            <a:r>
              <a:rPr sz="2000" spc="-46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000" spc="-47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1126490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a b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b c d </a:t>
            </a:r>
            <a:r>
              <a:rPr sz="2000" spc="-720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06900" y="2065274"/>
            <a:ext cx="284607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" dirty="0">
                <a:latin typeface="Times New Roman"/>
                <a:cs typeface="Times New Roman"/>
              </a:rPr>
              <a:t>Remaining </a:t>
            </a:r>
            <a:r>
              <a:rPr sz="2900" spc="-5" dirty="0">
                <a:latin typeface="Times New Roman"/>
                <a:cs typeface="Times New Roman"/>
              </a:rPr>
              <a:t>input: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spc="-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Shift Reduce</a:t>
            </a:r>
            <a:r>
              <a:rPr sz="2600" spc="-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Parsing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597" y="2022144"/>
            <a:ext cx="2352803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S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T -&gt; T  b c | b   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spc="40" dirty="0">
                <a:latin typeface="Arial"/>
                <a:cs typeface="Arial"/>
              </a:rPr>
              <a:t>R -&gt; </a:t>
            </a:r>
            <a:r>
              <a:rPr lang="pt-BR" sz="2200" spc="40" dirty="0">
                <a:latin typeface="Times New Roman"/>
                <a:cs typeface="Times New Roman"/>
              </a:rPr>
              <a:t> </a:t>
            </a:r>
            <a:r>
              <a:rPr lang="pt-BR"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2902" y="5029454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a	b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6102" y="3603752"/>
            <a:ext cx="2993898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Shift a, Shift b</a:t>
            </a:r>
          </a:p>
          <a:p>
            <a:r>
              <a:rPr lang="en-US" sz="2400" dirty="0"/>
              <a:t>Reduce T --&gt; b</a:t>
            </a:r>
          </a:p>
          <a:p>
            <a:r>
              <a:rPr lang="en-US" sz="2400" dirty="0"/>
              <a:t>Shift b, Shift c</a:t>
            </a:r>
          </a:p>
          <a:p>
            <a:r>
              <a:rPr lang="en-US" sz="2400" dirty="0"/>
              <a:t>Reduce T --&gt;  T b c</a:t>
            </a:r>
          </a:p>
          <a:p>
            <a:r>
              <a:rPr lang="en-US" sz="2400" dirty="0"/>
              <a:t>Shift d</a:t>
            </a:r>
          </a:p>
          <a:p>
            <a:r>
              <a:rPr lang="en-US" sz="2400" dirty="0"/>
              <a:t>Reduce R --&gt;  d</a:t>
            </a:r>
          </a:p>
          <a:p>
            <a:r>
              <a:rPr lang="en-US" sz="2400" dirty="0"/>
              <a:t>Shift 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96088" y="4186663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5202" y="4648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29519" y="3500897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21402" y="3886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78602" y="3886200"/>
            <a:ext cx="0" cy="1219200"/>
          </a:xfrm>
          <a:custGeom>
            <a:avLst/>
            <a:gdLst/>
            <a:ahLst/>
            <a:cxnLst/>
            <a:rect l="l" t="t" r="r" b="b"/>
            <a:pathLst>
              <a:path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4802" y="3962400"/>
            <a:ext cx="533400" cy="1219200"/>
          </a:xfrm>
          <a:custGeom>
            <a:avLst/>
            <a:gdLst/>
            <a:ahLst/>
            <a:cxnLst/>
            <a:rect l="l" t="t" r="r" b="b"/>
            <a:pathLst>
              <a:path w="533400" h="1219200">
                <a:moveTo>
                  <a:pt x="0" y="0"/>
                </a:moveTo>
                <a:lnTo>
                  <a:pt x="533400" y="12191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24911" y="4186697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R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74002" y="45720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81903" y="5024882"/>
            <a:ext cx="21590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3410" algn="l"/>
                <a:tab pos="1231265" algn="l"/>
                <a:tab pos="1993264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b	c	d	e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06900" y="2065274"/>
            <a:ext cx="259080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00" spc="-10" dirty="0">
                <a:latin typeface="Times New Roman"/>
                <a:cs typeface="Times New Roman"/>
              </a:rPr>
              <a:t>Remaining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input: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51702" y="5296621"/>
            <a:ext cx="224282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5080" indent="-254000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Rightmost derivation:  </a:t>
            </a:r>
            <a:r>
              <a:rPr sz="2000" spc="-5" dirty="0">
                <a:solidFill>
                  <a:srgbClr val="7F7F7F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u="sng" spc="-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a T R 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 T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T b c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894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a b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b c d </a:t>
            </a:r>
            <a:r>
              <a:rPr sz="2000" spc="-71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02" y="785875"/>
            <a:ext cx="31324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Shift Reduce</a:t>
            </a:r>
            <a:r>
              <a:rPr sz="2600" spc="-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600" spc="-5" dirty="0">
                <a:solidFill>
                  <a:srgbClr val="CC3300"/>
                </a:solidFill>
                <a:latin typeface="Arial"/>
                <a:cs typeface="Arial"/>
              </a:rPr>
              <a:t>Parsing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597" y="2022144"/>
            <a:ext cx="2352803" cy="1155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S -&gt;   a T R e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dirty="0">
                <a:latin typeface="Arial"/>
                <a:cs typeface="Arial"/>
              </a:rPr>
              <a:t>T -&gt; T  b c | b   </a:t>
            </a:r>
          </a:p>
          <a:p>
            <a:pPr marL="12700" marR="5080" algn="just">
              <a:lnSpc>
                <a:spcPct val="109900"/>
              </a:lnSpc>
              <a:spcBef>
                <a:spcPts val="100"/>
              </a:spcBef>
            </a:pPr>
            <a:r>
              <a:rPr lang="pt-BR" sz="2200" spc="40" dirty="0">
                <a:latin typeface="Arial"/>
                <a:cs typeface="Arial"/>
              </a:rPr>
              <a:t>R -&gt; </a:t>
            </a:r>
            <a:r>
              <a:rPr lang="pt-BR" sz="2200" spc="40" dirty="0">
                <a:latin typeface="Times New Roman"/>
                <a:cs typeface="Times New Roman"/>
              </a:rPr>
              <a:t> </a:t>
            </a:r>
            <a:r>
              <a:rPr lang="pt-BR" sz="2200" dirty="0">
                <a:latin typeface="Arial"/>
                <a:cs typeface="Arial"/>
              </a:rPr>
              <a:t>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22902" y="5029454"/>
            <a:ext cx="7791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4360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a	b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6088" y="4186663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45202" y="4648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7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29519" y="3500897"/>
            <a:ext cx="2349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T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21402" y="3886200"/>
            <a:ext cx="1066800" cy="1295400"/>
          </a:xfrm>
          <a:custGeom>
            <a:avLst/>
            <a:gdLst/>
            <a:ahLst/>
            <a:cxnLst/>
            <a:rect l="l" t="t" r="r" b="b"/>
            <a:pathLst>
              <a:path w="1066800" h="1295400">
                <a:moveTo>
                  <a:pt x="381000" y="0"/>
                </a:moveTo>
                <a:lnTo>
                  <a:pt x="0" y="381000"/>
                </a:lnTo>
              </a:path>
              <a:path w="1066800" h="1295400">
                <a:moveTo>
                  <a:pt x="457200" y="0"/>
                </a:moveTo>
                <a:lnTo>
                  <a:pt x="457200" y="1219200"/>
                </a:lnTo>
              </a:path>
              <a:path w="1066800" h="1295400">
                <a:moveTo>
                  <a:pt x="533400" y="76200"/>
                </a:moveTo>
                <a:lnTo>
                  <a:pt x="1066800" y="12953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24911" y="4186697"/>
            <a:ext cx="2546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Times New Roman"/>
                <a:cs typeface="Times New Roman"/>
              </a:rPr>
              <a:t>R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74002" y="45720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81903" y="5024882"/>
            <a:ext cx="21590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3410" algn="l"/>
                <a:tab pos="1231265" algn="l"/>
                <a:tab pos="1993264" algn="l"/>
              </a:tabLst>
            </a:pPr>
            <a:r>
              <a:rPr sz="2700" dirty="0">
                <a:solidFill>
                  <a:srgbClr val="33339A"/>
                </a:solidFill>
                <a:latin typeface="Times New Roman"/>
                <a:cs typeface="Times New Roman"/>
              </a:rPr>
              <a:t>b	c	d	e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88002" y="2895600"/>
            <a:ext cx="2971800" cy="2286000"/>
          </a:xfrm>
          <a:custGeom>
            <a:avLst/>
            <a:gdLst/>
            <a:ahLst/>
            <a:cxnLst/>
            <a:rect l="l" t="t" r="r" b="b"/>
            <a:pathLst>
              <a:path w="2971800" h="2286000">
                <a:moveTo>
                  <a:pt x="1295400" y="0"/>
                </a:moveTo>
                <a:lnTo>
                  <a:pt x="228600" y="1295400"/>
                </a:lnTo>
                <a:lnTo>
                  <a:pt x="0" y="2286000"/>
                </a:lnTo>
              </a:path>
              <a:path w="2971800" h="2286000">
                <a:moveTo>
                  <a:pt x="1447800" y="0"/>
                </a:moveTo>
                <a:lnTo>
                  <a:pt x="1066800" y="609600"/>
                </a:lnTo>
              </a:path>
              <a:path w="2971800" h="2286000">
                <a:moveTo>
                  <a:pt x="1447800" y="76199"/>
                </a:moveTo>
                <a:lnTo>
                  <a:pt x="2133600" y="1447799"/>
                </a:lnTo>
              </a:path>
              <a:path w="2971800" h="2286000">
                <a:moveTo>
                  <a:pt x="1600200" y="0"/>
                </a:moveTo>
                <a:lnTo>
                  <a:pt x="2971800" y="22859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06900" y="1979883"/>
            <a:ext cx="2590800" cy="10439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900" spc="-10" dirty="0">
                <a:latin typeface="Times New Roman"/>
                <a:cs typeface="Times New Roman"/>
              </a:rPr>
              <a:t>Remaining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input:</a:t>
            </a:r>
            <a:endParaRPr sz="2900">
              <a:latin typeface="Times New Roman"/>
              <a:cs typeface="Times New Roman"/>
            </a:endParaRPr>
          </a:p>
          <a:p>
            <a:pPr marL="737235" algn="ctr">
              <a:lnSpc>
                <a:spcPct val="100000"/>
              </a:lnSpc>
              <a:spcBef>
                <a:spcPts val="625"/>
              </a:spcBef>
            </a:pPr>
            <a:r>
              <a:rPr sz="2700" spc="-5" dirty="0">
                <a:latin typeface="Times New Roman"/>
                <a:cs typeface="Times New Roman"/>
              </a:rPr>
              <a:t>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1702" y="5296621"/>
            <a:ext cx="2242820" cy="1852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5080" indent="-254000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Rightmost derivation: 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S </a:t>
            </a: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 T R 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2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 T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0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a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T b c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d </a:t>
            </a:r>
            <a:r>
              <a:rPr sz="2000" spc="-894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456565">
              <a:lnSpc>
                <a:spcPct val="100000"/>
              </a:lnSpc>
              <a:spcBef>
                <a:spcPts val="475"/>
              </a:spcBef>
            </a:pPr>
            <a:r>
              <a:rPr sz="2000" spc="3835" dirty="0">
                <a:solidFill>
                  <a:srgbClr val="7F7F7F"/>
                </a:solidFill>
                <a:latin typeface="Wingdings"/>
                <a:cs typeface="Wingdings"/>
              </a:rPr>
              <a:t>€</a:t>
            </a:r>
            <a:r>
              <a:rPr sz="2000" spc="-5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3300"/>
                </a:solidFill>
                <a:latin typeface="Times New Roman"/>
                <a:cs typeface="Times New Roman"/>
              </a:rPr>
              <a:t>a b </a:t>
            </a:r>
            <a:r>
              <a:rPr sz="2000" spc="-5" dirty="0">
                <a:solidFill>
                  <a:srgbClr val="FF3300"/>
                </a:solidFill>
                <a:latin typeface="Times New Roman"/>
                <a:cs typeface="Times New Roman"/>
              </a:rPr>
              <a:t>b c d </a:t>
            </a:r>
            <a:r>
              <a:rPr sz="2000" spc="-715" dirty="0">
                <a:solidFill>
                  <a:srgbClr val="FF3300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7E3B7A-1E39-FA61-5890-654E3A786D76}"/>
              </a:ext>
            </a:extLst>
          </p:cNvPr>
          <p:cNvSpPr txBox="1"/>
          <p:nvPr/>
        </p:nvSpPr>
        <p:spPr>
          <a:xfrm>
            <a:off x="838139" y="3500896"/>
            <a:ext cx="313245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Shift a, Shift b</a:t>
            </a:r>
          </a:p>
          <a:p>
            <a:r>
              <a:rPr lang="en-US" sz="2800" dirty="0"/>
              <a:t>Reduce T --&gt; b</a:t>
            </a:r>
          </a:p>
          <a:p>
            <a:r>
              <a:rPr lang="en-US" sz="2800" dirty="0"/>
              <a:t>Shift b, Shift c</a:t>
            </a:r>
          </a:p>
          <a:p>
            <a:r>
              <a:rPr lang="en-US" sz="2800" dirty="0"/>
              <a:t>Reduce T --&gt;  T b c</a:t>
            </a:r>
          </a:p>
          <a:p>
            <a:r>
              <a:rPr lang="en-US" sz="2800" dirty="0"/>
              <a:t>Shift d</a:t>
            </a:r>
          </a:p>
          <a:p>
            <a:r>
              <a:rPr lang="en-US" sz="2800" dirty="0"/>
              <a:t>Reduce R --&gt;  d</a:t>
            </a:r>
          </a:p>
          <a:p>
            <a:r>
              <a:rPr lang="en-US" sz="2800" dirty="0"/>
              <a:t>Shift e</a:t>
            </a:r>
          </a:p>
          <a:p>
            <a:r>
              <a:rPr lang="en-US" sz="2800" dirty="0"/>
              <a:t>Reduce S --&gt; a T R 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977" y="785875"/>
            <a:ext cx="45288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Shift-Reduce</a:t>
            </a:r>
            <a:r>
              <a:rPr dirty="0"/>
              <a:t> </a:t>
            </a:r>
            <a:r>
              <a:rPr spc="-5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8564" y="1547886"/>
            <a:ext cx="340614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Arial"/>
                <a:cs typeface="Arial"/>
              </a:rPr>
              <a:t>Consider the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grammar: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2895600"/>
            <a:ext cx="5105400" cy="3476625"/>
          </a:xfrm>
          <a:custGeom>
            <a:avLst/>
            <a:gdLst/>
            <a:ahLst/>
            <a:cxnLst/>
            <a:rect l="l" t="t" r="r" b="b"/>
            <a:pathLst>
              <a:path w="5105400" h="3476625">
                <a:moveTo>
                  <a:pt x="0" y="0"/>
                </a:moveTo>
                <a:lnTo>
                  <a:pt x="0" y="3476244"/>
                </a:lnTo>
                <a:lnTo>
                  <a:pt x="5105400" y="3476243"/>
                </a:lnTo>
                <a:lnTo>
                  <a:pt x="51054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65580" y="2937001"/>
            <a:ext cx="7016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CC3300"/>
                </a:solidFill>
                <a:latin typeface="Arial"/>
                <a:cs typeface="Arial"/>
              </a:rPr>
              <a:t>Stack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1906" y="2937001"/>
            <a:ext cx="6445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CC3300"/>
                </a:solidFill>
                <a:latin typeface="Arial"/>
                <a:cs typeface="Arial"/>
              </a:rPr>
              <a:t>Input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1453" y="2937001"/>
            <a:ext cx="8134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CC3300"/>
                </a:solidFill>
                <a:latin typeface="Arial"/>
                <a:cs typeface="Arial"/>
              </a:rPr>
              <a:t>Action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09768" y="3580956"/>
          <a:ext cx="3734434" cy="2790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7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723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$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$id</a:t>
                      </a:r>
                      <a:r>
                        <a:rPr sz="1800" b="1" spc="-7" baseline="-23148" dirty="0">
                          <a:latin typeface="Arial"/>
                          <a:cs typeface="Arial"/>
                        </a:rPr>
                        <a:t>1</a:t>
                      </a:r>
                      <a:endParaRPr sz="1800" baseline="-23148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6385" algn="r">
                        <a:lnSpc>
                          <a:spcPts val="1989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b="1" spc="-7" baseline="-23148" dirty="0">
                          <a:latin typeface="Arial"/>
                          <a:cs typeface="Arial"/>
                        </a:rPr>
                        <a:t>1 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2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b="1" spc="-7" baseline="-2314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$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R="294005" algn="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b="1" spc="-7" baseline="-2314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$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ts val="1989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shift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32105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9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$F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6070" algn="r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b="1" spc="-15" baseline="-2314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$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04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$T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6070" algn="r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b="1" spc="-15" baseline="-2314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$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9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$E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4005" algn="r">
                        <a:lnSpc>
                          <a:spcPts val="1880"/>
                        </a:lnSpc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b="1" spc="-15" baseline="-2314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$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shift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04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$E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0355" algn="r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b="1" spc="-7" baseline="-2314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$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5755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shift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97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$E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b="1" spc="-7" baseline="-23148" dirty="0">
                          <a:latin typeface="Arial"/>
                          <a:cs typeface="Arial"/>
                        </a:rPr>
                        <a:t>2</a:t>
                      </a:r>
                      <a:endParaRPr sz="1800" baseline="-23148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4662">
                <a:tc>
                  <a:txBody>
                    <a:bodyPr/>
                    <a:lstStyle/>
                    <a:p>
                      <a:pPr marL="31750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$E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$E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T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$E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ts val="188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294005" marR="43815" indent="18415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18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1  accept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336484" y="2514600"/>
            <a:ext cx="1883715" cy="1606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78D889-D5AD-E58F-7571-42061685BF9E}"/>
              </a:ext>
            </a:extLst>
          </p:cNvPr>
          <p:cNvSpPr txBox="1"/>
          <p:nvPr/>
        </p:nvSpPr>
        <p:spPr>
          <a:xfrm>
            <a:off x="1068564" y="2156834"/>
            <a:ext cx="340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string: id + 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55746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Conflicts During Shift-Reduce</a:t>
            </a:r>
            <a:r>
              <a:rPr spc="50" dirty="0"/>
              <a:t> </a:t>
            </a:r>
            <a:r>
              <a:rPr spc="-5" dirty="0"/>
              <a:t>Parsing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102" y="1550924"/>
            <a:ext cx="8267065" cy="327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86765" indent="-343535">
              <a:lnSpc>
                <a:spcPct val="100000"/>
              </a:lnSpc>
              <a:spcBef>
                <a:spcPts val="9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000" spc="-10" dirty="0">
                <a:latin typeface="Arial"/>
                <a:cs typeface="Arial"/>
              </a:rPr>
              <a:t>There </a:t>
            </a:r>
            <a:r>
              <a:rPr sz="2000" spc="-5" dirty="0">
                <a:latin typeface="Arial"/>
                <a:cs typeface="Arial"/>
              </a:rPr>
              <a:t>are </a:t>
            </a:r>
            <a:r>
              <a:rPr sz="2000" spc="-10" dirty="0">
                <a:latin typeface="Arial"/>
                <a:cs typeface="Arial"/>
              </a:rPr>
              <a:t>context-free grammars </a:t>
            </a:r>
            <a:r>
              <a:rPr sz="2000" spc="-5" dirty="0">
                <a:latin typeface="Arial"/>
                <a:cs typeface="Arial"/>
              </a:rPr>
              <a:t>for </a:t>
            </a:r>
            <a:r>
              <a:rPr sz="2000" spc="-10" dirty="0">
                <a:latin typeface="Arial"/>
                <a:cs typeface="Arial"/>
              </a:rPr>
              <a:t>which shift-reduce parsers  cannot </a:t>
            </a:r>
            <a:r>
              <a:rPr sz="2000" spc="-5" dirty="0">
                <a:latin typeface="Arial"/>
                <a:cs typeface="Arial"/>
              </a:rPr>
              <a:t>be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used.</a:t>
            </a: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000" spc="-5" dirty="0">
                <a:latin typeface="Arial"/>
                <a:cs typeface="Arial"/>
              </a:rPr>
              <a:t>Stack </a:t>
            </a:r>
            <a:r>
              <a:rPr sz="2000" spc="-10" dirty="0">
                <a:latin typeface="Arial"/>
                <a:cs typeface="Arial"/>
              </a:rPr>
              <a:t>contents </a:t>
            </a:r>
            <a:r>
              <a:rPr sz="2000" spc="-5" dirty="0">
                <a:latin typeface="Arial"/>
                <a:cs typeface="Arial"/>
              </a:rPr>
              <a:t>and the next input </a:t>
            </a:r>
            <a:r>
              <a:rPr sz="2000" spc="-10" dirty="0">
                <a:latin typeface="Arial"/>
                <a:cs typeface="Arial"/>
              </a:rPr>
              <a:t>symbol </a:t>
            </a:r>
            <a:r>
              <a:rPr sz="2000" spc="-5" dirty="0">
                <a:latin typeface="Arial"/>
                <a:cs typeface="Arial"/>
              </a:rPr>
              <a:t>may not </a:t>
            </a:r>
            <a:r>
              <a:rPr sz="2000" spc="-10" dirty="0">
                <a:latin typeface="Arial"/>
                <a:cs typeface="Arial"/>
              </a:rPr>
              <a:t>decide</a:t>
            </a:r>
            <a:r>
              <a:rPr sz="2000" spc="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action:</a:t>
            </a:r>
            <a:endParaRPr sz="2000">
              <a:latin typeface="Arial"/>
              <a:cs typeface="Arial"/>
            </a:endParaRPr>
          </a:p>
          <a:p>
            <a:pPr marL="755650" marR="205740" lvl="1" indent="-285750">
              <a:lnSpc>
                <a:spcPct val="100000"/>
              </a:lnSpc>
              <a:spcBef>
                <a:spcPts val="550"/>
              </a:spcBef>
              <a:buClr>
                <a:srgbClr val="CC3300"/>
              </a:buClr>
              <a:buFont typeface="Arial"/>
              <a:buChar char="–"/>
              <a:tabLst>
                <a:tab pos="755650" algn="l"/>
              </a:tabLst>
            </a:pPr>
            <a:r>
              <a:rPr sz="2400" b="1" spc="-5" dirty="0">
                <a:latin typeface="Arial"/>
                <a:cs typeface="Arial"/>
              </a:rPr>
              <a:t>shift/reduce conflict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Whether </a:t>
            </a:r>
            <a:r>
              <a:rPr sz="2400" spc="-5" dirty="0">
                <a:latin typeface="Arial"/>
                <a:cs typeface="Arial"/>
              </a:rPr>
              <a:t>make a </a:t>
            </a:r>
            <a:r>
              <a:rPr sz="2400" dirty="0">
                <a:latin typeface="Arial"/>
                <a:cs typeface="Arial"/>
              </a:rPr>
              <a:t>shift </a:t>
            </a:r>
            <a:r>
              <a:rPr sz="2400" spc="-5" dirty="0">
                <a:latin typeface="Arial"/>
                <a:cs typeface="Arial"/>
              </a:rPr>
              <a:t>operation  or 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reduction.</a:t>
            </a:r>
            <a:endParaRPr sz="2400">
              <a:latin typeface="Arial"/>
              <a:cs typeface="Arial"/>
            </a:endParaRPr>
          </a:p>
          <a:p>
            <a:pPr marL="755650" marR="627380" lvl="1" indent="-285750">
              <a:lnSpc>
                <a:spcPct val="100000"/>
              </a:lnSpc>
              <a:spcBef>
                <a:spcPts val="565"/>
              </a:spcBef>
              <a:buClr>
                <a:srgbClr val="CC3300"/>
              </a:buClr>
              <a:buFont typeface="Arial"/>
              <a:buChar char="–"/>
              <a:tabLst>
                <a:tab pos="755650" algn="l"/>
              </a:tabLst>
            </a:pPr>
            <a:r>
              <a:rPr sz="2400" b="1" spc="-5" dirty="0">
                <a:latin typeface="Arial"/>
                <a:cs typeface="Arial"/>
              </a:rPr>
              <a:t>reduce/reduce conflict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parser cannot decide  which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several reductions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make.</a:t>
            </a:r>
            <a:endParaRPr sz="24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489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000" spc="-5" dirty="0">
                <a:latin typeface="Arial"/>
                <a:cs typeface="Arial"/>
              </a:rPr>
              <a:t>If a </a:t>
            </a:r>
            <a:r>
              <a:rPr sz="2000" spc="-10" dirty="0">
                <a:latin typeface="Arial"/>
                <a:cs typeface="Arial"/>
              </a:rPr>
              <a:t>shift-reduce parser cannot </a:t>
            </a:r>
            <a:r>
              <a:rPr sz="2000" spc="-5" dirty="0">
                <a:latin typeface="Arial"/>
                <a:cs typeface="Arial"/>
              </a:rPr>
              <a:t>be </a:t>
            </a:r>
            <a:r>
              <a:rPr sz="2000" spc="-10" dirty="0">
                <a:latin typeface="Arial"/>
                <a:cs typeface="Arial"/>
              </a:rPr>
              <a:t>used </a:t>
            </a:r>
            <a:r>
              <a:rPr sz="2000" spc="-5" dirty="0">
                <a:latin typeface="Arial"/>
                <a:cs typeface="Arial"/>
              </a:rPr>
              <a:t>for a </a:t>
            </a:r>
            <a:r>
              <a:rPr sz="2000" spc="-10" dirty="0">
                <a:latin typeface="Arial"/>
                <a:cs typeface="Arial"/>
              </a:rPr>
              <a:t>grammar,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10" dirty="0">
                <a:latin typeface="Arial"/>
                <a:cs typeface="Arial"/>
              </a:rPr>
              <a:t>grammar is  </a:t>
            </a:r>
            <a:r>
              <a:rPr sz="2000" spc="-5" dirty="0">
                <a:latin typeface="Arial"/>
                <a:cs typeface="Arial"/>
              </a:rPr>
              <a:t>called as non-LR(k)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grammar.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1485" y="5322061"/>
            <a:ext cx="8509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"/>
                <a:cs typeface="Arial"/>
              </a:rPr>
              <a:t>lookhead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4501" y="5322061"/>
            <a:ext cx="976630" cy="4413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>
              <a:lnSpc>
                <a:spcPct val="70300"/>
              </a:lnSpc>
              <a:spcBef>
                <a:spcPts val="670"/>
              </a:spcBef>
            </a:pPr>
            <a:r>
              <a:rPr sz="1600" spc="-5" dirty="0">
                <a:latin typeface="Arial"/>
                <a:cs typeface="Arial"/>
              </a:rPr>
              <a:t>left to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right  scanning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3106" y="5322061"/>
            <a:ext cx="1042035" cy="4413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 marR="5080" indent="-635">
              <a:lnSpc>
                <a:spcPct val="70300"/>
              </a:lnSpc>
              <a:spcBef>
                <a:spcPts val="670"/>
              </a:spcBef>
            </a:pPr>
            <a:r>
              <a:rPr sz="1600" spc="-5" dirty="0">
                <a:latin typeface="Arial"/>
                <a:cs typeface="Arial"/>
              </a:rPr>
              <a:t>right</a:t>
            </a:r>
            <a:r>
              <a:rPr sz="1600" spc="5" dirty="0">
                <a:latin typeface="Arial"/>
                <a:cs typeface="Arial"/>
              </a:rPr>
              <a:t>-</a:t>
            </a:r>
            <a:r>
              <a:rPr sz="1600" spc="-5" dirty="0">
                <a:latin typeface="Arial"/>
                <a:cs typeface="Arial"/>
              </a:rPr>
              <a:t>mos</a:t>
            </a:r>
            <a:r>
              <a:rPr sz="1600" spc="75" dirty="0">
                <a:latin typeface="Arial"/>
                <a:cs typeface="Arial"/>
              </a:rPr>
              <a:t>t</a:t>
            </a:r>
            <a:r>
              <a:rPr sz="1600" dirty="0">
                <a:latin typeface="Arial"/>
                <a:cs typeface="Arial"/>
              </a:rPr>
              <a:t>k  </a:t>
            </a:r>
            <a:r>
              <a:rPr sz="1600" spc="-5" dirty="0">
                <a:latin typeface="Arial"/>
                <a:cs typeface="Arial"/>
              </a:rPr>
              <a:t>derivation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0102" y="6077203"/>
            <a:ext cx="6375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000" spc="-5" dirty="0">
                <a:latin typeface="Arial"/>
                <a:cs typeface="Arial"/>
              </a:rPr>
              <a:t>An </a:t>
            </a:r>
            <a:r>
              <a:rPr sz="2000" spc="-10" dirty="0">
                <a:latin typeface="Arial"/>
                <a:cs typeface="Arial"/>
              </a:rPr>
              <a:t>ambiguous grammar </a:t>
            </a:r>
            <a:r>
              <a:rPr sz="2000" spc="-5" dirty="0">
                <a:latin typeface="Arial"/>
                <a:cs typeface="Arial"/>
              </a:rPr>
              <a:t>can </a:t>
            </a:r>
            <a:r>
              <a:rPr sz="2000" spc="-10" dirty="0">
                <a:latin typeface="Arial"/>
                <a:cs typeface="Arial"/>
              </a:rPr>
              <a:t>never </a:t>
            </a:r>
            <a:r>
              <a:rPr sz="2000" spc="-5" dirty="0">
                <a:latin typeface="Arial"/>
                <a:cs typeface="Arial"/>
              </a:rPr>
              <a:t>be a LR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grammar.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33827" y="4800600"/>
            <a:ext cx="638175" cy="538480"/>
          </a:xfrm>
          <a:custGeom>
            <a:avLst/>
            <a:gdLst/>
            <a:ahLst/>
            <a:cxnLst/>
            <a:rect l="l" t="t" r="r" b="b"/>
            <a:pathLst>
              <a:path w="638175" h="538479">
                <a:moveTo>
                  <a:pt x="582795" y="52654"/>
                </a:moveTo>
                <a:lnTo>
                  <a:pt x="576617" y="45221"/>
                </a:lnTo>
                <a:lnTo>
                  <a:pt x="1524" y="529589"/>
                </a:lnTo>
                <a:lnTo>
                  <a:pt x="0" y="532638"/>
                </a:lnTo>
                <a:lnTo>
                  <a:pt x="762" y="536448"/>
                </a:lnTo>
                <a:lnTo>
                  <a:pt x="3810" y="537972"/>
                </a:lnTo>
                <a:lnTo>
                  <a:pt x="7620" y="537210"/>
                </a:lnTo>
                <a:lnTo>
                  <a:pt x="582795" y="52654"/>
                </a:lnTo>
                <a:close/>
              </a:path>
              <a:path w="638175" h="538479">
                <a:moveTo>
                  <a:pt x="637794" y="0"/>
                </a:moveTo>
                <a:lnTo>
                  <a:pt x="555498" y="19812"/>
                </a:lnTo>
                <a:lnTo>
                  <a:pt x="576617" y="45221"/>
                </a:lnTo>
                <a:lnTo>
                  <a:pt x="585978" y="37337"/>
                </a:lnTo>
                <a:lnTo>
                  <a:pt x="589788" y="35813"/>
                </a:lnTo>
                <a:lnTo>
                  <a:pt x="592836" y="38100"/>
                </a:lnTo>
                <a:lnTo>
                  <a:pt x="594360" y="41148"/>
                </a:lnTo>
                <a:lnTo>
                  <a:pt x="594360" y="66567"/>
                </a:lnTo>
                <a:lnTo>
                  <a:pt x="604266" y="78486"/>
                </a:lnTo>
                <a:lnTo>
                  <a:pt x="637794" y="0"/>
                </a:lnTo>
                <a:close/>
              </a:path>
              <a:path w="638175" h="538479">
                <a:moveTo>
                  <a:pt x="594360" y="41148"/>
                </a:moveTo>
                <a:lnTo>
                  <a:pt x="592836" y="38100"/>
                </a:lnTo>
                <a:lnTo>
                  <a:pt x="589788" y="35813"/>
                </a:lnTo>
                <a:lnTo>
                  <a:pt x="585978" y="37337"/>
                </a:lnTo>
                <a:lnTo>
                  <a:pt x="576617" y="45221"/>
                </a:lnTo>
                <a:lnTo>
                  <a:pt x="582795" y="52654"/>
                </a:lnTo>
                <a:lnTo>
                  <a:pt x="592836" y="44196"/>
                </a:lnTo>
                <a:lnTo>
                  <a:pt x="594360" y="41148"/>
                </a:lnTo>
                <a:close/>
              </a:path>
              <a:path w="638175" h="538479">
                <a:moveTo>
                  <a:pt x="594360" y="66567"/>
                </a:moveTo>
                <a:lnTo>
                  <a:pt x="594360" y="41148"/>
                </a:lnTo>
                <a:lnTo>
                  <a:pt x="592836" y="44196"/>
                </a:lnTo>
                <a:lnTo>
                  <a:pt x="582795" y="52654"/>
                </a:lnTo>
                <a:lnTo>
                  <a:pt x="594360" y="665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76600" y="4782311"/>
            <a:ext cx="2367280" cy="556260"/>
          </a:xfrm>
          <a:custGeom>
            <a:avLst/>
            <a:gdLst/>
            <a:ahLst/>
            <a:cxnLst/>
            <a:rect l="l" t="t" r="r" b="b"/>
            <a:pathLst>
              <a:path w="2367279" h="556260">
                <a:moveTo>
                  <a:pt x="707898" y="550926"/>
                </a:moveTo>
                <a:lnTo>
                  <a:pt x="706374" y="547878"/>
                </a:lnTo>
                <a:lnTo>
                  <a:pt x="63652" y="60413"/>
                </a:lnTo>
                <a:lnTo>
                  <a:pt x="83820" y="34290"/>
                </a:lnTo>
                <a:lnTo>
                  <a:pt x="0" y="18288"/>
                </a:lnTo>
                <a:lnTo>
                  <a:pt x="37338" y="94488"/>
                </a:lnTo>
                <a:lnTo>
                  <a:pt x="45720" y="83642"/>
                </a:lnTo>
                <a:lnTo>
                  <a:pt x="57962" y="67767"/>
                </a:lnTo>
                <a:lnTo>
                  <a:pt x="700278" y="555498"/>
                </a:lnTo>
                <a:lnTo>
                  <a:pt x="704088" y="556260"/>
                </a:lnTo>
                <a:lnTo>
                  <a:pt x="707136" y="554736"/>
                </a:lnTo>
                <a:lnTo>
                  <a:pt x="707898" y="550926"/>
                </a:lnTo>
                <a:close/>
              </a:path>
              <a:path w="2367279" h="556260">
                <a:moveTo>
                  <a:pt x="2366772" y="553212"/>
                </a:moveTo>
                <a:lnTo>
                  <a:pt x="2366010" y="549402"/>
                </a:lnTo>
                <a:lnTo>
                  <a:pt x="2363724" y="547116"/>
                </a:lnTo>
                <a:lnTo>
                  <a:pt x="303707" y="32118"/>
                </a:lnTo>
                <a:lnTo>
                  <a:pt x="311658" y="0"/>
                </a:lnTo>
                <a:lnTo>
                  <a:pt x="228600" y="18288"/>
                </a:lnTo>
                <a:lnTo>
                  <a:pt x="285750" y="67373"/>
                </a:lnTo>
                <a:lnTo>
                  <a:pt x="293370" y="73914"/>
                </a:lnTo>
                <a:lnTo>
                  <a:pt x="301447" y="41275"/>
                </a:lnTo>
                <a:lnTo>
                  <a:pt x="2360676" y="556260"/>
                </a:lnTo>
                <a:lnTo>
                  <a:pt x="2364486" y="555498"/>
                </a:lnTo>
                <a:lnTo>
                  <a:pt x="2366772" y="553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67144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Shift-Reduce Conflict in Ambiguous</a:t>
            </a:r>
            <a:r>
              <a:rPr spc="55" dirty="0"/>
              <a:t> </a:t>
            </a:r>
            <a:r>
              <a:rPr spc="-5" dirty="0"/>
              <a:t>Grammar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0102" y="1501852"/>
            <a:ext cx="3984625" cy="1023619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  <a:tabLst>
                <a:tab pos="1737995" algn="l"/>
              </a:tabLst>
            </a:pPr>
            <a:r>
              <a:rPr sz="2000" i="1" spc="-5" dirty="0">
                <a:latin typeface="Arial"/>
                <a:cs typeface="Arial"/>
              </a:rPr>
              <a:t>stmt </a:t>
            </a:r>
            <a:r>
              <a:rPr sz="2000" spc="-5" dirty="0">
                <a:latin typeface="Symbol"/>
                <a:cs typeface="Symbol"/>
              </a:rPr>
              <a:t>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Arial"/>
                <a:cs typeface="Arial"/>
              </a:rPr>
              <a:t>if </a:t>
            </a:r>
            <a:r>
              <a:rPr sz="2000" i="1" spc="-5" dirty="0">
                <a:latin typeface="Arial"/>
                <a:cs typeface="Arial"/>
              </a:rPr>
              <a:t>expr	</a:t>
            </a:r>
            <a:r>
              <a:rPr sz="2000" b="1" spc="-5" dirty="0">
                <a:latin typeface="Arial"/>
                <a:cs typeface="Arial"/>
              </a:rPr>
              <a:t>then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stmt</a:t>
            </a:r>
            <a:endParaRPr sz="2000">
              <a:latin typeface="Arial"/>
              <a:cs typeface="Arial"/>
            </a:endParaRPr>
          </a:p>
          <a:p>
            <a:pPr marL="711835">
              <a:lnSpc>
                <a:spcPct val="100000"/>
              </a:lnSpc>
              <a:spcBef>
                <a:spcPts val="210"/>
              </a:spcBef>
              <a:tabLst>
                <a:tab pos="917575" algn="l"/>
                <a:tab pos="1774825" algn="l"/>
              </a:tabLst>
            </a:pPr>
            <a:r>
              <a:rPr sz="2000" spc="-5" dirty="0">
                <a:latin typeface="Arial"/>
                <a:cs typeface="Arial"/>
              </a:rPr>
              <a:t>|	</a:t>
            </a:r>
            <a:r>
              <a:rPr sz="2000" b="1" spc="-5" dirty="0">
                <a:latin typeface="Arial"/>
                <a:cs typeface="Arial"/>
              </a:rPr>
              <a:t>if </a:t>
            </a:r>
            <a:r>
              <a:rPr sz="2000" i="1" spc="-5" dirty="0">
                <a:latin typeface="Arial"/>
                <a:cs typeface="Arial"/>
              </a:rPr>
              <a:t>expr	</a:t>
            </a:r>
            <a:r>
              <a:rPr sz="2000" b="1" spc="-5" dirty="0">
                <a:latin typeface="Arial"/>
                <a:cs typeface="Arial"/>
              </a:rPr>
              <a:t>then </a:t>
            </a:r>
            <a:r>
              <a:rPr sz="2000" i="1" spc="-5" dirty="0">
                <a:latin typeface="Arial"/>
                <a:cs typeface="Arial"/>
              </a:rPr>
              <a:t>stmt </a:t>
            </a:r>
            <a:r>
              <a:rPr sz="2000" b="1" spc="-5" dirty="0">
                <a:latin typeface="Arial"/>
                <a:cs typeface="Arial"/>
              </a:rPr>
              <a:t>else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stmt</a:t>
            </a:r>
            <a:endParaRPr sz="2000">
              <a:latin typeface="Arial"/>
              <a:cs typeface="Arial"/>
            </a:endParaRPr>
          </a:p>
          <a:p>
            <a:pPr marL="706120">
              <a:lnSpc>
                <a:spcPct val="100000"/>
              </a:lnSpc>
              <a:spcBef>
                <a:spcPts val="240"/>
              </a:spcBef>
              <a:tabLst>
                <a:tab pos="912494" algn="l"/>
              </a:tabLst>
            </a:pPr>
            <a:r>
              <a:rPr sz="2000" spc="-5" dirty="0">
                <a:latin typeface="Arial"/>
                <a:cs typeface="Arial"/>
              </a:rPr>
              <a:t>|	</a:t>
            </a:r>
            <a:r>
              <a:rPr sz="2000" b="1" spc="-10" dirty="0">
                <a:latin typeface="Arial"/>
                <a:cs typeface="Arial"/>
              </a:rPr>
              <a:t>other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0350" y="2937467"/>
            <a:ext cx="2891155" cy="8991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600" b="1" spc="-5" dirty="0">
                <a:latin typeface="Arial"/>
                <a:cs typeface="Arial"/>
              </a:rPr>
              <a:t>STACK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600" spc="-5" dirty="0">
                <a:latin typeface="Arial"/>
                <a:cs typeface="Arial"/>
              </a:rPr>
              <a:t>….</a:t>
            </a:r>
            <a:r>
              <a:rPr sz="2600" b="1" spc="-5" dirty="0">
                <a:latin typeface="Arial"/>
                <a:cs typeface="Arial"/>
              </a:rPr>
              <a:t>if </a:t>
            </a:r>
            <a:r>
              <a:rPr sz="2600" i="1" spc="-5" dirty="0">
                <a:latin typeface="Arial"/>
                <a:cs typeface="Arial"/>
              </a:rPr>
              <a:t>expr </a:t>
            </a:r>
            <a:r>
              <a:rPr sz="2600" b="1" spc="-5" dirty="0">
                <a:latin typeface="Arial"/>
                <a:cs typeface="Arial"/>
              </a:rPr>
              <a:t>then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i="1" spc="-5" dirty="0">
                <a:latin typeface="Arial"/>
                <a:cs typeface="Arial"/>
              </a:rPr>
              <a:t>stmt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6450" y="2937467"/>
            <a:ext cx="1276350" cy="8991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600" b="1" spc="-5" dirty="0">
                <a:latin typeface="Arial"/>
                <a:cs typeface="Arial"/>
              </a:rPr>
              <a:t>INPUT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600" b="1" spc="-5" dirty="0">
                <a:latin typeface="Arial"/>
                <a:cs typeface="Arial"/>
              </a:rPr>
              <a:t>else</a:t>
            </a:r>
            <a:r>
              <a:rPr sz="2600" spc="-5" dirty="0">
                <a:latin typeface="Arial"/>
                <a:cs typeface="Arial"/>
              </a:rPr>
              <a:t>….$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075" y="3851385"/>
            <a:ext cx="7967345" cy="20717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We cant decide whether to shift or</a:t>
            </a:r>
            <a:r>
              <a:rPr sz="2600" spc="4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reduce?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3300"/>
              </a:buClr>
              <a:buFont typeface="Arial"/>
              <a:buChar char="•"/>
            </a:pPr>
            <a:endParaRPr sz="3550" dirty="0">
              <a:latin typeface="Arial"/>
              <a:cs typeface="Arial"/>
            </a:endParaRPr>
          </a:p>
          <a:p>
            <a:pPr marL="355600" marR="963294" indent="-343535">
              <a:lnSpc>
                <a:spcPts val="2810"/>
              </a:lnSpc>
              <a:buClr>
                <a:srgbClr val="CC3300"/>
              </a:buClr>
              <a:buChar char="•"/>
              <a:tabLst>
                <a:tab pos="354965" algn="l"/>
                <a:tab pos="356235" algn="l"/>
              </a:tabLst>
            </a:pPr>
            <a:r>
              <a:rPr sz="2600" spc="-5" dirty="0">
                <a:latin typeface="Arial"/>
                <a:cs typeface="Arial"/>
              </a:rPr>
              <a:t>But we can adapt to parse certain ambiguous  grammar to using shift-reducing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parsers</a:t>
            </a:r>
            <a:endParaRPr sz="2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29"/>
              </a:spcBef>
            </a:pP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We resolve in favor of SHIFT then we have a</a:t>
            </a:r>
            <a:r>
              <a:rPr sz="2400" spc="-3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solution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502" y="785875"/>
            <a:ext cx="6714490" cy="8124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Reduce</a:t>
            </a:r>
            <a:r>
              <a:rPr spc="-5" dirty="0"/>
              <a:t>-Reduce Conflict in Ambiguous</a:t>
            </a:r>
            <a:r>
              <a:rPr spc="55" dirty="0"/>
              <a:t> </a:t>
            </a:r>
            <a:r>
              <a:rPr spc="-5" dirty="0"/>
              <a:t>Grammar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22420"/>
            <a:ext cx="7924800" cy="42579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57400" y="6096000"/>
            <a:ext cx="60513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 have to reduce </a:t>
            </a:r>
            <a:r>
              <a:rPr lang="en-US" sz="2800" b="1" i="1" dirty="0"/>
              <a:t>id</a:t>
            </a:r>
          </a:p>
          <a:p>
            <a:r>
              <a:rPr lang="en-US" sz="2800" dirty="0"/>
              <a:t>We can use both </a:t>
            </a:r>
            <a:r>
              <a:rPr lang="en-US" sz="2800" i="1" dirty="0"/>
              <a:t>(5) </a:t>
            </a:r>
            <a:r>
              <a:rPr lang="en-US" sz="2800" dirty="0"/>
              <a:t>and (7) to reduce </a:t>
            </a:r>
            <a:r>
              <a:rPr lang="en-US" sz="2800" b="1" i="1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1883106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502" y="785875"/>
            <a:ext cx="8375395" cy="40011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088" y="1549404"/>
            <a:ext cx="7554595" cy="1200329"/>
          </a:xfrm>
        </p:spPr>
        <p:txBody>
          <a:bodyPr/>
          <a:lstStyle/>
          <a:p>
            <a:r>
              <a:rPr lang="en-US" b="1" i="1" dirty="0"/>
              <a:t>Compilers, Principles Techniques and Tools by Alfred </a:t>
            </a:r>
            <a:r>
              <a:rPr lang="en-US" b="1" i="1" dirty="0" err="1"/>
              <a:t>Aho</a:t>
            </a:r>
            <a:r>
              <a:rPr lang="en-US" b="1" i="1" dirty="0"/>
              <a:t> – Monica Lam- Ravi </a:t>
            </a:r>
            <a:r>
              <a:rPr lang="en-US" b="1" i="1" dirty="0" err="1"/>
              <a:t>Sethi</a:t>
            </a:r>
            <a:r>
              <a:rPr lang="en-US" b="1" i="1" dirty="0"/>
              <a:t>-Jeffrey Ullman (2</a:t>
            </a:r>
            <a:r>
              <a:rPr lang="en-US" b="1" i="1" baseline="30000" dirty="0"/>
              <a:t>nd</a:t>
            </a:r>
            <a:r>
              <a:rPr lang="en-US" b="1" i="1" dirty="0"/>
              <a:t> edition)</a:t>
            </a:r>
          </a:p>
        </p:txBody>
      </p:sp>
    </p:spTree>
    <p:extLst>
      <p:ext uri="{BB962C8B-B14F-4D97-AF65-F5344CB8AC3E}">
        <p14:creationId xmlns:p14="http://schemas.microsoft.com/office/powerpoint/2010/main" val="721459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1393</Words>
  <Application>Microsoft Office PowerPoint</Application>
  <PresentationFormat>Custom</PresentationFormat>
  <Paragraphs>249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Symbol</vt:lpstr>
      <vt:lpstr>Times New Roman</vt:lpstr>
      <vt:lpstr>Wingdings</vt:lpstr>
      <vt:lpstr>Office Theme</vt:lpstr>
      <vt:lpstr>Bottom Up Parsing</vt:lpstr>
      <vt:lpstr>Bottom-Up Parsing</vt:lpstr>
      <vt:lpstr>Rightmost Derivation</vt:lpstr>
      <vt:lpstr>PowerPoint Presentation</vt:lpstr>
      <vt:lpstr>Handle</vt:lpstr>
      <vt:lpstr>Handle Pruning</vt:lpstr>
      <vt:lpstr>Shift-Reduce Parsing</vt:lpstr>
      <vt:lpstr>Shift Reduce Parsing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Shift-Reduce Parsing</vt:lpstr>
      <vt:lpstr>Conflicts During Shift-Reduce Parsing</vt:lpstr>
      <vt:lpstr>Shift-Reduce Conflict in Ambiguous Grammar</vt:lpstr>
      <vt:lpstr>Reduce-Reduce Conflict in Ambiguous Grammar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 09.ppt</dc:title>
  <dc:creator>Tareeq</dc:creator>
  <cp:lastModifiedBy>Sifat Hasan Rimon</cp:lastModifiedBy>
  <cp:revision>15</cp:revision>
  <dcterms:created xsi:type="dcterms:W3CDTF">2020-08-17T13:01:18Z</dcterms:created>
  <dcterms:modified xsi:type="dcterms:W3CDTF">2025-01-15T16:34:30Z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2009-07-04T00:00:00Z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2020-08-17T00:00:00Z</vt:filetime>
  </property>
</Properties>
</file>