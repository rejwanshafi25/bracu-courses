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Lustria" panose="020B0604020202020204" charset="0"/>
      <p:regular r:id="rId23"/>
    </p:embeddedFont>
    <p:embeddedFont>
      <p:font typeface="Noto Sans Symbols" panose="020B0604020202020204" charset="0"/>
      <p:regular r:id="rId24"/>
      <p:bold r:id="rId25"/>
    </p:embeddedFont>
    <p:embeddedFont>
      <p:font typeface="Tahoma" panose="020B0604030504040204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g5//Avvz7Zot8uaIQRTTXspv7Q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97831C-530B-489B-B627-473858605357}">
  <a:tblStyle styleId="{8A97831C-530B-489B-B627-473858605357}" styleName="Table_0">
    <a:wholeTbl>
      <a:tcTxStyle b="off" i="off">
        <a:font>
          <a:latin typeface="Calisto MT"/>
          <a:ea typeface="Calisto MT"/>
          <a:cs typeface="Calisto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E8E7"/>
          </a:solidFill>
        </a:fill>
      </a:tcStyle>
    </a:wholeTbl>
    <a:band1H>
      <a:tcTxStyle/>
      <a:tcStyle>
        <a:tcBdr/>
        <a:fill>
          <a:solidFill>
            <a:srgbClr val="E7CE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CE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sto MT"/>
          <a:ea typeface="Calisto MT"/>
          <a:cs typeface="Calisto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sto MT"/>
          <a:ea typeface="Calisto MT"/>
          <a:cs typeface="Calisto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sto MT"/>
          <a:ea typeface="Calisto MT"/>
          <a:cs typeface="Calisto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sto MT"/>
          <a:ea typeface="Calisto MT"/>
          <a:cs typeface="Calisto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2"/>
          <p:cNvSpPr txBox="1"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3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4"/>
          <p:cNvSpPr txBox="1"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4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5060497" cy="40587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2"/>
          </p:nvPr>
        </p:nvSpPr>
        <p:spPr>
          <a:xfrm>
            <a:off x="6202892" y="1732449"/>
            <a:ext cx="5064665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6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379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6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48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body" idx="2"/>
          </p:nvPr>
        </p:nvSpPr>
        <p:spPr>
          <a:xfrm>
            <a:off x="1005872" y="2380137"/>
            <a:ext cx="4876344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6" name="Google Shape;46;p26"/>
          <p:cNvSpPr txBox="1">
            <a:spLocks noGrp="1"/>
          </p:cNvSpPr>
          <p:nvPr>
            <p:ph type="body" idx="3"/>
          </p:nvPr>
        </p:nvSpPr>
        <p:spPr>
          <a:xfrm>
            <a:off x="6294967" y="1835254"/>
            <a:ext cx="4895330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6"/>
          <p:cNvSpPr txBox="1">
            <a:spLocks noGrp="1"/>
          </p:cNvSpPr>
          <p:nvPr>
            <p:ph type="body" idx="4"/>
          </p:nvPr>
        </p:nvSpPr>
        <p:spPr>
          <a:xfrm>
            <a:off x="6294967" y="2380137"/>
            <a:ext cx="4895330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8" name="Google Shape;48;p2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6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7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9"/>
          <p:cNvSpPr txBox="1">
            <a:spLocks noGrp="1"/>
          </p:cNvSpPr>
          <p:nvPr>
            <p:ph type="body" idx="1"/>
          </p:nvPr>
        </p:nvSpPr>
        <p:spPr>
          <a:xfrm>
            <a:off x="4855633" y="609600"/>
            <a:ext cx="6411924" cy="518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 txBox="1">
            <a:spLocks noGrp="1"/>
          </p:cNvSpPr>
          <p:nvPr>
            <p:ph type="body" idx="2"/>
          </p:nvPr>
        </p:nvSpPr>
        <p:spPr>
          <a:xfrm>
            <a:off x="913795" y="2431518"/>
            <a:ext cx="3706889" cy="335968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2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0" descr="Slate-V2-HD-vert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>
            <a:spLocks noGrp="1"/>
          </p:cNvSpPr>
          <p:nvPr>
            <p:ph type="pic" idx="2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71" name="Google Shape;71;p30"/>
          <p:cNvSpPr txBox="1">
            <a:spLocks noGrp="1"/>
          </p:cNvSpPr>
          <p:nvPr>
            <p:ph type="body" idx="1"/>
          </p:nvPr>
        </p:nvSpPr>
        <p:spPr>
          <a:xfrm>
            <a:off x="913795" y="2439261"/>
            <a:ext cx="5934949" cy="337613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1" descr="Slate-V2-HD-pano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1"/>
          <p:cNvSpPr txBox="1"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>
            <a:spLocks noGrp="1"/>
          </p:cNvSpPr>
          <p:nvPr>
            <p:ph type="pic" idx="2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79" name="Google Shape;79;p31"/>
          <p:cNvSpPr txBox="1">
            <a:spLocks noGrp="1"/>
          </p:cNvSpPr>
          <p:nvPr>
            <p:ph type="body" idx="1"/>
          </p:nvPr>
        </p:nvSpPr>
        <p:spPr>
          <a:xfrm>
            <a:off x="913795" y="5108728"/>
            <a:ext cx="10353762" cy="682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2"/>
          <p:cNvSpPr txBox="1"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2"/>
          <p:cNvSpPr txBox="1">
            <a:spLocks noGrp="1"/>
          </p:cNvSpPr>
          <p:nvPr>
            <p:ph type="body" idx="1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3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2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3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body" idx="1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p33"/>
          <p:cNvSpPr txBox="1">
            <a:spLocks noGrp="1"/>
          </p:cNvSpPr>
          <p:nvPr>
            <p:ph type="body" idx="2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3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3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33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en-US" sz="8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/>
          </a:p>
        </p:txBody>
      </p:sp>
      <p:sp>
        <p:nvSpPr>
          <p:cNvPr id="97" name="Google Shape;97;p33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en-US" sz="8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4"/>
          <p:cNvSpPr txBox="1"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4"/>
          <p:cNvSpPr txBox="1">
            <a:spLocks noGrp="1"/>
          </p:cNvSpPr>
          <p:nvPr>
            <p:ph type="body" idx="1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101" name="Google Shape;101;p3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4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5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5"/>
          <p:cNvSpPr txBox="1"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5"/>
          <p:cNvSpPr txBox="1">
            <a:spLocks noGrp="1"/>
          </p:cNvSpPr>
          <p:nvPr>
            <p:ph type="body" idx="2"/>
          </p:nvPr>
        </p:nvSpPr>
        <p:spPr>
          <a:xfrm>
            <a:off x="91379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08" name="Google Shape;108;p35"/>
          <p:cNvSpPr txBox="1">
            <a:spLocks noGrp="1"/>
          </p:cNvSpPr>
          <p:nvPr>
            <p:ph type="body" idx="3"/>
          </p:nvPr>
        </p:nvSpPr>
        <p:spPr>
          <a:xfrm>
            <a:off x="4446711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5"/>
          <p:cNvSpPr txBox="1">
            <a:spLocks noGrp="1"/>
          </p:cNvSpPr>
          <p:nvPr>
            <p:ph type="body" idx="4"/>
          </p:nvPr>
        </p:nvSpPr>
        <p:spPr>
          <a:xfrm>
            <a:off x="444143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35"/>
          <p:cNvSpPr txBox="1">
            <a:spLocks noGrp="1"/>
          </p:cNvSpPr>
          <p:nvPr>
            <p:ph type="body" idx="5"/>
          </p:nvPr>
        </p:nvSpPr>
        <p:spPr>
          <a:xfrm>
            <a:off x="7966572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35"/>
          <p:cNvSpPr txBox="1">
            <a:spLocks noGrp="1"/>
          </p:cNvSpPr>
          <p:nvPr>
            <p:ph type="body" idx="6"/>
          </p:nvPr>
        </p:nvSpPr>
        <p:spPr>
          <a:xfrm>
            <a:off x="7966572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2" name="Google Shape;112;p3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5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6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6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6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6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6"/>
          <p:cNvSpPr txBox="1"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p36"/>
          <p:cNvSpPr>
            <a:spLocks noGrp="1"/>
          </p:cNvSpPr>
          <p:nvPr>
            <p:ph type="pic" idx="2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22" name="Google Shape;122;p36"/>
          <p:cNvSpPr txBox="1">
            <a:spLocks noGrp="1"/>
          </p:cNvSpPr>
          <p:nvPr>
            <p:ph type="body" idx="3"/>
          </p:nvPr>
        </p:nvSpPr>
        <p:spPr>
          <a:xfrm>
            <a:off x="913795" y="4480368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6"/>
          <p:cNvSpPr txBox="1">
            <a:spLocks noGrp="1"/>
          </p:cNvSpPr>
          <p:nvPr>
            <p:ph type="body" idx="4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36"/>
          <p:cNvSpPr>
            <a:spLocks noGrp="1"/>
          </p:cNvSpPr>
          <p:nvPr>
            <p:ph type="pic" idx="5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25" name="Google Shape;125;p36"/>
          <p:cNvSpPr txBox="1">
            <a:spLocks noGrp="1"/>
          </p:cNvSpPr>
          <p:nvPr>
            <p:ph type="body" idx="6"/>
          </p:nvPr>
        </p:nvSpPr>
        <p:spPr>
          <a:xfrm>
            <a:off x="4441435" y="4480367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6" name="Google Shape;126;p36"/>
          <p:cNvSpPr txBox="1">
            <a:spLocks noGrp="1"/>
          </p:cNvSpPr>
          <p:nvPr>
            <p:ph type="body" idx="7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p36"/>
          <p:cNvSpPr>
            <a:spLocks noGrp="1"/>
          </p:cNvSpPr>
          <p:nvPr>
            <p:ph type="pic" idx="8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28" name="Google Shape;128;p36"/>
          <p:cNvSpPr txBox="1">
            <a:spLocks noGrp="1"/>
          </p:cNvSpPr>
          <p:nvPr>
            <p:ph type="body" idx="9"/>
          </p:nvPr>
        </p:nvSpPr>
        <p:spPr>
          <a:xfrm>
            <a:off x="7966572" y="4480365"/>
            <a:ext cx="3300984" cy="1310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3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6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7"/>
          <p:cNvSpPr txBox="1">
            <a:spLocks noGrp="1"/>
          </p:cNvSpPr>
          <p:nvPr>
            <p:ph type="body" idx="1"/>
          </p:nvPr>
        </p:nvSpPr>
        <p:spPr>
          <a:xfrm rot="5400000">
            <a:off x="4061301" y="-1415056"/>
            <a:ext cx="4058751" cy="10353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35" name="Google Shape;135;p3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7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8"/>
          <p:cNvSpPr txBox="1">
            <a:spLocks noGrp="1"/>
          </p:cNvSpPr>
          <p:nvPr>
            <p:ph type="title"/>
          </p:nvPr>
        </p:nvSpPr>
        <p:spPr>
          <a:xfrm rot="5400000">
            <a:off x="7534511" y="2058156"/>
            <a:ext cx="5181601" cy="22844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8"/>
          <p:cNvSpPr txBox="1">
            <a:spLocks noGrp="1"/>
          </p:cNvSpPr>
          <p:nvPr>
            <p:ph type="body" idx="1"/>
          </p:nvPr>
        </p:nvSpPr>
        <p:spPr>
          <a:xfrm rot="5400000">
            <a:off x="2281431" y="-758036"/>
            <a:ext cx="5181601" cy="7916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41" name="Google Shape;141;p3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8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◈"/>
              <a:defRPr sz="2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914400" marR="0" lvl="1" indent="-30861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🞚"/>
              <a:defRPr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1371600" marR="0" lvl="2" indent="-29971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sz="16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1828800" marR="0" lvl="3" indent="-29083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🞚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2286000" marR="0" lvl="4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2743200" marR="0" lvl="5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3200400" marR="0" lvl="6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3657600" marR="0" lvl="7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4114800" marR="0" lvl="8" indent="-290829" algn="l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</a:pPr>
            <a:r>
              <a:rPr lang="en-US"/>
              <a:t>CSE420</a:t>
            </a:r>
            <a:endParaRPr/>
          </a:p>
        </p:txBody>
      </p:sp>
      <p:sp>
        <p:nvSpPr>
          <p:cNvPr id="149" name="Google Shape;149;p1"/>
          <p:cNvSpPr txBox="1"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Compiler Design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3270354" y="6451610"/>
            <a:ext cx="56407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D6D6D"/>
                </a:solidFill>
                <a:latin typeface="Lustria"/>
                <a:ea typeface="Lustria"/>
                <a:cs typeface="Lustria"/>
                <a:sym typeface="Lustria"/>
              </a:rPr>
              <a:t> Department of Computer Science and Engineering | BRAC University</a:t>
            </a:r>
            <a:endParaRPr sz="1400" b="0" i="0" u="none" strike="noStrike" cap="none">
              <a:solidFill>
                <a:srgbClr val="6D6D6D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>
            <a:spLocks noGrp="1"/>
          </p:cNvSpPr>
          <p:nvPr>
            <p:ph type="title"/>
          </p:nvPr>
        </p:nvSpPr>
        <p:spPr>
          <a:xfrm>
            <a:off x="896861" y="1144158"/>
            <a:ext cx="1039767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en-US" sz="3200"/>
              <a:t>Lecture Topic: LR(1) Parsing</a:t>
            </a:r>
            <a:endParaRPr sz="3200"/>
          </a:p>
        </p:txBody>
      </p:sp>
      <p:sp>
        <p:nvSpPr>
          <p:cNvPr id="156" name="Google Shape;156;p2"/>
          <p:cNvSpPr txBox="1">
            <a:spLocks noGrp="1"/>
          </p:cNvSpPr>
          <p:nvPr>
            <p:ph type="body" idx="4294967295"/>
          </p:nvPr>
        </p:nvSpPr>
        <p:spPr>
          <a:xfrm>
            <a:off x="3877436" y="3751909"/>
            <a:ext cx="4392612" cy="10175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900" lvl="0" indent="0" algn="ctr" rtl="0"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Warida Rashid (WAR)</a:t>
            </a:r>
            <a:endParaRPr/>
          </a:p>
          <a:p>
            <a:pPr marL="36900" lvl="0" indent="0" algn="ctr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Lecturer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3877436" y="2732803"/>
            <a:ext cx="4392612" cy="40091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90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by</a:t>
            </a:r>
            <a:endParaRPr sz="2400" b="0" i="0" u="none" strike="noStrike" cap="none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>
            <a:spLocks noGrp="1"/>
          </p:cNvSpPr>
          <p:nvPr>
            <p:ph type="title"/>
          </p:nvPr>
        </p:nvSpPr>
        <p:spPr>
          <a:xfrm>
            <a:off x="913795" y="184441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en-US" sz="3200"/>
              <a:t>Canonical LR(1) or LR(1) Parser</a:t>
            </a:r>
            <a:endParaRPr sz="3200"/>
          </a:p>
        </p:txBody>
      </p:sp>
      <p:sp>
        <p:nvSpPr>
          <p:cNvPr id="163" name="Google Shape;163;p3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dirty="0"/>
              <a:t>- Makes use of one lookahead symbol in the input.</a:t>
            </a:r>
          </a:p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dirty="0"/>
              <a:t>- LR(1) items carry more information.</a:t>
            </a:r>
          </a:p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dirty="0"/>
              <a:t>- LR(1) Item: A → X1...Xi · Xi+1...</a:t>
            </a:r>
            <a:r>
              <a:rPr lang="en-US" dirty="0" err="1"/>
              <a:t>Xj</a:t>
            </a:r>
            <a:r>
              <a:rPr lang="en-US" dirty="0"/>
              <a:t> , t</a:t>
            </a:r>
          </a:p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dirty="0"/>
              <a:t>  - Have states X1...Xi in the stack already.</a:t>
            </a:r>
          </a:p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dirty="0"/>
              <a:t>  - Expect to put Xi+1...</a:t>
            </a:r>
            <a:r>
              <a:rPr lang="en-US" dirty="0" err="1"/>
              <a:t>Xj</a:t>
            </a:r>
            <a:r>
              <a:rPr lang="en-US" dirty="0"/>
              <a:t> onto the stack and then reduce.</a:t>
            </a:r>
          </a:p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dirty="0"/>
              <a:t>  - Only reduce when the token following </a:t>
            </a:r>
            <a:r>
              <a:rPr lang="en-US" dirty="0" err="1"/>
              <a:t>Xj</a:t>
            </a:r>
            <a:r>
              <a:rPr lang="en-US" dirty="0"/>
              <a:t> is t.</a:t>
            </a:r>
          </a:p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endParaRPr lang="en-US" dirty="0"/>
          </a:p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dirty="0"/>
              <a:t>Cluster the items:</a:t>
            </a:r>
          </a:p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dirty="0"/>
              <a:t>[A → α · , a/b/c] means the three items: [A → α · , a], [A → α · , b], [A → α · , c].</a:t>
            </a:r>
          </a:p>
          <a:p>
            <a:pPr marL="720000" lvl="1" indent="-189990" algn="l" rtl="0">
              <a:spcBef>
                <a:spcPts val="960"/>
              </a:spcBef>
              <a:spcAft>
                <a:spcPts val="0"/>
              </a:spcAft>
              <a:buSzPts val="1260"/>
              <a:buNone/>
            </a:pPr>
            <a:r>
              <a:rPr lang="en-US" dirty="0"/>
              <a:t>"Reduce α to A if the next token is a or b or c."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>
            <a:spLocks noGrp="1"/>
          </p:cNvSpPr>
          <p:nvPr>
            <p:ph type="title"/>
          </p:nvPr>
        </p:nvSpPr>
        <p:spPr>
          <a:xfrm>
            <a:off x="913795" y="184441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en-US" sz="3200" dirty="0"/>
              <a:t>LR(1) Sets of Items</a:t>
            </a:r>
            <a:endParaRPr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F73B12-0759-C31C-C390-504BC42F74BB}"/>
              </a:ext>
            </a:extLst>
          </p:cNvPr>
          <p:cNvSpPr txBox="1"/>
          <p:nvPr/>
        </p:nvSpPr>
        <p:spPr>
          <a:xfrm>
            <a:off x="405036" y="1067823"/>
            <a:ext cx="8340065" cy="4479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CE8C495-296E-C07B-B090-B1BB2B1BE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001" y="1819859"/>
            <a:ext cx="115633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There are more items and item sets in LR(1) than in SLR.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Closure: For each item [A → α · B β, a] in the set of items I, for each production B → γ in the grammar G, and for each terminal b in First(βa), add [B → · γ, b] to 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Once we have a closed item set, use the LR(1) successor/GOTO function to compute transitions and next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S' → 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|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| Aa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→ 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Initial Item: [S' → · S, $]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Closure: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[S → ·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dca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$]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[S → ·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$]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[S → · Aa, $]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 [A → · c, a]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80445" y="276225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Closure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1524000" y="1162009"/>
            <a:ext cx="9686925" cy="3693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A → α · B β, a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For each item [A → α · B β, a] in the set of items I, for each production B → γ in the grammar G, and for each terminal b in First(βa), add [B → · γ, b] to I.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Let, First(β) = {c, d}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First(βa) = {c, d}</a:t>
            </a:r>
            <a:endParaRPr sz="18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396471" y="4505278"/>
            <a:ext cx="3390900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What if, First(</a:t>
            </a:r>
            <a:r>
              <a:rPr lang="el-GR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β) = {ε, </a:t>
            </a:r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c, d}?</a:t>
            </a:r>
          </a:p>
          <a:p>
            <a:pPr lvl="0"/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First(</a:t>
            </a:r>
            <a:r>
              <a:rPr lang="el-GR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β</a:t>
            </a:r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a) = {a, c, d}</a:t>
            </a:r>
          </a:p>
          <a:p>
            <a:pPr lvl="0"/>
            <a:endParaRPr lang="en-US" sz="18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lvl="0"/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B → · </a:t>
            </a:r>
            <a:r>
              <a:rPr lang="el-GR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ϒ, </a:t>
            </a:r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a</a:t>
            </a:r>
          </a:p>
          <a:p>
            <a:pPr lvl="0"/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B → · </a:t>
            </a:r>
            <a:r>
              <a:rPr lang="el-GR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ϒ, </a:t>
            </a:r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</a:p>
          <a:p>
            <a:pPr lvl="0"/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B → · </a:t>
            </a:r>
            <a:r>
              <a:rPr lang="el-GR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ϒ, </a:t>
            </a:r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</a:p>
          <a:p>
            <a:pPr lvl="0"/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Or, B → · </a:t>
            </a:r>
            <a:r>
              <a:rPr lang="el-GR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ϒ, </a:t>
            </a:r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a/b/c</a:t>
            </a:r>
          </a:p>
        </p:txBody>
      </p:sp>
      <p:sp>
        <p:nvSpPr>
          <p:cNvPr id="178" name="Google Shape;178;p5"/>
          <p:cNvSpPr txBox="1"/>
          <p:nvPr/>
        </p:nvSpPr>
        <p:spPr>
          <a:xfrm>
            <a:off x="6449484" y="3531579"/>
            <a:ext cx="1571625" cy="64633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B → .ϒ, c/d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4173009" y="3388616"/>
            <a:ext cx="1228725" cy="92333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B → .ϒ, c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B → .ϒ, 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180" name="Google Shape;180;p5"/>
          <p:cNvCxnSpPr>
            <a:endCxn id="178" idx="1"/>
          </p:cNvCxnSpPr>
          <p:nvPr/>
        </p:nvCxnSpPr>
        <p:spPr>
          <a:xfrm>
            <a:off x="5401584" y="3850245"/>
            <a:ext cx="1047900" cy="4500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1" name="Google Shape;181;p5"/>
          <p:cNvSpPr txBox="1"/>
          <p:nvPr/>
        </p:nvSpPr>
        <p:spPr>
          <a:xfrm>
            <a:off x="9457267" y="3203950"/>
            <a:ext cx="533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B</a:t>
            </a:r>
            <a:endParaRPr sz="1800" b="1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9457267" y="3952694"/>
            <a:ext cx="533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ϒ</a:t>
            </a:r>
            <a:endParaRPr sz="1800" b="1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183" name="Google Shape;183;p5"/>
          <p:cNvCxnSpPr/>
          <p:nvPr/>
        </p:nvCxnSpPr>
        <p:spPr>
          <a:xfrm>
            <a:off x="9630834" y="3573282"/>
            <a:ext cx="0" cy="379412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 txBox="1">
            <a:spLocks noGrp="1"/>
          </p:cNvSpPr>
          <p:nvPr>
            <p:ph type="title"/>
          </p:nvPr>
        </p:nvSpPr>
        <p:spPr>
          <a:xfrm>
            <a:off x="780445" y="276225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LR(1) GOTO Function</a:t>
            </a:r>
            <a:endParaRPr/>
          </a:p>
        </p:txBody>
      </p:sp>
      <p:sp>
        <p:nvSpPr>
          <p:cNvPr id="190" name="Google Shape;190;p6"/>
          <p:cNvSpPr txBox="1"/>
          <p:nvPr/>
        </p:nvSpPr>
        <p:spPr>
          <a:xfrm>
            <a:off x="1524000" y="1162009"/>
            <a:ext cx="9686925" cy="236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Given an item set I, initialize an empty set J. For each [A → α · X β, a],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add [A → α X · β, a] to item set J.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GOTO(I, X) is the closure of set J.</a:t>
            </a:r>
            <a:endParaRPr sz="18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3479800" y="2497666"/>
            <a:ext cx="1531938" cy="1706241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I0: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S' → · S, $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 → · </a:t>
            </a:r>
            <a:r>
              <a:rPr lang="en-US" sz="1600" dirty="0" err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dca</a:t>
            </a:r>
            <a:r>
              <a:rPr lang="en-US" sz="16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, $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 → · </a:t>
            </a:r>
            <a:r>
              <a:rPr lang="en-US" sz="1600" dirty="0" err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dAb</a:t>
            </a:r>
            <a:r>
              <a:rPr lang="en-US" sz="16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, $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 → · Aa, $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 → · c, a</a:t>
            </a:r>
          </a:p>
        </p:txBody>
      </p:sp>
      <p:sp>
        <p:nvSpPr>
          <p:cNvPr id="192" name="Google Shape;192;p6"/>
          <p:cNvSpPr/>
          <p:nvPr/>
        </p:nvSpPr>
        <p:spPr>
          <a:xfrm>
            <a:off x="6219825" y="3512079"/>
            <a:ext cx="1557335" cy="1191771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</a:rPr>
              <a:t>I2:</a:t>
            </a:r>
          </a:p>
          <a:p>
            <a:pPr lvl="0"/>
            <a:r>
              <a:rPr lang="en-US" sz="1600" dirty="0">
                <a:solidFill>
                  <a:schemeClr val="bg1"/>
                </a:solidFill>
              </a:rPr>
              <a:t>S → d · ca, $</a:t>
            </a:r>
          </a:p>
          <a:p>
            <a:pPr lvl="0"/>
            <a:r>
              <a:rPr lang="en-US" sz="1600" dirty="0">
                <a:solidFill>
                  <a:schemeClr val="bg1"/>
                </a:solidFill>
              </a:rPr>
              <a:t>S → d · Ab, $</a:t>
            </a:r>
          </a:p>
          <a:p>
            <a:pPr lvl="0"/>
            <a:r>
              <a:rPr lang="en-US" sz="1600" dirty="0">
                <a:solidFill>
                  <a:schemeClr val="bg1"/>
                </a:solidFill>
              </a:rPr>
              <a:t>A → · c, b</a:t>
            </a:r>
            <a:endParaRPr sz="1600" dirty="0">
              <a:solidFill>
                <a:schemeClr val="bg1"/>
              </a:solidFill>
            </a:endParaRPr>
          </a:p>
        </p:txBody>
      </p:sp>
      <p:cxnSp>
        <p:nvCxnSpPr>
          <p:cNvPr id="193" name="Google Shape;193;p6"/>
          <p:cNvCxnSpPr>
            <a:cxnSpLocks/>
            <a:stCxn id="191" idx="3"/>
            <a:endCxn id="192" idx="1"/>
          </p:cNvCxnSpPr>
          <p:nvPr/>
        </p:nvCxnSpPr>
        <p:spPr>
          <a:xfrm>
            <a:off x="5011738" y="3350787"/>
            <a:ext cx="1208087" cy="757178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4" name="Google Shape;194;p6"/>
          <p:cNvSpPr txBox="1"/>
          <p:nvPr/>
        </p:nvSpPr>
        <p:spPr>
          <a:xfrm>
            <a:off x="5300663" y="3746515"/>
            <a:ext cx="67151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245224" y="2292879"/>
            <a:ext cx="1531937" cy="646941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</a:rPr>
              <a:t>I1:</a:t>
            </a:r>
          </a:p>
          <a:p>
            <a:pPr lvl="0"/>
            <a:r>
              <a:rPr lang="en-US" sz="1600" dirty="0">
                <a:solidFill>
                  <a:schemeClr val="bg1"/>
                </a:solidFill>
              </a:rPr>
              <a:t>S → S ·, $</a:t>
            </a:r>
            <a:endParaRPr sz="1600" dirty="0">
              <a:solidFill>
                <a:schemeClr val="bg1"/>
              </a:solidFill>
            </a:endParaRPr>
          </a:p>
        </p:txBody>
      </p:sp>
      <p:cxnSp>
        <p:nvCxnSpPr>
          <p:cNvPr id="196" name="Google Shape;196;p6"/>
          <p:cNvCxnSpPr>
            <a:cxnSpLocks/>
            <a:stCxn id="191" idx="3"/>
            <a:endCxn id="195" idx="1"/>
          </p:cNvCxnSpPr>
          <p:nvPr/>
        </p:nvCxnSpPr>
        <p:spPr>
          <a:xfrm flipV="1">
            <a:off x="5011738" y="2616350"/>
            <a:ext cx="1233486" cy="734437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7" name="Google Shape;197;p6"/>
          <p:cNvSpPr txBox="1"/>
          <p:nvPr/>
        </p:nvSpPr>
        <p:spPr>
          <a:xfrm>
            <a:off x="5254625" y="2521479"/>
            <a:ext cx="67151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479800" y="5650482"/>
            <a:ext cx="1552575" cy="646941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</a:rPr>
              <a:t>I4:</a:t>
            </a:r>
          </a:p>
          <a:p>
            <a:pPr lvl="0"/>
            <a:r>
              <a:rPr lang="en-US" sz="1600" dirty="0">
                <a:solidFill>
                  <a:schemeClr val="bg1"/>
                </a:solidFill>
              </a:rPr>
              <a:t>A → c ·, a</a:t>
            </a:r>
            <a:endParaRPr sz="1600" dirty="0">
              <a:solidFill>
                <a:schemeClr val="bg1"/>
              </a:solidFill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4245769" y="4906506"/>
            <a:ext cx="67151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00" name="Google Shape;200;p6"/>
          <p:cNvCxnSpPr>
            <a:stCxn id="191" idx="2"/>
            <a:endCxn id="198" idx="0"/>
          </p:cNvCxnSpPr>
          <p:nvPr/>
        </p:nvCxnSpPr>
        <p:spPr>
          <a:xfrm>
            <a:off x="4245769" y="4203907"/>
            <a:ext cx="10319" cy="1446575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1" name="Google Shape;201;p6"/>
          <p:cNvSpPr/>
          <p:nvPr/>
        </p:nvSpPr>
        <p:spPr>
          <a:xfrm>
            <a:off x="6219824" y="5419502"/>
            <a:ext cx="1557335" cy="646941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</a:rPr>
              <a:t>I3:</a:t>
            </a:r>
          </a:p>
          <a:p>
            <a:pPr lvl="0"/>
            <a:r>
              <a:rPr lang="en-US" sz="1600" dirty="0">
                <a:solidFill>
                  <a:schemeClr val="bg1"/>
                </a:solidFill>
              </a:rPr>
              <a:t>S → A · a, $</a:t>
            </a:r>
            <a:endParaRPr sz="1600" dirty="0">
              <a:solidFill>
                <a:schemeClr val="bg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02" name="Google Shape;202;p6"/>
          <p:cNvCxnSpPr>
            <a:cxnSpLocks/>
            <a:stCxn id="191" idx="2"/>
            <a:endCxn id="201" idx="0"/>
          </p:cNvCxnSpPr>
          <p:nvPr/>
        </p:nvCxnSpPr>
        <p:spPr>
          <a:xfrm>
            <a:off x="4245769" y="4203907"/>
            <a:ext cx="2752723" cy="1215595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6"/>
          <p:cNvSpPr txBox="1"/>
          <p:nvPr/>
        </p:nvSpPr>
        <p:spPr>
          <a:xfrm>
            <a:off x="5280024" y="4407015"/>
            <a:ext cx="671513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sz="18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 txBox="1">
            <a:spLocks noGrp="1"/>
          </p:cNvSpPr>
          <p:nvPr>
            <p:ph type="title"/>
          </p:nvPr>
        </p:nvSpPr>
        <p:spPr>
          <a:xfrm>
            <a:off x="913795" y="24765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</a:pPr>
            <a:r>
              <a:rPr lang="en-US" sz="3200"/>
              <a:t>GOTO graph of LR(1) Items</a:t>
            </a:r>
            <a:endParaRPr sz="3200"/>
          </a:p>
        </p:txBody>
      </p:sp>
      <p:sp>
        <p:nvSpPr>
          <p:cNvPr id="209" name="Google Shape;209;p7"/>
          <p:cNvSpPr txBox="1"/>
          <p:nvPr/>
        </p:nvSpPr>
        <p:spPr>
          <a:xfrm>
            <a:off x="792691" y="1806786"/>
            <a:ext cx="1559984" cy="97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The Grammar: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 → CC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 → cC|d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792691" y="3369986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8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lang="en-US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" name="Google Shape;211;p7"/>
          <p:cNvGrpSpPr/>
          <p:nvPr/>
        </p:nvGrpSpPr>
        <p:grpSpPr>
          <a:xfrm>
            <a:off x="2992762" y="1154070"/>
            <a:ext cx="10146528" cy="5651001"/>
            <a:chOff x="619760" y="345441"/>
            <a:chExt cx="11419840" cy="6360159"/>
          </a:xfrm>
        </p:grpSpPr>
        <p:sp>
          <p:nvSpPr>
            <p:cNvPr id="212" name="Google Shape;212;p7"/>
            <p:cNvSpPr txBox="1"/>
            <p:nvPr/>
          </p:nvSpPr>
          <p:spPr>
            <a:xfrm>
              <a:off x="619760" y="345442"/>
              <a:ext cx="1381760" cy="1760259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I0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S’ → .S, $ </a:t>
              </a:r>
              <a:endParaRPr sz="16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S → .CC, $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.cC, c/d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.d, c/d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7"/>
            <p:cNvSpPr txBox="1"/>
            <p:nvPr/>
          </p:nvSpPr>
          <p:spPr>
            <a:xfrm>
              <a:off x="2783841" y="345441"/>
              <a:ext cx="1960881" cy="776728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I1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S’ → S. , $ 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7"/>
            <p:cNvSpPr txBox="1"/>
            <p:nvPr/>
          </p:nvSpPr>
          <p:spPr>
            <a:xfrm>
              <a:off x="2783841" y="1468827"/>
              <a:ext cx="1381760" cy="1328883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I2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S → C.C, $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.cC, $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.d, $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7"/>
            <p:cNvSpPr txBox="1"/>
            <p:nvPr/>
          </p:nvSpPr>
          <p:spPr>
            <a:xfrm>
              <a:off x="2814319" y="3159756"/>
              <a:ext cx="1381760" cy="1304398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I3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c.C, c/d</a:t>
              </a:r>
              <a:endParaRPr sz="16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.cC, c/d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.d, c/d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Lustria"/>
                <a:buNone/>
              </a:pP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 txBox="1"/>
            <p:nvPr/>
          </p:nvSpPr>
          <p:spPr>
            <a:xfrm>
              <a:off x="5283200" y="515997"/>
              <a:ext cx="1381760" cy="683915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I5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S → CC., $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7"/>
            <p:cNvSpPr txBox="1"/>
            <p:nvPr/>
          </p:nvSpPr>
          <p:spPr>
            <a:xfrm>
              <a:off x="2814319" y="4853351"/>
              <a:ext cx="1381760" cy="718864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I4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d. , c/d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7"/>
            <p:cNvSpPr txBox="1"/>
            <p:nvPr/>
          </p:nvSpPr>
          <p:spPr>
            <a:xfrm>
              <a:off x="5283200" y="1536381"/>
              <a:ext cx="1381760" cy="1532838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I6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c.C, $</a:t>
              </a:r>
              <a:endParaRPr sz="16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.cC, $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.d, $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5283200" y="3405688"/>
              <a:ext cx="1381760" cy="682772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I7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d., $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7"/>
            <p:cNvSpPr txBox="1"/>
            <p:nvPr/>
          </p:nvSpPr>
          <p:spPr>
            <a:xfrm>
              <a:off x="5283200" y="4698348"/>
              <a:ext cx="1381760" cy="672937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I8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cC., c/d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7579360" y="2425489"/>
              <a:ext cx="1381760" cy="892552"/>
            </a:xfrm>
            <a:prstGeom prst="rect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I9</a:t>
              </a:r>
              <a:endParaRPr sz="1600">
                <a:solidFill>
                  <a:schemeClr val="accent1"/>
                </a:solidFill>
                <a:latin typeface="Lustria"/>
                <a:ea typeface="Lustria"/>
                <a:cs typeface="Lustria"/>
                <a:sym typeface="Lustr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00"/>
                <a:buFont typeface="Calibri"/>
                <a:buNone/>
              </a:pPr>
              <a:r>
                <a:rPr lang="en-US" sz="16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 → cC., $</a:t>
              </a:r>
              <a:endParaRPr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Lustria"/>
                <a:buNone/>
              </a:pP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2" name="Google Shape;222;p7"/>
            <p:cNvCxnSpPr>
              <a:stCxn id="212" idx="3"/>
              <a:endCxn id="213" idx="1"/>
            </p:cNvCxnSpPr>
            <p:nvPr/>
          </p:nvCxnSpPr>
          <p:spPr>
            <a:xfrm rot="10800000" flipH="1">
              <a:off x="2001520" y="733872"/>
              <a:ext cx="782400" cy="491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3" name="Google Shape;223;p7"/>
            <p:cNvCxnSpPr>
              <a:stCxn id="212" idx="3"/>
              <a:endCxn id="214" idx="1"/>
            </p:cNvCxnSpPr>
            <p:nvPr/>
          </p:nvCxnSpPr>
          <p:spPr>
            <a:xfrm>
              <a:off x="2001520" y="1225572"/>
              <a:ext cx="782400" cy="907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4" name="Google Shape;224;p7"/>
            <p:cNvCxnSpPr>
              <a:stCxn id="212" idx="2"/>
              <a:endCxn id="215" idx="1"/>
            </p:cNvCxnSpPr>
            <p:nvPr/>
          </p:nvCxnSpPr>
          <p:spPr>
            <a:xfrm>
              <a:off x="1310640" y="2105701"/>
              <a:ext cx="1503600" cy="17064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5" name="Google Shape;225;p7"/>
            <p:cNvCxnSpPr>
              <a:stCxn id="212" idx="2"/>
              <a:endCxn id="217" idx="1"/>
            </p:cNvCxnSpPr>
            <p:nvPr/>
          </p:nvCxnSpPr>
          <p:spPr>
            <a:xfrm>
              <a:off x="1310640" y="2105701"/>
              <a:ext cx="1503600" cy="31071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6" name="Google Shape;226;p7"/>
            <p:cNvCxnSpPr>
              <a:stCxn id="214" idx="3"/>
              <a:endCxn id="216" idx="1"/>
            </p:cNvCxnSpPr>
            <p:nvPr/>
          </p:nvCxnSpPr>
          <p:spPr>
            <a:xfrm rot="10800000" flipH="1">
              <a:off x="4165601" y="857969"/>
              <a:ext cx="1117500" cy="12753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7" name="Google Shape;227;p7"/>
            <p:cNvCxnSpPr>
              <a:stCxn id="214" idx="3"/>
              <a:endCxn id="218" idx="1"/>
            </p:cNvCxnSpPr>
            <p:nvPr/>
          </p:nvCxnSpPr>
          <p:spPr>
            <a:xfrm>
              <a:off x="4165601" y="2133269"/>
              <a:ext cx="1117500" cy="169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8" name="Google Shape;228;p7"/>
            <p:cNvCxnSpPr>
              <a:stCxn id="214" idx="3"/>
              <a:endCxn id="219" idx="1"/>
            </p:cNvCxnSpPr>
            <p:nvPr/>
          </p:nvCxnSpPr>
          <p:spPr>
            <a:xfrm>
              <a:off x="4165601" y="2133268"/>
              <a:ext cx="1117500" cy="1613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29" name="Google Shape;229;p7"/>
            <p:cNvCxnSpPr>
              <a:stCxn id="215" idx="3"/>
              <a:endCxn id="220" idx="1"/>
            </p:cNvCxnSpPr>
            <p:nvPr/>
          </p:nvCxnSpPr>
          <p:spPr>
            <a:xfrm>
              <a:off x="4196079" y="3811955"/>
              <a:ext cx="1087200" cy="1222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30" name="Google Shape;230;p7"/>
            <p:cNvCxnSpPr>
              <a:endCxn id="221" idx="1"/>
            </p:cNvCxnSpPr>
            <p:nvPr/>
          </p:nvCxnSpPr>
          <p:spPr>
            <a:xfrm>
              <a:off x="6664960" y="2871765"/>
              <a:ext cx="9144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31" name="Google Shape;231;p7"/>
            <p:cNvSpPr txBox="1"/>
            <p:nvPr/>
          </p:nvSpPr>
          <p:spPr>
            <a:xfrm>
              <a:off x="2219959" y="598250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 sz="18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2" name="Google Shape;232;p7"/>
            <p:cNvSpPr txBox="1"/>
            <p:nvPr/>
          </p:nvSpPr>
          <p:spPr>
            <a:xfrm>
              <a:off x="2377439" y="1440470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7"/>
            <p:cNvSpPr txBox="1"/>
            <p:nvPr/>
          </p:nvSpPr>
          <p:spPr>
            <a:xfrm>
              <a:off x="2194559" y="2828301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7"/>
            <p:cNvSpPr txBox="1"/>
            <p:nvPr/>
          </p:nvSpPr>
          <p:spPr>
            <a:xfrm>
              <a:off x="2313400" y="4045899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7"/>
            <p:cNvSpPr txBox="1"/>
            <p:nvPr/>
          </p:nvSpPr>
          <p:spPr>
            <a:xfrm>
              <a:off x="4359928" y="1255804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6" name="Google Shape;236;p7"/>
            <p:cNvSpPr txBox="1"/>
            <p:nvPr/>
          </p:nvSpPr>
          <p:spPr>
            <a:xfrm>
              <a:off x="4724009" y="1870859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7"/>
            <p:cNvSpPr txBox="1"/>
            <p:nvPr/>
          </p:nvSpPr>
          <p:spPr>
            <a:xfrm>
              <a:off x="4815839" y="2828301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"/>
            <p:cNvSpPr txBox="1"/>
            <p:nvPr/>
          </p:nvSpPr>
          <p:spPr>
            <a:xfrm>
              <a:off x="4541520" y="4358297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239" name="Google Shape;239;p7"/>
            <p:cNvSpPr txBox="1"/>
            <p:nvPr/>
          </p:nvSpPr>
          <p:spPr>
            <a:xfrm>
              <a:off x="7051039" y="2428376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7"/>
            <p:cNvSpPr txBox="1"/>
            <p:nvPr/>
          </p:nvSpPr>
          <p:spPr>
            <a:xfrm>
              <a:off x="4253248" y="2975090"/>
              <a:ext cx="264160" cy="369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 dirty="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1" name="Google Shape;241;p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552238" y="6218238"/>
              <a:ext cx="487362" cy="487362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42" name="Google Shape;242;p7"/>
            <p:cNvSpPr txBox="1"/>
            <p:nvPr/>
          </p:nvSpPr>
          <p:spPr>
            <a:xfrm>
              <a:off x="3465817" y="4454254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7"/>
            <p:cNvSpPr txBox="1"/>
            <p:nvPr/>
          </p:nvSpPr>
          <p:spPr>
            <a:xfrm>
              <a:off x="5974945" y="3004831"/>
              <a:ext cx="3149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7"/>
            <p:cNvSpPr txBox="1"/>
            <p:nvPr/>
          </p:nvSpPr>
          <p:spPr>
            <a:xfrm>
              <a:off x="7018730" y="1519404"/>
              <a:ext cx="314960" cy="3693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800"/>
                <a:buFont typeface="Calibri"/>
                <a:buNone/>
              </a:pPr>
              <a:r>
                <a:rPr lang="en-US" sz="1800" dirty="0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5" name="Google Shape;245;p7"/>
          <p:cNvCxnSpPr>
            <a:cxnSpLocks/>
          </p:cNvCxnSpPr>
          <p:nvPr/>
        </p:nvCxnSpPr>
        <p:spPr>
          <a:xfrm>
            <a:off x="6169778" y="3831855"/>
            <a:ext cx="299590" cy="3413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46" name="Google Shape;246;p7"/>
          <p:cNvGrpSpPr/>
          <p:nvPr/>
        </p:nvGrpSpPr>
        <p:grpSpPr>
          <a:xfrm>
            <a:off x="6162434" y="3835268"/>
            <a:ext cx="306934" cy="327041"/>
            <a:chOff x="6392666" y="4034432"/>
            <a:chExt cx="306934" cy="327041"/>
          </a:xfrm>
        </p:grpSpPr>
        <p:cxnSp>
          <p:nvCxnSpPr>
            <p:cNvPr id="247" name="Google Shape;247;p7"/>
            <p:cNvCxnSpPr/>
            <p:nvPr/>
          </p:nvCxnSpPr>
          <p:spPr>
            <a:xfrm>
              <a:off x="6699600" y="4034432"/>
              <a:ext cx="0" cy="327041"/>
            </a:xfrm>
            <a:prstGeom prst="straightConnector1">
              <a:avLst/>
            </a:pr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8" name="Google Shape;248;p7"/>
            <p:cNvCxnSpPr/>
            <p:nvPr/>
          </p:nvCxnSpPr>
          <p:spPr>
            <a:xfrm rot="10800000">
              <a:off x="6392666" y="4361473"/>
              <a:ext cx="306934" cy="0"/>
            </a:xfrm>
            <a:prstGeom prst="straightConnector1">
              <a:avLst/>
            </a:pr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cxnSp>
        <p:nvCxnSpPr>
          <p:cNvPr id="249" name="Google Shape;249;p7"/>
          <p:cNvCxnSpPr>
            <a:stCxn id="215" idx="2"/>
            <a:endCxn id="217" idx="0"/>
          </p:cNvCxnSpPr>
          <p:nvPr/>
        </p:nvCxnSpPr>
        <p:spPr>
          <a:xfrm>
            <a:off x="5556475" y="4813546"/>
            <a:ext cx="0" cy="345900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0" name="Google Shape;250;p7"/>
          <p:cNvCxnSpPr>
            <a:stCxn id="218" idx="2"/>
            <a:endCxn id="219" idx="0"/>
          </p:cNvCxnSpPr>
          <p:nvPr/>
        </p:nvCxnSpPr>
        <p:spPr>
          <a:xfrm>
            <a:off x="7750076" y="3574146"/>
            <a:ext cx="0" cy="299100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1" name="Google Shape;251;p7"/>
          <p:cNvCxnSpPr>
            <a:cxnSpLocks/>
          </p:cNvCxnSpPr>
          <p:nvPr/>
        </p:nvCxnSpPr>
        <p:spPr>
          <a:xfrm>
            <a:off x="8363922" y="2578470"/>
            <a:ext cx="628650" cy="0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" name="Google Shape;252;p7"/>
          <p:cNvCxnSpPr>
            <a:cxnSpLocks/>
          </p:cNvCxnSpPr>
          <p:nvPr/>
        </p:nvCxnSpPr>
        <p:spPr>
          <a:xfrm>
            <a:off x="8992572" y="2578470"/>
            <a:ext cx="0" cy="314686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3" name="Google Shape;253;p7"/>
          <p:cNvCxnSpPr>
            <a:cxnSpLocks/>
            <a:endCxn id="218" idx="3"/>
          </p:cNvCxnSpPr>
          <p:nvPr/>
        </p:nvCxnSpPr>
        <p:spPr>
          <a:xfrm flipH="1">
            <a:off x="8363923" y="2893183"/>
            <a:ext cx="622872" cy="0"/>
          </a:xfrm>
          <a:prstGeom prst="straightConnector1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8"/>
          <p:cNvSpPr txBox="1">
            <a:spLocks noGrp="1"/>
          </p:cNvSpPr>
          <p:nvPr>
            <p:ph type="title"/>
          </p:nvPr>
        </p:nvSpPr>
        <p:spPr>
          <a:xfrm>
            <a:off x="913795" y="251012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Canonical LR(1) Parsing Table</a:t>
            </a:r>
            <a:endParaRPr/>
          </a:p>
        </p:txBody>
      </p:sp>
      <p:graphicFrame>
        <p:nvGraphicFramePr>
          <p:cNvPr id="259" name="Google Shape;259;p8"/>
          <p:cNvGraphicFramePr/>
          <p:nvPr/>
        </p:nvGraphicFramePr>
        <p:xfrm>
          <a:off x="7514375" y="1400984"/>
          <a:ext cx="4106875" cy="44502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83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4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States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ACTION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GOTO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d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$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acc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s7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3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s4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4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5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6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s6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s7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7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r3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8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9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r2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60" name="Google Shape;260;p8"/>
          <p:cNvSpPr txBox="1"/>
          <p:nvPr/>
        </p:nvSpPr>
        <p:spPr>
          <a:xfrm>
            <a:off x="653820" y="1048871"/>
            <a:ext cx="6679310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chemeClr val="lt2"/>
              </a:buClr>
              <a:buSzPts val="1600"/>
            </a:pP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Construct the collection of sets of LR(1) items C' = {I0, I1, I2, ..., In} for the augmented grammar G'.</a:t>
            </a:r>
          </a:p>
          <a:p>
            <a:pPr lvl="0">
              <a:buClr>
                <a:schemeClr val="lt2"/>
              </a:buClr>
              <a:buSzPts val="1600"/>
            </a:pP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State 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of the parser is constructed from 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. The parsing actions for state 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are determined as follows:</a:t>
            </a:r>
          </a:p>
          <a:p>
            <a:pPr lvl="0">
              <a:buClr>
                <a:schemeClr val="lt2"/>
              </a:buClr>
              <a:buSzPts val="1600"/>
            </a:pP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- If [A → α · a β, b] is in 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and GOTO(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, a) = 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Ij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, then set ACTION[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, a] to "SHIFT j". Here, a must be a terminal.</a:t>
            </a:r>
          </a:p>
          <a:p>
            <a:pPr lvl="0">
              <a:buClr>
                <a:schemeClr val="lt2"/>
              </a:buClr>
              <a:buSzPts val="1600"/>
            </a:pP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- If [A → α · , b] is in 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and A ≠ S', then set ACTION[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, b] to "REDUCE A → α". Here, b must be a terminal.</a:t>
            </a:r>
          </a:p>
          <a:p>
            <a:pPr lvl="0">
              <a:buClr>
                <a:schemeClr val="lt2"/>
              </a:buClr>
              <a:buSzPts val="1600"/>
            </a:pP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- If [S' → S · , $] is in 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, then set ACTION[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, $] to "Accept".</a:t>
            </a:r>
          </a:p>
          <a:p>
            <a:pPr lvl="0">
              <a:buClr>
                <a:schemeClr val="lt2"/>
              </a:buClr>
              <a:buSzPts val="1600"/>
            </a:pPr>
            <a:endParaRPr lang="en-US" sz="16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lvl="0">
              <a:buClr>
                <a:schemeClr val="lt2"/>
              </a:buClr>
              <a:buSzPts val="1600"/>
            </a:pP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The GOTO transitions for state 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are constructed for all non-terminals A using the rule: If GOTO(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, A) = 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Ij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, then GOTO[</a:t>
            </a:r>
            <a:r>
              <a:rPr lang="en-US" sz="16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</a:t>
            </a: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, A] = j.</a:t>
            </a:r>
          </a:p>
          <a:p>
            <a:pPr lvl="0">
              <a:buClr>
                <a:schemeClr val="lt2"/>
              </a:buClr>
              <a:buSzPts val="1600"/>
            </a:pP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Any entries that are not defined by the points above are made "error".</a:t>
            </a:r>
          </a:p>
          <a:p>
            <a:pPr lvl="0">
              <a:buClr>
                <a:schemeClr val="lt2"/>
              </a:buClr>
              <a:buSzPts val="1600"/>
            </a:pPr>
            <a:r>
              <a:rPr lang="en-US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The initial state of the parser is constructed from the set of items containing [S' → S · , $].</a:t>
            </a:r>
          </a:p>
        </p:txBody>
      </p:sp>
      <p:sp>
        <p:nvSpPr>
          <p:cNvPr id="261" name="Google Shape;261;p8"/>
          <p:cNvSpPr txBox="1"/>
          <p:nvPr/>
        </p:nvSpPr>
        <p:spPr>
          <a:xfrm>
            <a:off x="5476809" y="4988040"/>
            <a:ext cx="1227733" cy="1564040"/>
          </a:xfrm>
          <a:prstGeom prst="rect">
            <a:avLst/>
          </a:prstGeom>
          <a:noFill/>
          <a:ln w="127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</a:pPr>
            <a:r>
              <a:rPr lang="en-US" sz="160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I0</a:t>
            </a:r>
            <a:endParaRPr sz="1600" dirty="0">
              <a:solidFill>
                <a:schemeClr val="accen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S’ → .S, $ </a:t>
            </a:r>
            <a:endParaRPr sz="16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 → .CC, $</a:t>
            </a:r>
            <a:endParaRPr sz="1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 → .</a:t>
            </a:r>
            <a:r>
              <a:rPr lang="en-US" sz="1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cC</a:t>
            </a:r>
            <a:r>
              <a:rPr lang="en-US" sz="1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, c/d</a:t>
            </a:r>
            <a:endParaRPr sz="1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 → .d, c/d</a:t>
            </a:r>
            <a:endParaRPr sz="1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ustria"/>
              <a:buNone/>
            </a:pPr>
            <a:endParaRPr sz="18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8"/>
          <p:cNvCxnSpPr/>
          <p:nvPr/>
        </p:nvCxnSpPr>
        <p:spPr>
          <a:xfrm rot="10800000" flipH="1">
            <a:off x="6723529" y="2312894"/>
            <a:ext cx="1084730" cy="2680447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9" name="Google Shape;269;p9"/>
          <p:cNvGraphicFramePr/>
          <p:nvPr/>
        </p:nvGraphicFramePr>
        <p:xfrm>
          <a:off x="271781" y="2940558"/>
          <a:ext cx="3557250" cy="36731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States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ACTION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GOTO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c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d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$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C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0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s3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s4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2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1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acc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2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s6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s7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5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3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s3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s4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8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4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r3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r3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5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r1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6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s6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s7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9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7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r3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8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r2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r2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9</a:t>
                      </a:r>
                      <a:endParaRPr sz="1300" u="none" strike="noStrike" cap="none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strike="noStrike" cap="none"/>
                        <a:t>r2</a:t>
                      </a: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u="none" strike="noStrike" cap="none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70" name="Google Shape;270;p9"/>
          <p:cNvGraphicFramePr/>
          <p:nvPr/>
        </p:nvGraphicFramePr>
        <p:xfrm>
          <a:off x="3952876" y="1873758"/>
          <a:ext cx="4679400" cy="4720875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71" name="Google Shape;271;p9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2" name="Google Shape;272;p9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3" name="Google Shape;273;p9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77" name="Google Shape;277;p9"/>
          <p:cNvCxnSpPr/>
          <p:nvPr/>
        </p:nvCxnSpPr>
        <p:spPr>
          <a:xfrm>
            <a:off x="8871327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8" name="Google Shape;278;p9"/>
          <p:cNvCxnSpPr/>
          <p:nvPr/>
        </p:nvCxnSpPr>
        <p:spPr>
          <a:xfrm rot="10800000">
            <a:off x="9099928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284" name="Google Shape;284;p10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10"/>
          <p:cNvGraphicFramePr/>
          <p:nvPr/>
        </p:nvGraphicFramePr>
        <p:xfrm>
          <a:off x="271781" y="2940558"/>
          <a:ext cx="3557250" cy="36731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86" name="Google Shape;286;p10"/>
          <p:cNvGraphicFramePr/>
          <p:nvPr/>
        </p:nvGraphicFramePr>
        <p:xfrm>
          <a:off x="3952876" y="1873758"/>
          <a:ext cx="4679400" cy="4720875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87" name="Google Shape;287;p10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89" name="Google Shape;289;p10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293" name="Google Shape;293;p10"/>
          <p:cNvCxnSpPr/>
          <p:nvPr/>
        </p:nvCxnSpPr>
        <p:spPr>
          <a:xfrm rot="10800000">
            <a:off x="9566653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4" name="Google Shape;294;p10"/>
          <p:cNvCxnSpPr/>
          <p:nvPr/>
        </p:nvCxnSpPr>
        <p:spPr>
          <a:xfrm>
            <a:off x="9379704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00" name="Google Shape;300;p11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p11"/>
          <p:cNvGraphicFramePr/>
          <p:nvPr/>
        </p:nvGraphicFramePr>
        <p:xfrm>
          <a:off x="271781" y="2940558"/>
          <a:ext cx="3557250" cy="36731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02" name="Google Shape;302;p11"/>
          <p:cNvGraphicFramePr/>
          <p:nvPr/>
        </p:nvGraphicFramePr>
        <p:xfrm>
          <a:off x="3952876" y="1873758"/>
          <a:ext cx="4679400" cy="4720875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03" name="Google Shape;303;p11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08" name="Google Shape;308;p11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09" name="Google Shape;309;p11"/>
          <p:cNvCxnSpPr/>
          <p:nvPr/>
        </p:nvCxnSpPr>
        <p:spPr>
          <a:xfrm rot="10800000">
            <a:off x="10166728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10" name="Google Shape;310;p11"/>
          <p:cNvCxnSpPr/>
          <p:nvPr/>
        </p:nvCxnSpPr>
        <p:spPr>
          <a:xfrm>
            <a:off x="9946442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16" name="Google Shape;316;p12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7" name="Google Shape;317;p12"/>
          <p:cNvGraphicFramePr/>
          <p:nvPr/>
        </p:nvGraphicFramePr>
        <p:xfrm>
          <a:off x="271781" y="2940558"/>
          <a:ext cx="3557250" cy="36731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18" name="Google Shape;318;p12"/>
          <p:cNvGraphicFramePr/>
          <p:nvPr/>
        </p:nvGraphicFramePr>
        <p:xfrm>
          <a:off x="3952876" y="1873758"/>
          <a:ext cx="4679400" cy="4720875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19" name="Google Shape;319;p12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25" name="Google Shape;325;p12"/>
          <p:cNvCxnSpPr/>
          <p:nvPr/>
        </p:nvCxnSpPr>
        <p:spPr>
          <a:xfrm rot="10800000">
            <a:off x="10738228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6" name="Google Shape;326;p12"/>
          <p:cNvCxnSpPr/>
          <p:nvPr/>
        </p:nvCxnSpPr>
        <p:spPr>
          <a:xfrm>
            <a:off x="10487552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32" name="Google Shape;332;p13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3" name="Google Shape;333;p13"/>
          <p:cNvGraphicFramePr/>
          <p:nvPr/>
        </p:nvGraphicFramePr>
        <p:xfrm>
          <a:off x="271781" y="294055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34" name="Google Shape;334;p13"/>
          <p:cNvGraphicFramePr/>
          <p:nvPr/>
        </p:nvGraphicFramePr>
        <p:xfrm>
          <a:off x="3952876" y="187375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35" name="Google Shape;335;p13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36" name="Google Shape;336;p13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37" name="Google Shape;337;p13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38" name="Google Shape;338;p13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39" name="Google Shape;339;p13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40" name="Google Shape;340;p13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41" name="Google Shape;341;p13"/>
          <p:cNvSpPr txBox="1"/>
          <p:nvPr/>
        </p:nvSpPr>
        <p:spPr>
          <a:xfrm>
            <a:off x="9961940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42" name="Google Shape;342;p13"/>
          <p:cNvCxnSpPr>
            <a:stCxn id="339" idx="0"/>
            <a:endCxn id="341" idx="2"/>
          </p:cNvCxnSpPr>
          <p:nvPr/>
        </p:nvCxnSpPr>
        <p:spPr>
          <a:xfrm rot="10800000">
            <a:off x="10166728" y="5356950"/>
            <a:ext cx="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3" name="Google Shape;343;p13"/>
          <p:cNvCxnSpPr/>
          <p:nvPr/>
        </p:nvCxnSpPr>
        <p:spPr>
          <a:xfrm rot="10800000">
            <a:off x="10700128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4" name="Google Shape;344;p13"/>
          <p:cNvCxnSpPr/>
          <p:nvPr/>
        </p:nvCxnSpPr>
        <p:spPr>
          <a:xfrm>
            <a:off x="10487552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50" name="Google Shape;350;p14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1" name="Google Shape;351;p14"/>
          <p:cNvGraphicFramePr/>
          <p:nvPr/>
        </p:nvGraphicFramePr>
        <p:xfrm>
          <a:off x="271781" y="2940558"/>
          <a:ext cx="3557250" cy="36731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52" name="Google Shape;352;p14"/>
          <p:cNvGraphicFramePr/>
          <p:nvPr/>
        </p:nvGraphicFramePr>
        <p:xfrm>
          <a:off x="3952876" y="1873758"/>
          <a:ext cx="4679400" cy="4720875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53" name="Google Shape;353;p14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54" name="Google Shape;354;p14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55" name="Google Shape;355;p14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56" name="Google Shape;356;p14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57" name="Google Shape;357;p14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58" name="Google Shape;358;p14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59" name="Google Shape;359;p14"/>
          <p:cNvSpPr txBox="1"/>
          <p:nvPr/>
        </p:nvSpPr>
        <p:spPr>
          <a:xfrm>
            <a:off x="9961940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60" name="Google Shape;360;p14"/>
          <p:cNvCxnSpPr>
            <a:stCxn id="357" idx="0"/>
            <a:endCxn id="359" idx="2"/>
          </p:cNvCxnSpPr>
          <p:nvPr/>
        </p:nvCxnSpPr>
        <p:spPr>
          <a:xfrm rot="10800000">
            <a:off x="10166728" y="5356950"/>
            <a:ext cx="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1" name="Google Shape;361;p14"/>
          <p:cNvCxnSpPr>
            <a:stCxn id="359" idx="0"/>
            <a:endCxn id="362" idx="2"/>
          </p:cNvCxnSpPr>
          <p:nvPr/>
        </p:nvCxnSpPr>
        <p:spPr>
          <a:xfrm rot="10800000">
            <a:off x="10166728" y="4259925"/>
            <a:ext cx="0" cy="512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62" name="Google Shape;362;p14"/>
          <p:cNvSpPr txBox="1"/>
          <p:nvPr/>
        </p:nvSpPr>
        <p:spPr>
          <a:xfrm>
            <a:off x="9961940" y="36752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63" name="Google Shape;363;p14"/>
          <p:cNvCxnSpPr>
            <a:stCxn id="354" idx="0"/>
            <a:endCxn id="362" idx="2"/>
          </p:cNvCxnSpPr>
          <p:nvPr/>
        </p:nvCxnSpPr>
        <p:spPr>
          <a:xfrm rot="10800000" flipH="1">
            <a:off x="9609515" y="4260150"/>
            <a:ext cx="557100" cy="1550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4" name="Google Shape;364;p14"/>
          <p:cNvCxnSpPr/>
          <p:nvPr/>
        </p:nvCxnSpPr>
        <p:spPr>
          <a:xfrm rot="10800000">
            <a:off x="10700128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65" name="Google Shape;365;p14"/>
          <p:cNvCxnSpPr/>
          <p:nvPr/>
        </p:nvCxnSpPr>
        <p:spPr>
          <a:xfrm>
            <a:off x="10487552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5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71" name="Google Shape;371;p15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2" name="Google Shape;372;p15"/>
          <p:cNvGraphicFramePr/>
          <p:nvPr/>
        </p:nvGraphicFramePr>
        <p:xfrm>
          <a:off x="271781" y="294055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73" name="Google Shape;373;p15"/>
          <p:cNvGraphicFramePr/>
          <p:nvPr/>
        </p:nvGraphicFramePr>
        <p:xfrm>
          <a:off x="3952876" y="187375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74" name="Google Shape;374;p15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78" name="Google Shape;378;p15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9961940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81" name="Google Shape;381;p15"/>
          <p:cNvCxnSpPr>
            <a:stCxn id="378" idx="0"/>
            <a:endCxn id="380" idx="2"/>
          </p:cNvCxnSpPr>
          <p:nvPr/>
        </p:nvCxnSpPr>
        <p:spPr>
          <a:xfrm rot="10800000">
            <a:off x="10166728" y="5356950"/>
            <a:ext cx="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2" name="Google Shape;382;p15"/>
          <p:cNvCxnSpPr>
            <a:stCxn id="380" idx="0"/>
            <a:endCxn id="383" idx="2"/>
          </p:cNvCxnSpPr>
          <p:nvPr/>
        </p:nvCxnSpPr>
        <p:spPr>
          <a:xfrm rot="10800000">
            <a:off x="10166728" y="4259925"/>
            <a:ext cx="0" cy="512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3" name="Google Shape;383;p15"/>
          <p:cNvSpPr txBox="1"/>
          <p:nvPr/>
        </p:nvSpPr>
        <p:spPr>
          <a:xfrm>
            <a:off x="9961940" y="36752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84" name="Google Shape;384;p15"/>
          <p:cNvCxnSpPr>
            <a:stCxn id="375" idx="0"/>
            <a:endCxn id="383" idx="2"/>
          </p:cNvCxnSpPr>
          <p:nvPr/>
        </p:nvCxnSpPr>
        <p:spPr>
          <a:xfrm rot="10800000" flipH="1">
            <a:off x="9609515" y="4260150"/>
            <a:ext cx="557100" cy="1550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5" name="Google Shape;385;p15"/>
          <p:cNvSpPr txBox="1"/>
          <p:nvPr/>
        </p:nvSpPr>
        <p:spPr>
          <a:xfrm>
            <a:off x="9961940" y="28708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386" name="Google Shape;386;p15"/>
          <p:cNvCxnSpPr>
            <a:stCxn id="383" idx="0"/>
            <a:endCxn id="385" idx="2"/>
          </p:cNvCxnSpPr>
          <p:nvPr/>
        </p:nvCxnSpPr>
        <p:spPr>
          <a:xfrm rot="10800000">
            <a:off x="10166728" y="3455638"/>
            <a:ext cx="0" cy="2196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7" name="Google Shape;387;p15"/>
          <p:cNvCxnSpPr>
            <a:stCxn id="374" idx="0"/>
            <a:endCxn id="385" idx="2"/>
          </p:cNvCxnSpPr>
          <p:nvPr/>
        </p:nvCxnSpPr>
        <p:spPr>
          <a:xfrm rot="10800000" flipH="1">
            <a:off x="9101138" y="3455550"/>
            <a:ext cx="1065600" cy="23547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8" name="Google Shape;388;p15"/>
          <p:cNvCxnSpPr/>
          <p:nvPr/>
        </p:nvCxnSpPr>
        <p:spPr>
          <a:xfrm rot="10800000">
            <a:off x="10700128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89" name="Google Shape;389;p15"/>
          <p:cNvCxnSpPr/>
          <p:nvPr/>
        </p:nvCxnSpPr>
        <p:spPr>
          <a:xfrm>
            <a:off x="10487552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395" name="Google Shape;395;p16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6" name="Google Shape;396;p16"/>
          <p:cNvGraphicFramePr/>
          <p:nvPr/>
        </p:nvGraphicFramePr>
        <p:xfrm>
          <a:off x="271781" y="2940558"/>
          <a:ext cx="3557250" cy="36731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97" name="Google Shape;397;p16"/>
          <p:cNvGraphicFramePr/>
          <p:nvPr/>
        </p:nvGraphicFramePr>
        <p:xfrm>
          <a:off x="3952876" y="1873758"/>
          <a:ext cx="4679400" cy="4720875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98" name="Google Shape;398;p16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399" name="Google Shape;399;p16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00" name="Google Shape;400;p16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01" name="Google Shape;401;p16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02" name="Google Shape;402;p16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03" name="Google Shape;403;p16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04" name="Google Shape;404;p16"/>
          <p:cNvSpPr txBox="1"/>
          <p:nvPr/>
        </p:nvSpPr>
        <p:spPr>
          <a:xfrm>
            <a:off x="9961940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05" name="Google Shape;405;p16"/>
          <p:cNvCxnSpPr>
            <a:stCxn id="402" idx="0"/>
            <a:endCxn id="404" idx="2"/>
          </p:cNvCxnSpPr>
          <p:nvPr/>
        </p:nvCxnSpPr>
        <p:spPr>
          <a:xfrm rot="10800000">
            <a:off x="10166728" y="5356950"/>
            <a:ext cx="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6" name="Google Shape;406;p16"/>
          <p:cNvCxnSpPr>
            <a:stCxn id="404" idx="0"/>
            <a:endCxn id="407" idx="2"/>
          </p:cNvCxnSpPr>
          <p:nvPr/>
        </p:nvCxnSpPr>
        <p:spPr>
          <a:xfrm rot="10800000">
            <a:off x="10166728" y="4259925"/>
            <a:ext cx="0" cy="512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7" name="Google Shape;407;p16"/>
          <p:cNvSpPr txBox="1"/>
          <p:nvPr/>
        </p:nvSpPr>
        <p:spPr>
          <a:xfrm>
            <a:off x="9961940" y="36752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08" name="Google Shape;408;p16"/>
          <p:cNvCxnSpPr>
            <a:stCxn id="399" idx="0"/>
            <a:endCxn id="407" idx="2"/>
          </p:cNvCxnSpPr>
          <p:nvPr/>
        </p:nvCxnSpPr>
        <p:spPr>
          <a:xfrm rot="10800000" flipH="1">
            <a:off x="9609515" y="4260150"/>
            <a:ext cx="557100" cy="1550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9" name="Google Shape;409;p16"/>
          <p:cNvSpPr txBox="1"/>
          <p:nvPr/>
        </p:nvSpPr>
        <p:spPr>
          <a:xfrm>
            <a:off x="9961940" y="28708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10" name="Google Shape;410;p16"/>
          <p:cNvCxnSpPr>
            <a:stCxn id="407" idx="0"/>
            <a:endCxn id="409" idx="2"/>
          </p:cNvCxnSpPr>
          <p:nvPr/>
        </p:nvCxnSpPr>
        <p:spPr>
          <a:xfrm rot="10800000">
            <a:off x="10166728" y="3455638"/>
            <a:ext cx="0" cy="2196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1" name="Google Shape;411;p16"/>
          <p:cNvCxnSpPr>
            <a:stCxn id="398" idx="0"/>
            <a:endCxn id="409" idx="2"/>
          </p:cNvCxnSpPr>
          <p:nvPr/>
        </p:nvCxnSpPr>
        <p:spPr>
          <a:xfrm rot="10800000" flipH="1">
            <a:off x="9101138" y="3455550"/>
            <a:ext cx="1065600" cy="23547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2" name="Google Shape;412;p16"/>
          <p:cNvCxnSpPr/>
          <p:nvPr/>
        </p:nvCxnSpPr>
        <p:spPr>
          <a:xfrm rot="10800000">
            <a:off x="11138278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3" name="Google Shape;413;p16"/>
          <p:cNvCxnSpPr/>
          <p:nvPr/>
        </p:nvCxnSpPr>
        <p:spPr>
          <a:xfrm>
            <a:off x="10925702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419" name="Google Shape;419;p17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0" name="Google Shape;420;p17"/>
          <p:cNvGraphicFramePr/>
          <p:nvPr/>
        </p:nvGraphicFramePr>
        <p:xfrm>
          <a:off x="271781" y="294055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21" name="Google Shape;421;p17"/>
          <p:cNvGraphicFramePr/>
          <p:nvPr/>
        </p:nvGraphicFramePr>
        <p:xfrm>
          <a:off x="3952876" y="1873758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22" name="Google Shape;422;p17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3" name="Google Shape;423;p17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4" name="Google Shape;424;p17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5" name="Google Shape;425;p17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6" name="Google Shape;426;p17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7" name="Google Shape;427;p17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9961940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29" name="Google Shape;429;p17"/>
          <p:cNvCxnSpPr>
            <a:stCxn id="426" idx="0"/>
            <a:endCxn id="428" idx="2"/>
          </p:cNvCxnSpPr>
          <p:nvPr/>
        </p:nvCxnSpPr>
        <p:spPr>
          <a:xfrm rot="10800000">
            <a:off x="10166728" y="5356950"/>
            <a:ext cx="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0" name="Google Shape;430;p17"/>
          <p:cNvCxnSpPr>
            <a:stCxn id="428" idx="0"/>
            <a:endCxn id="431" idx="2"/>
          </p:cNvCxnSpPr>
          <p:nvPr/>
        </p:nvCxnSpPr>
        <p:spPr>
          <a:xfrm rot="10800000">
            <a:off x="10166728" y="4259925"/>
            <a:ext cx="0" cy="512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1" name="Google Shape;431;p17"/>
          <p:cNvSpPr txBox="1"/>
          <p:nvPr/>
        </p:nvSpPr>
        <p:spPr>
          <a:xfrm>
            <a:off x="9961940" y="36752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32" name="Google Shape;432;p17"/>
          <p:cNvCxnSpPr>
            <a:stCxn id="423" idx="0"/>
            <a:endCxn id="431" idx="2"/>
          </p:cNvCxnSpPr>
          <p:nvPr/>
        </p:nvCxnSpPr>
        <p:spPr>
          <a:xfrm rot="10800000" flipH="1">
            <a:off x="9609515" y="4260150"/>
            <a:ext cx="557100" cy="1550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3" name="Google Shape;433;p17"/>
          <p:cNvSpPr txBox="1"/>
          <p:nvPr/>
        </p:nvSpPr>
        <p:spPr>
          <a:xfrm>
            <a:off x="9961940" y="28708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34" name="Google Shape;434;p17"/>
          <p:cNvCxnSpPr>
            <a:stCxn id="431" idx="0"/>
            <a:endCxn id="433" idx="2"/>
          </p:cNvCxnSpPr>
          <p:nvPr/>
        </p:nvCxnSpPr>
        <p:spPr>
          <a:xfrm rot="10800000">
            <a:off x="10166728" y="3455638"/>
            <a:ext cx="0" cy="2196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5" name="Google Shape;435;p17"/>
          <p:cNvCxnSpPr>
            <a:stCxn id="422" idx="0"/>
            <a:endCxn id="433" idx="2"/>
          </p:cNvCxnSpPr>
          <p:nvPr/>
        </p:nvCxnSpPr>
        <p:spPr>
          <a:xfrm rot="10800000" flipH="1">
            <a:off x="9101138" y="3455550"/>
            <a:ext cx="1065600" cy="23547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6" name="Google Shape;436;p17"/>
          <p:cNvCxnSpPr/>
          <p:nvPr/>
        </p:nvCxnSpPr>
        <p:spPr>
          <a:xfrm rot="10800000">
            <a:off x="11547853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37" name="Google Shape;437;p17"/>
          <p:cNvCxnSpPr/>
          <p:nvPr/>
        </p:nvCxnSpPr>
        <p:spPr>
          <a:xfrm>
            <a:off x="11335277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4" name="Google Shape;444;p18"/>
          <p:cNvGraphicFramePr/>
          <p:nvPr/>
        </p:nvGraphicFramePr>
        <p:xfrm>
          <a:off x="271781" y="2940558"/>
          <a:ext cx="3557250" cy="36731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45" name="Google Shape;445;p18"/>
          <p:cNvGraphicFramePr/>
          <p:nvPr/>
        </p:nvGraphicFramePr>
        <p:xfrm>
          <a:off x="3952876" y="1873758"/>
          <a:ext cx="4679400" cy="4720875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46" name="Google Shape;446;p18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47" name="Google Shape;447;p18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48" name="Google Shape;448;p18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49" name="Google Shape;449;p18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50" name="Google Shape;450;p18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51" name="Google Shape;451;p18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52" name="Google Shape;452;p18"/>
          <p:cNvSpPr txBox="1"/>
          <p:nvPr/>
        </p:nvSpPr>
        <p:spPr>
          <a:xfrm>
            <a:off x="9961940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53" name="Google Shape;453;p18"/>
          <p:cNvCxnSpPr>
            <a:stCxn id="450" idx="0"/>
            <a:endCxn id="452" idx="2"/>
          </p:cNvCxnSpPr>
          <p:nvPr/>
        </p:nvCxnSpPr>
        <p:spPr>
          <a:xfrm rot="10800000">
            <a:off x="10166728" y="5356950"/>
            <a:ext cx="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4" name="Google Shape;454;p18"/>
          <p:cNvCxnSpPr>
            <a:stCxn id="452" idx="0"/>
            <a:endCxn id="455" idx="2"/>
          </p:cNvCxnSpPr>
          <p:nvPr/>
        </p:nvCxnSpPr>
        <p:spPr>
          <a:xfrm rot="10800000">
            <a:off x="10166728" y="4259925"/>
            <a:ext cx="0" cy="512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5" name="Google Shape;455;p18"/>
          <p:cNvSpPr txBox="1"/>
          <p:nvPr/>
        </p:nvSpPr>
        <p:spPr>
          <a:xfrm>
            <a:off x="9961940" y="36752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56" name="Google Shape;456;p18"/>
          <p:cNvCxnSpPr>
            <a:stCxn id="447" idx="0"/>
            <a:endCxn id="455" idx="2"/>
          </p:cNvCxnSpPr>
          <p:nvPr/>
        </p:nvCxnSpPr>
        <p:spPr>
          <a:xfrm rot="10800000" flipH="1">
            <a:off x="9609515" y="4260150"/>
            <a:ext cx="557100" cy="1550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57" name="Google Shape;457;p18"/>
          <p:cNvSpPr txBox="1"/>
          <p:nvPr/>
        </p:nvSpPr>
        <p:spPr>
          <a:xfrm>
            <a:off x="9961940" y="28708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58" name="Google Shape;458;p18"/>
          <p:cNvCxnSpPr>
            <a:stCxn id="455" idx="0"/>
            <a:endCxn id="457" idx="2"/>
          </p:cNvCxnSpPr>
          <p:nvPr/>
        </p:nvCxnSpPr>
        <p:spPr>
          <a:xfrm rot="10800000">
            <a:off x="10166728" y="3455638"/>
            <a:ext cx="0" cy="2196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9" name="Google Shape;459;p18"/>
          <p:cNvCxnSpPr>
            <a:stCxn id="446" idx="0"/>
            <a:endCxn id="457" idx="2"/>
          </p:cNvCxnSpPr>
          <p:nvPr/>
        </p:nvCxnSpPr>
        <p:spPr>
          <a:xfrm rot="10800000" flipH="1">
            <a:off x="9101138" y="3455550"/>
            <a:ext cx="1065600" cy="23547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60" name="Google Shape;460;p18"/>
          <p:cNvSpPr txBox="1"/>
          <p:nvPr/>
        </p:nvSpPr>
        <p:spPr>
          <a:xfrm>
            <a:off x="10904308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61" name="Google Shape;461;p18"/>
          <p:cNvCxnSpPr>
            <a:endCxn id="460" idx="2"/>
          </p:cNvCxnSpPr>
          <p:nvPr/>
        </p:nvCxnSpPr>
        <p:spPr>
          <a:xfrm rot="10800000">
            <a:off x="11109096" y="5356800"/>
            <a:ext cx="300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2" name="Google Shape;462;p18"/>
          <p:cNvCxnSpPr/>
          <p:nvPr/>
        </p:nvCxnSpPr>
        <p:spPr>
          <a:xfrm rot="10800000">
            <a:off x="11547853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63" name="Google Shape;463;p18"/>
          <p:cNvCxnSpPr/>
          <p:nvPr/>
        </p:nvCxnSpPr>
        <p:spPr>
          <a:xfrm>
            <a:off x="11335277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9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469" name="Google Shape;469;p19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0" name="Google Shape;470;p19"/>
          <p:cNvGraphicFramePr/>
          <p:nvPr/>
        </p:nvGraphicFramePr>
        <p:xfrm>
          <a:off x="271781" y="2940558"/>
          <a:ext cx="3557250" cy="36731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471" name="Google Shape;471;p19"/>
          <p:cNvGraphicFramePr/>
          <p:nvPr/>
        </p:nvGraphicFramePr>
        <p:xfrm>
          <a:off x="3952876" y="1873758"/>
          <a:ext cx="4679400" cy="4720875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72" name="Google Shape;472;p19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73" name="Google Shape;473;p19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74" name="Google Shape;474;p19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75" name="Google Shape;475;p19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76" name="Google Shape;476;p19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478" name="Google Shape;478;p19"/>
          <p:cNvSpPr txBox="1"/>
          <p:nvPr/>
        </p:nvSpPr>
        <p:spPr>
          <a:xfrm>
            <a:off x="9961940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79" name="Google Shape;479;p19"/>
          <p:cNvCxnSpPr>
            <a:stCxn id="476" idx="0"/>
            <a:endCxn id="478" idx="2"/>
          </p:cNvCxnSpPr>
          <p:nvPr/>
        </p:nvCxnSpPr>
        <p:spPr>
          <a:xfrm rot="10800000">
            <a:off x="10166728" y="5356950"/>
            <a:ext cx="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0" name="Google Shape;480;p19"/>
          <p:cNvCxnSpPr>
            <a:stCxn id="478" idx="0"/>
            <a:endCxn id="481" idx="2"/>
          </p:cNvCxnSpPr>
          <p:nvPr/>
        </p:nvCxnSpPr>
        <p:spPr>
          <a:xfrm rot="10800000">
            <a:off x="10166728" y="4259925"/>
            <a:ext cx="0" cy="512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1" name="Google Shape;481;p19"/>
          <p:cNvSpPr txBox="1"/>
          <p:nvPr/>
        </p:nvSpPr>
        <p:spPr>
          <a:xfrm>
            <a:off x="9961940" y="36752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82" name="Google Shape;482;p19"/>
          <p:cNvCxnSpPr>
            <a:stCxn id="473" idx="0"/>
            <a:endCxn id="481" idx="2"/>
          </p:cNvCxnSpPr>
          <p:nvPr/>
        </p:nvCxnSpPr>
        <p:spPr>
          <a:xfrm rot="10800000" flipH="1">
            <a:off x="9609515" y="4260150"/>
            <a:ext cx="557100" cy="1550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3" name="Google Shape;483;p19"/>
          <p:cNvSpPr txBox="1"/>
          <p:nvPr/>
        </p:nvSpPr>
        <p:spPr>
          <a:xfrm>
            <a:off x="9961940" y="28708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84" name="Google Shape;484;p19"/>
          <p:cNvCxnSpPr>
            <a:stCxn id="481" idx="0"/>
            <a:endCxn id="483" idx="2"/>
          </p:cNvCxnSpPr>
          <p:nvPr/>
        </p:nvCxnSpPr>
        <p:spPr>
          <a:xfrm rot="10800000">
            <a:off x="10166728" y="3455638"/>
            <a:ext cx="0" cy="2196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5" name="Google Shape;485;p19"/>
          <p:cNvCxnSpPr>
            <a:stCxn id="472" idx="0"/>
            <a:endCxn id="483" idx="2"/>
          </p:cNvCxnSpPr>
          <p:nvPr/>
        </p:nvCxnSpPr>
        <p:spPr>
          <a:xfrm rot="10800000" flipH="1">
            <a:off x="9101138" y="3455550"/>
            <a:ext cx="1065600" cy="23547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6" name="Google Shape;486;p19"/>
          <p:cNvSpPr txBox="1"/>
          <p:nvPr/>
        </p:nvSpPr>
        <p:spPr>
          <a:xfrm>
            <a:off x="10904308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87" name="Google Shape;487;p19"/>
          <p:cNvCxnSpPr>
            <a:endCxn id="486" idx="2"/>
          </p:cNvCxnSpPr>
          <p:nvPr/>
        </p:nvCxnSpPr>
        <p:spPr>
          <a:xfrm rot="10800000">
            <a:off x="11109096" y="5356800"/>
            <a:ext cx="300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8" name="Google Shape;488;p19"/>
          <p:cNvSpPr txBox="1"/>
          <p:nvPr/>
        </p:nvSpPr>
        <p:spPr>
          <a:xfrm>
            <a:off x="10904308" y="36752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489" name="Google Shape;489;p19"/>
          <p:cNvCxnSpPr>
            <a:stCxn id="486" idx="0"/>
            <a:endCxn id="488" idx="2"/>
          </p:cNvCxnSpPr>
          <p:nvPr/>
        </p:nvCxnSpPr>
        <p:spPr>
          <a:xfrm rot="10800000">
            <a:off x="11109096" y="4259925"/>
            <a:ext cx="0" cy="512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0" name="Google Shape;490;p19"/>
          <p:cNvCxnSpPr>
            <a:stCxn id="474" idx="0"/>
            <a:endCxn id="488" idx="2"/>
          </p:cNvCxnSpPr>
          <p:nvPr/>
        </p:nvCxnSpPr>
        <p:spPr>
          <a:xfrm rot="10800000" flipH="1">
            <a:off x="10699523" y="4260150"/>
            <a:ext cx="409500" cy="1550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1" name="Google Shape;491;p19"/>
          <p:cNvCxnSpPr/>
          <p:nvPr/>
        </p:nvCxnSpPr>
        <p:spPr>
          <a:xfrm rot="10800000">
            <a:off x="11547853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92" name="Google Shape;492;p19"/>
          <p:cNvCxnSpPr/>
          <p:nvPr/>
        </p:nvCxnSpPr>
        <p:spPr>
          <a:xfrm>
            <a:off x="11335277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US"/>
              <a:t>Simulation</a:t>
            </a:r>
            <a:endParaRPr/>
          </a:p>
        </p:txBody>
      </p:sp>
      <p:sp>
        <p:nvSpPr>
          <p:cNvPr id="498" name="Google Shape;498;p20"/>
          <p:cNvSpPr txBox="1"/>
          <p:nvPr/>
        </p:nvSpPr>
        <p:spPr>
          <a:xfrm>
            <a:off x="180370" y="1458891"/>
            <a:ext cx="2422314" cy="1557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Augmented Grammar: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0.S’ → S</a:t>
            </a:r>
            <a:endParaRPr sz="16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1.S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2.C → cC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lang="en-US" sz="1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3.C → d</a:t>
            </a:r>
            <a:endParaRPr sz="16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9" name="Google Shape;499;p20"/>
          <p:cNvGraphicFramePr/>
          <p:nvPr/>
        </p:nvGraphicFramePr>
        <p:xfrm>
          <a:off x="271781" y="2940558"/>
          <a:ext cx="3557250" cy="3673100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720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2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72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States</a:t>
                      </a:r>
                      <a:endParaRPr sz="1300"/>
                    </a:p>
                  </a:txBody>
                  <a:tcPr marL="69275" marR="69275" marT="34650" marB="34650"/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ACTION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GOTO</a:t>
                      </a:r>
                      <a:endParaRPr sz="1300"/>
                    </a:p>
                  </a:txBody>
                  <a:tcPr marL="69275" marR="69275" marT="34650" marB="3465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9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$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0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acc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2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3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s4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4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5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r1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s6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s7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7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r3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9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9</a:t>
                      </a:r>
                      <a:endParaRPr sz="1300"/>
                    </a:p>
                  </a:txBody>
                  <a:tcPr marL="69275" marR="69275" marT="34650" marB="3465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r2</a:t>
                      </a: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69275" marR="69275" marT="34650" marB="3465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00" name="Google Shape;500;p20"/>
          <p:cNvGraphicFramePr/>
          <p:nvPr/>
        </p:nvGraphicFramePr>
        <p:xfrm>
          <a:off x="3952876" y="1873758"/>
          <a:ext cx="4679400" cy="4720875"/>
        </p:xfrm>
        <a:graphic>
          <a:graphicData uri="http://schemas.openxmlformats.org/drawingml/2006/table">
            <a:tbl>
              <a:tblPr firstRow="1" bandRow="1">
                <a:noFill/>
                <a:tableStyleId>{8A97831C-530B-489B-B627-473858605357}</a:tableStyleId>
              </a:tblPr>
              <a:tblGrid>
                <a:gridCol w="39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3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20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Stack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/>
                        <a:t>Symbol</a:t>
                      </a:r>
                      <a:endParaRPr sz="105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Input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Action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3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4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3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0334</a:t>
                      </a:r>
                      <a:endParaRPr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4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038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cd$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6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d$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Shift 7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8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0267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Ccd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C-&gt;d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0269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C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10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025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CC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Reduce by S -&gt; CC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4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11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01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/>
                        <a:t>S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$</a:t>
                      </a:r>
                      <a:endParaRPr sz="1700"/>
                    </a:p>
                  </a:txBody>
                  <a:tcPr marL="83975" marR="83975" marT="41975" marB="419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700"/>
                        <a:buFont typeface="Lustria"/>
                        <a:buNone/>
                      </a:pPr>
                      <a:r>
                        <a:rPr lang="en-US" sz="1700"/>
                        <a:t>Accept</a:t>
                      </a:r>
                      <a:endParaRPr sz="1700"/>
                    </a:p>
                  </a:txBody>
                  <a:tcPr marL="83975" marR="83975" marT="41975" marB="4197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01" name="Google Shape;501;p20"/>
          <p:cNvSpPr txBox="1"/>
          <p:nvPr/>
        </p:nvSpPr>
        <p:spPr>
          <a:xfrm>
            <a:off x="889635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2" name="Google Shape;502;p20"/>
          <p:cNvSpPr txBox="1"/>
          <p:nvPr/>
        </p:nvSpPr>
        <p:spPr>
          <a:xfrm>
            <a:off x="9404727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3" name="Google Shape;503;p20"/>
          <p:cNvSpPr txBox="1"/>
          <p:nvPr/>
        </p:nvSpPr>
        <p:spPr>
          <a:xfrm>
            <a:off x="1049473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4" name="Google Shape;504;p20"/>
          <p:cNvSpPr txBox="1"/>
          <p:nvPr/>
        </p:nvSpPr>
        <p:spPr>
          <a:xfrm>
            <a:off x="1090431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5" name="Google Shape;505;p20"/>
          <p:cNvSpPr txBox="1"/>
          <p:nvPr/>
        </p:nvSpPr>
        <p:spPr>
          <a:xfrm>
            <a:off x="9961940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d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6" name="Google Shape;506;p20"/>
          <p:cNvSpPr txBox="1"/>
          <p:nvPr/>
        </p:nvSpPr>
        <p:spPr>
          <a:xfrm>
            <a:off x="11313885" y="5810250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$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07" name="Google Shape;507;p20"/>
          <p:cNvSpPr txBox="1"/>
          <p:nvPr/>
        </p:nvSpPr>
        <p:spPr>
          <a:xfrm>
            <a:off x="9961940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508" name="Google Shape;508;p20"/>
          <p:cNvCxnSpPr>
            <a:stCxn id="505" idx="0"/>
            <a:endCxn id="507" idx="2"/>
          </p:cNvCxnSpPr>
          <p:nvPr/>
        </p:nvCxnSpPr>
        <p:spPr>
          <a:xfrm rot="10800000">
            <a:off x="10166728" y="5356950"/>
            <a:ext cx="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9" name="Google Shape;509;p20"/>
          <p:cNvCxnSpPr>
            <a:stCxn id="507" idx="0"/>
            <a:endCxn id="510" idx="2"/>
          </p:cNvCxnSpPr>
          <p:nvPr/>
        </p:nvCxnSpPr>
        <p:spPr>
          <a:xfrm rot="10800000">
            <a:off x="10166728" y="4259925"/>
            <a:ext cx="0" cy="512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0" name="Google Shape;510;p20"/>
          <p:cNvSpPr txBox="1"/>
          <p:nvPr/>
        </p:nvSpPr>
        <p:spPr>
          <a:xfrm>
            <a:off x="9961940" y="36752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511" name="Google Shape;511;p20"/>
          <p:cNvCxnSpPr>
            <a:stCxn id="502" idx="0"/>
            <a:endCxn id="510" idx="2"/>
          </p:cNvCxnSpPr>
          <p:nvPr/>
        </p:nvCxnSpPr>
        <p:spPr>
          <a:xfrm rot="10800000" flipH="1">
            <a:off x="9609515" y="4260150"/>
            <a:ext cx="557100" cy="1550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2" name="Google Shape;512;p20"/>
          <p:cNvSpPr txBox="1"/>
          <p:nvPr/>
        </p:nvSpPr>
        <p:spPr>
          <a:xfrm>
            <a:off x="9961940" y="28708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513" name="Google Shape;513;p20"/>
          <p:cNvCxnSpPr>
            <a:stCxn id="510" idx="0"/>
            <a:endCxn id="512" idx="2"/>
          </p:cNvCxnSpPr>
          <p:nvPr/>
        </p:nvCxnSpPr>
        <p:spPr>
          <a:xfrm rot="10800000">
            <a:off x="10166728" y="3455638"/>
            <a:ext cx="0" cy="2196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4" name="Google Shape;514;p20"/>
          <p:cNvCxnSpPr>
            <a:stCxn id="501" idx="0"/>
            <a:endCxn id="512" idx="2"/>
          </p:cNvCxnSpPr>
          <p:nvPr/>
        </p:nvCxnSpPr>
        <p:spPr>
          <a:xfrm rot="10800000" flipH="1">
            <a:off x="9101138" y="3455550"/>
            <a:ext cx="1065600" cy="23547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5" name="Google Shape;515;p20"/>
          <p:cNvSpPr txBox="1"/>
          <p:nvPr/>
        </p:nvSpPr>
        <p:spPr>
          <a:xfrm>
            <a:off x="10904308" y="4772025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516" name="Google Shape;516;p20"/>
          <p:cNvCxnSpPr>
            <a:endCxn id="515" idx="2"/>
          </p:cNvCxnSpPr>
          <p:nvPr/>
        </p:nvCxnSpPr>
        <p:spPr>
          <a:xfrm rot="10800000">
            <a:off x="11109096" y="5356800"/>
            <a:ext cx="3000" cy="45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17" name="Google Shape;517;p20"/>
          <p:cNvSpPr txBox="1"/>
          <p:nvPr/>
        </p:nvSpPr>
        <p:spPr>
          <a:xfrm>
            <a:off x="10904308" y="3675238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518" name="Google Shape;518;p20"/>
          <p:cNvCxnSpPr>
            <a:stCxn id="515" idx="0"/>
            <a:endCxn id="517" idx="2"/>
          </p:cNvCxnSpPr>
          <p:nvPr/>
        </p:nvCxnSpPr>
        <p:spPr>
          <a:xfrm rot="10800000">
            <a:off x="11109096" y="4259925"/>
            <a:ext cx="0" cy="512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19" name="Google Shape;519;p20"/>
          <p:cNvCxnSpPr>
            <a:stCxn id="503" idx="0"/>
            <a:endCxn id="517" idx="2"/>
          </p:cNvCxnSpPr>
          <p:nvPr/>
        </p:nvCxnSpPr>
        <p:spPr>
          <a:xfrm rot="10800000" flipH="1">
            <a:off x="10699523" y="4260150"/>
            <a:ext cx="409500" cy="15501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0" name="Google Shape;520;p20"/>
          <p:cNvSpPr txBox="1"/>
          <p:nvPr/>
        </p:nvSpPr>
        <p:spPr>
          <a:xfrm>
            <a:off x="10494735" y="1977212"/>
            <a:ext cx="4095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S</a:t>
            </a:r>
            <a:endParaRPr sz="32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cxnSp>
        <p:nvCxnSpPr>
          <p:cNvPr id="521" name="Google Shape;521;p20"/>
          <p:cNvCxnSpPr>
            <a:stCxn id="512" idx="0"/>
            <a:endCxn id="520" idx="2"/>
          </p:cNvCxnSpPr>
          <p:nvPr/>
        </p:nvCxnSpPr>
        <p:spPr>
          <a:xfrm rot="10800000" flipH="1">
            <a:off x="10166728" y="2561838"/>
            <a:ext cx="532800" cy="3090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2" name="Google Shape;522;p20"/>
          <p:cNvCxnSpPr>
            <a:stCxn id="517" idx="0"/>
            <a:endCxn id="520" idx="2"/>
          </p:cNvCxnSpPr>
          <p:nvPr/>
        </p:nvCxnSpPr>
        <p:spPr>
          <a:xfrm rot="10800000">
            <a:off x="10699596" y="2561938"/>
            <a:ext cx="409500" cy="1113300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3" name="Google Shape;523;p20"/>
          <p:cNvCxnSpPr/>
          <p:nvPr/>
        </p:nvCxnSpPr>
        <p:spPr>
          <a:xfrm rot="10800000">
            <a:off x="11547853" y="6395025"/>
            <a:ext cx="0" cy="291525"/>
          </a:xfrm>
          <a:prstGeom prst="straightConnector1">
            <a:avLst/>
          </a:prstGeom>
          <a:noFill/>
          <a:ln w="9525" cap="rnd" cmpd="sng">
            <a:solidFill>
              <a:srgbClr val="B3411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24" name="Google Shape;524;p20"/>
          <p:cNvCxnSpPr/>
          <p:nvPr/>
        </p:nvCxnSpPr>
        <p:spPr>
          <a:xfrm>
            <a:off x="11335277" y="5886450"/>
            <a:ext cx="0" cy="508575"/>
          </a:xfrm>
          <a:prstGeom prst="straightConnector1">
            <a:avLst/>
          </a:prstGeom>
          <a:noFill/>
          <a:ln w="28575" cap="flat" cmpd="sng">
            <a:solidFill>
              <a:srgbClr val="B3411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3228</Words>
  <Application>Microsoft Office PowerPoint</Application>
  <PresentationFormat>Widescreen</PresentationFormat>
  <Paragraphs>1583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Tahoma</vt:lpstr>
      <vt:lpstr>Calibri</vt:lpstr>
      <vt:lpstr>Lustria</vt:lpstr>
      <vt:lpstr>Noto Sans Symbols</vt:lpstr>
      <vt:lpstr>Slate</vt:lpstr>
      <vt:lpstr>CSE420</vt:lpstr>
      <vt:lpstr>Lecture Topic: LR(1) Parsing</vt:lpstr>
      <vt:lpstr>Canonical LR(1) or LR(1) Parser</vt:lpstr>
      <vt:lpstr>LR(1) Sets of Items</vt:lpstr>
      <vt:lpstr>Closure</vt:lpstr>
      <vt:lpstr>LR(1) GOTO Function</vt:lpstr>
      <vt:lpstr>GOTO graph of LR(1) Items</vt:lpstr>
      <vt:lpstr>Canonical LR(1) Parsing Table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Sifat Hasan Rimon</cp:lastModifiedBy>
  <cp:revision>1</cp:revision>
  <dcterms:created xsi:type="dcterms:W3CDTF">2020-05-27T10:39:09Z</dcterms:created>
  <dcterms:modified xsi:type="dcterms:W3CDTF">2025-01-15T17:02:00Z</dcterms:modified>
</cp:coreProperties>
</file>