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JCLf0xkRgmGfnpdBNiqnioZcx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AF6D5-23AE-4795-B10A-1275F684EF8A}">
  <a:tblStyle styleId="{F4AAF6D5-23AE-4795-B10A-1275F684EF8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-regular.fnt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Roboto-italic.fntdata"/><Relationship Id="rId23" Type="http://schemas.openxmlformats.org/officeDocument/2006/relationships/slide" Target="slides/slide17.xml"/><Relationship Id="rId45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4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5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5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7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7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Relationship Id="rId5" Type="http://schemas.openxmlformats.org/officeDocument/2006/relationships/image" Target="../media/image21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Relationship Id="rId4" Type="http://schemas.openxmlformats.org/officeDocument/2006/relationships/image" Target="../media/image40.gif"/><Relationship Id="rId5" Type="http://schemas.openxmlformats.org/officeDocument/2006/relationships/image" Target="../media/image3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Relationship Id="rId4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Lecture 2: HVS, Image Sensing and Digitization</a:t>
            </a:r>
            <a:endParaRPr sz="3000"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 txBox="1"/>
          <p:nvPr>
            <p:ph type="ctrTitle"/>
          </p:nvPr>
        </p:nvSpPr>
        <p:spPr>
          <a:xfrm>
            <a:off x="390525" y="12466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CSE428: Image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75" name="Google Shape;75;p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Visual System (HVS)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Sensing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Sampling and Quantization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700"/>
              <a:buChar char="●"/>
            </a:pPr>
            <a:r>
              <a:rPr lang="en"/>
              <a:t>Digital Image Representation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 sz="2000"/>
              <a:t> </a:t>
            </a:r>
            <a:endParaRPr/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34500"/>
            <a:ext cx="4033850" cy="30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471900" y="4774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Miquel Perello Nieto - Own work, CC BY-SA 4.0, https://commons.wikimedia.org/w/index.php?curid=37868501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572000" y="2263950"/>
            <a:ext cx="4122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Visual perception - key role in image processing 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Eye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b="0" i="0" lang="en" sz="18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sensor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of the HVS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Brain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image </a:t>
            </a:r>
            <a:r>
              <a:rPr b="0" i="0" lang="en" sz="18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processing</a:t>
            </a:r>
            <a:endParaRPr b="0" i="0" sz="18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■"/>
            </a:pPr>
            <a:r>
              <a:rPr b="0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Integrates intelligence and experience with input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Image formation in human eye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1141900" y="3890550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900" y="1954100"/>
            <a:ext cx="6882099" cy="19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>
            <a:off x="2072850" y="4448175"/>
            <a:ext cx="49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h/17 mm = 15 m / 100 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Structure of the eye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471900" y="4774200"/>
            <a:ext cx="379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Rhcastilhos. And Jmarchn. - Schematic_diagram_of_the_human_eye_with_English_annotations.svg, CC BY-SA 3.0, https://commons.wikimedia.org/w/index.php?curid=1597930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766650"/>
            <a:ext cx="3000000" cy="305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Structure of the eye</a:t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471900" y="4774200"/>
            <a:ext cx="379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Rhcastilhos. And Jmarchn. - Schematic_diagram_of_the_human_eye_with_English_annotations.svg, CC BY-SA 3.0, https://commons.wikimedia.org/w/index.php?curid=1597930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766650"/>
            <a:ext cx="3000000" cy="305047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2136125" y="1936275"/>
            <a:ext cx="376500" cy="2343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745900" y="2146775"/>
            <a:ext cx="376500" cy="152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783650" y="2495400"/>
            <a:ext cx="376500" cy="152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869525" y="2299475"/>
            <a:ext cx="376500" cy="195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745900" y="4324200"/>
            <a:ext cx="376500" cy="1527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845900" y="4014625"/>
            <a:ext cx="376500" cy="152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4572000" y="1890625"/>
            <a:ext cx="4122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Iris &amp; Pupil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Controls the amount of light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Ciliary Body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adjusts the focal length of optical </a:t>
            </a: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lens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Retina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Receptors (sensors) of 2 types, cones and rods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Fovea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focusing region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Cones and Rods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471900" y="4774200"/>
            <a:ext cx="30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Cmglee - Own work, CC BY-SA 3.0, https://commons.wikimedia.org/w/index.php?curid=29924570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3838575" y="1811225"/>
            <a:ext cx="4855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Cones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Low in number. Concentrated on a central position called fovea. </a:t>
            </a:r>
            <a:r>
              <a:rPr b="0" i="0" lang="en" sz="18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Highly sensitive to color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Fine details response since each cone connected with a nerve.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Rods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High in number. Distributed over the optic globe. </a:t>
            </a:r>
            <a:r>
              <a:rPr b="0" i="0" lang="en" sz="18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Sensitive to low light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vision with </a:t>
            </a:r>
            <a:r>
              <a:rPr b="0" i="0" lang="en" sz="18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color information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Low resolution response since several rods connected with a nerve.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11225"/>
            <a:ext cx="2962975" cy="29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Brightness Adaptation</a:t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471900" y="4774200"/>
            <a:ext cx="24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3838575" y="1811225"/>
            <a:ext cx="4855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Camera </a:t>
            </a:r>
            <a:r>
              <a:rPr b="0" i="1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captures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intensity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objective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</a:t>
            </a:r>
            <a:r>
              <a:rPr b="0" i="1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perceive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brightness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subjective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Subjective brightness is a logarithmic function of light intensity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Adaptation range for photopic vision is quite high, but overall adaptation due to scotopic vision is quite low.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Thus, for a given set of brightness (say Ba) condition, the range of discriminative intensity level of HVS is rather small (shown as curve of Ba-Bb).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62575"/>
            <a:ext cx="2432053" cy="29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Brightness Discrimination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3838500" y="1887425"/>
            <a:ext cx="4855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background intensity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change in intensity required for “just noticeable difference”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Weber ratio = 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I/I</a:t>
            </a: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smaller Weber ratio → only a small intensity change is distinguishable (good brightness discrimination)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31125" y="2293925"/>
            <a:ext cx="2819400" cy="1619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502675" y="2665325"/>
            <a:ext cx="876300" cy="876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531125" y="3420425"/>
            <a:ext cx="24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1502675" y="2857175"/>
            <a:ext cx="87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+ ΔI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Brightness Discrimination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3838500" y="2074613"/>
            <a:ext cx="4855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Weber ratio as a function of intensity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power of brightness discrimination increases with the background intensity level</a:t>
            </a:r>
            <a:b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Need “contrast stretching” for poorly illuminated images (Week 2)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250" y="2020475"/>
            <a:ext cx="3082750" cy="245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 txBox="1"/>
          <p:nvPr/>
        </p:nvSpPr>
        <p:spPr>
          <a:xfrm>
            <a:off x="639250" y="4534925"/>
            <a:ext cx="308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Brightness Discrimination</a:t>
            </a:r>
            <a:endParaRPr/>
          </a:p>
        </p:txBody>
      </p:sp>
      <p:pic>
        <p:nvPicPr>
          <p:cNvPr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87425"/>
            <a:ext cx="2857500" cy="285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6500" y="1935050"/>
            <a:ext cx="2857500" cy="285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54" name="Google Shape;154;p11"/>
          <p:cNvGraphicFramePr/>
          <p:nvPr/>
        </p:nvGraphicFramePr>
        <p:xfrm>
          <a:off x="471900" y="188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{F4AAF6D5-23AE-4795-B10A-1275F684EF8A}</a:tableStyleId>
              </a:tblPr>
              <a:tblGrid>
                <a:gridCol w="952500"/>
                <a:gridCol w="952500"/>
                <a:gridCol w="952500"/>
              </a:tblGrid>
              <a:tr h="95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95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95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155" name="Google Shape;155;p11"/>
          <p:cNvGraphicFramePr/>
          <p:nvPr/>
        </p:nvGraphicFramePr>
        <p:xfrm>
          <a:off x="5836500" y="193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{F4AAF6D5-23AE-4795-B10A-1275F684EF8A}</a:tableStyleId>
              </a:tblPr>
              <a:tblGrid>
                <a:gridCol w="952500"/>
                <a:gridCol w="952500"/>
                <a:gridCol w="952500"/>
              </a:tblGrid>
              <a:tr h="91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96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245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96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56" name="Google Shape;156;p11"/>
          <p:cNvSpPr txBox="1"/>
          <p:nvPr/>
        </p:nvSpPr>
        <p:spPr>
          <a:xfrm>
            <a:off x="4006200" y="2800025"/>
            <a:ext cx="115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ΔI = 10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471900" y="4668725"/>
            <a:ext cx="1153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5836500" y="4668725"/>
            <a:ext cx="1153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255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Brightness Discrimination</a:t>
            </a:r>
            <a:endParaRPr/>
          </a:p>
        </p:txBody>
      </p:sp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87425"/>
            <a:ext cx="2857500" cy="285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6500" y="1935050"/>
            <a:ext cx="2857500" cy="285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Brightness Discrimination (Mach bands)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87425"/>
            <a:ext cx="3154050" cy="25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1238" y="1886300"/>
            <a:ext cx="2287950" cy="2551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476" y="1887425"/>
            <a:ext cx="2549524" cy="25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 txBox="1"/>
          <p:nvPr/>
        </p:nvSpPr>
        <p:spPr>
          <a:xfrm>
            <a:off x="3741250" y="4438075"/>
            <a:ext cx="22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471900" y="4438075"/>
            <a:ext cx="31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The original uploader was Aliwiki at French Wikipedia. - Transferred from fr.wikipedia to Commons by Korrigan using CommonsHelper., FAL, https://commons.wikimedia.org/w/index.php?curid=4770182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Optical Illusion Due to Perceived Brightness</a:t>
            </a:r>
            <a:endParaRPr/>
          </a:p>
        </p:txBody>
      </p:sp>
      <p:grpSp>
        <p:nvGrpSpPr>
          <p:cNvPr id="181" name="Google Shape;181;p14"/>
          <p:cNvGrpSpPr/>
          <p:nvPr/>
        </p:nvGrpSpPr>
        <p:grpSpPr>
          <a:xfrm>
            <a:off x="1543550" y="2077550"/>
            <a:ext cx="1962300" cy="1962300"/>
            <a:chOff x="857750" y="2077550"/>
            <a:chExt cx="1962300" cy="1962300"/>
          </a:xfrm>
        </p:grpSpPr>
        <p:sp>
          <p:nvSpPr>
            <p:cNvPr id="182" name="Google Shape;182;p14"/>
            <p:cNvSpPr/>
            <p:nvPr/>
          </p:nvSpPr>
          <p:spPr>
            <a:xfrm>
              <a:off x="857750" y="2077550"/>
              <a:ext cx="1962300" cy="19623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1455050" y="2674850"/>
              <a:ext cx="767700" cy="76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3601800" y="2077550"/>
            <a:ext cx="1962300" cy="1962300"/>
            <a:chOff x="3207000" y="2077550"/>
            <a:chExt cx="1962300" cy="1962300"/>
          </a:xfrm>
        </p:grpSpPr>
        <p:sp>
          <p:nvSpPr>
            <p:cNvPr id="185" name="Google Shape;185;p14"/>
            <p:cNvSpPr/>
            <p:nvPr/>
          </p:nvSpPr>
          <p:spPr>
            <a:xfrm>
              <a:off x="3207000" y="2077550"/>
              <a:ext cx="1962300" cy="1962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3804300" y="2674850"/>
              <a:ext cx="767700" cy="76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4"/>
          <p:cNvGrpSpPr/>
          <p:nvPr/>
        </p:nvGrpSpPr>
        <p:grpSpPr>
          <a:xfrm>
            <a:off x="5660050" y="2077550"/>
            <a:ext cx="1962300" cy="1962300"/>
            <a:chOff x="5683500" y="2077550"/>
            <a:chExt cx="1962300" cy="1962300"/>
          </a:xfrm>
        </p:grpSpPr>
        <p:sp>
          <p:nvSpPr>
            <p:cNvPr id="188" name="Google Shape;188;p14"/>
            <p:cNvSpPr/>
            <p:nvPr/>
          </p:nvSpPr>
          <p:spPr>
            <a:xfrm>
              <a:off x="5683500" y="2077550"/>
              <a:ext cx="1962300" cy="19623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6280800" y="2674850"/>
              <a:ext cx="767700" cy="76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14"/>
          <p:cNvSpPr txBox="1"/>
          <p:nvPr/>
        </p:nvSpPr>
        <p:spPr>
          <a:xfrm>
            <a:off x="1657200" y="4402525"/>
            <a:ext cx="58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Identify the middle-box with the highest intensity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Optical Illusion Due to Perceived Brightness</a:t>
            </a:r>
            <a:endParaRPr/>
          </a:p>
        </p:txBody>
      </p:sp>
      <p:grpSp>
        <p:nvGrpSpPr>
          <p:cNvPr id="196" name="Google Shape;196;p15"/>
          <p:cNvGrpSpPr/>
          <p:nvPr/>
        </p:nvGrpSpPr>
        <p:grpSpPr>
          <a:xfrm>
            <a:off x="1543550" y="2077550"/>
            <a:ext cx="1962300" cy="1962300"/>
            <a:chOff x="857750" y="2077550"/>
            <a:chExt cx="1962300" cy="1962300"/>
          </a:xfrm>
        </p:grpSpPr>
        <p:sp>
          <p:nvSpPr>
            <p:cNvPr id="197" name="Google Shape;197;p15"/>
            <p:cNvSpPr/>
            <p:nvPr/>
          </p:nvSpPr>
          <p:spPr>
            <a:xfrm>
              <a:off x="857750" y="2077550"/>
              <a:ext cx="1962300" cy="19623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455050" y="2674850"/>
              <a:ext cx="767700" cy="76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5"/>
          <p:cNvGrpSpPr/>
          <p:nvPr/>
        </p:nvGrpSpPr>
        <p:grpSpPr>
          <a:xfrm>
            <a:off x="3601800" y="2077550"/>
            <a:ext cx="1962300" cy="1962300"/>
            <a:chOff x="3207000" y="2077550"/>
            <a:chExt cx="1962300" cy="1962300"/>
          </a:xfrm>
        </p:grpSpPr>
        <p:sp>
          <p:nvSpPr>
            <p:cNvPr id="200" name="Google Shape;200;p15"/>
            <p:cNvSpPr/>
            <p:nvPr/>
          </p:nvSpPr>
          <p:spPr>
            <a:xfrm>
              <a:off x="3207000" y="2077550"/>
              <a:ext cx="1962300" cy="1962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3804300" y="2674850"/>
              <a:ext cx="767700" cy="76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15"/>
          <p:cNvGrpSpPr/>
          <p:nvPr/>
        </p:nvGrpSpPr>
        <p:grpSpPr>
          <a:xfrm>
            <a:off x="5660050" y="2077550"/>
            <a:ext cx="1962300" cy="1962300"/>
            <a:chOff x="5683500" y="2077550"/>
            <a:chExt cx="1962300" cy="1962300"/>
          </a:xfrm>
        </p:grpSpPr>
        <p:sp>
          <p:nvSpPr>
            <p:cNvPr id="203" name="Google Shape;203;p15"/>
            <p:cNvSpPr/>
            <p:nvPr/>
          </p:nvSpPr>
          <p:spPr>
            <a:xfrm>
              <a:off x="5683500" y="2077550"/>
              <a:ext cx="1962300" cy="19623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6280800" y="2674850"/>
              <a:ext cx="767700" cy="767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15"/>
          <p:cNvSpPr/>
          <p:nvPr/>
        </p:nvSpPr>
        <p:spPr>
          <a:xfrm>
            <a:off x="1930350" y="2427450"/>
            <a:ext cx="5283300" cy="28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2155200" y="4492538"/>
            <a:ext cx="48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They have the same intensity!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Optical Illusion Due to Experience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5060325" y="2896700"/>
            <a:ext cx="333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Which one has more intensity, A or B? 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771475"/>
            <a:ext cx="3930524" cy="298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/>
        </p:nvSpPr>
        <p:spPr>
          <a:xfrm>
            <a:off x="471900" y="4808450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Original: Edward H. Adelson, vectorized by Pbroks13. - Own work, CC BY-SA 4.0, https://commons.wikimedia.org/w/index.php?curid=75000950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Human Visual System (HVS)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Optical Illusion Due to Experience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5060325" y="2896700"/>
            <a:ext cx="333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They have the exact same intensity!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1" name="Google Shape;2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771475"/>
            <a:ext cx="3930524" cy="298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7"/>
          <p:cNvSpPr txBox="1"/>
          <p:nvPr/>
        </p:nvSpPr>
        <p:spPr>
          <a:xfrm>
            <a:off x="471900" y="4808450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Original: Edward H. Adelson, vectorized by Pbroks13. - Own work, CC BY-SA 4.0, https://commons.wikimedia.org/w/index.php?curid=75000950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2175" y="2795025"/>
            <a:ext cx="299550" cy="5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471900" y="468937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05070"/>
            <a:ext cx="5149976" cy="28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5711200" y="1805075"/>
            <a:ext cx="30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pipeline of digital image acquisition using a camera with CCD sensor array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5711200" y="3027125"/>
            <a:ext cx="3072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Image Formation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Sensing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Digitization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Representation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/>
          <p:nvPr/>
        </p:nvSpPr>
        <p:spPr>
          <a:xfrm>
            <a:off x="471900" y="468937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Sensor size and Pixel size</a:t>
            </a:r>
            <a:endParaRPr/>
          </a:p>
        </p:txBody>
      </p:sp>
      <p:pic>
        <p:nvPicPr>
          <p:cNvPr id="239" name="Google Shape;2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278750"/>
            <a:ext cx="38100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4572000" y="1953725"/>
            <a:ext cx="4379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1" i="1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Sensor size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the size of the sensor inside a camera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1" i="1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Pixel size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the size of the individual image sensor that compose image sensor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Sensor size＝ 7.04mm x 5.28mm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Effective Pixel amount : 1600 x 1200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Pixel size = 4.4μm x 4.4μm (verify)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Pixel count = 1600 x 1200 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1,920,000 = 1.92 x 10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1.92 M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(also called 1.9 Megapixels)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Single Sensing Element (Sensor)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471900" y="3821425"/>
            <a:ext cx="34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141575" y="2035825"/>
            <a:ext cx="45525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typical CCD camera has 4000×4000 sensors in array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Electrical response to each sensor </a:t>
            </a:r>
            <a:r>
              <a:rPr b="0" i="0" lang="en" sz="2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∝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Integral of light intensity on surface over time, and thus reducing noise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Electrical signal is stored in digitized form as a digital image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17900"/>
            <a:ext cx="3487950" cy="15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Types of Image Sensors</a:t>
            </a:r>
            <a:endParaRPr/>
          </a:p>
        </p:txBody>
      </p:sp>
      <p:pic>
        <p:nvPicPr>
          <p:cNvPr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663" y="1997825"/>
            <a:ext cx="463867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 Pipeline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471900" y="468937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711200" y="1805075"/>
            <a:ext cx="30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pipeline of digital image acquisition using a camera with CCD sensor array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711200" y="3027125"/>
            <a:ext cx="3072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Image Formation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Sensing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Digitization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Representation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025" y="1922375"/>
            <a:ext cx="3917049" cy="23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Sensor Array 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71900" y="452432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4500950" y="4712400"/>
            <a:ext cx="44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Exposure method - Rolling shutter vs global shutter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93" y="1910450"/>
            <a:ext cx="3315300" cy="3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254438"/>
            <a:ext cx="2240150" cy="22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3400" y="1910450"/>
            <a:ext cx="3980601" cy="23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471900" y="4712400"/>
            <a:ext cx="33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Line and grid Array of sensors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4713400" y="4053950"/>
            <a:ext cx="410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Copyright © Baumer 2021, Animation-Global-vs-Rolling-Shutter-200317-EN-IT.gif, Baumer Passion for Sensors, https://www.baumer.com/us/en/service-support/function-principle/function-principle-and-applications-of-rolling-shutter-cmos-cameras/a/CMOS-rolling-shutter-cameras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Rolling Shutter Effect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367675" y="4688175"/>
            <a:ext cx="30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Ragsdale, S. 2009. “Airplane Prop + CMOS Rolling Shutter = WTF”. Online Image. &lt;https://www.flickr.com/photos/sorenragsdale/3192314056/in/photostream/&gt;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516825" y="2430675"/>
            <a:ext cx="4793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Number of blades? (Assuming the scan direction is from left to right)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Direction of rotation?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Speed of rotation? (RPM)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23350"/>
            <a:ext cx="2157713" cy="28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/>
        </p:nvSpPr>
        <p:spPr>
          <a:xfrm>
            <a:off x="367675" y="468817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Ragsdale, S. 2009. “Airplane Prop + CMOS Rolling Shutter = WTF”. Online Image. &lt;https://www.flickr.com/photos/sorenragsdale/3192314056/in/photostream/&gt;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23350"/>
            <a:ext cx="2157713" cy="28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5125" y="2092700"/>
            <a:ext cx="2328872" cy="23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1872" y="2092700"/>
            <a:ext cx="2338251" cy="233825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3525125" y="4430950"/>
            <a:ext cx="50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Cole, J. 2014. “Rolling Shutters”. Online Image. &lt;https://jasmcole.com/2014/10/12/rolling-shutters/&gt;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Image Sensing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Rolling Shutter Effect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Image Formation Model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471900" y="1912250"/>
            <a:ext cx="82221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captured intensity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 ≤ f(x, y) &lt; ∞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f(x, y) = i(x, y) r(x, y)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Illumination,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 ≤ i(x, y) &lt; ∞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Reflectance,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 ≤ r(x, y) ≤ 1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≤ f(x, y) ≤ 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; where: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○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Maximum detectable light energy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○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Minimum detectable light energy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quantity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20*log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/ 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called the </a:t>
            </a:r>
            <a:r>
              <a:rPr b="1" i="1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dynamic range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interval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L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called gray scale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Typical indoor values: L</a:t>
            </a:r>
            <a: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≈10, L</a:t>
            </a:r>
            <a: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≈1000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Image Formation Model</a:t>
            </a:r>
            <a:endParaRPr/>
          </a:p>
        </p:txBody>
      </p:sp>
      <p:pic>
        <p:nvPicPr>
          <p:cNvPr id="306" name="Google Shape;3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00" y="1867238"/>
            <a:ext cx="2743200" cy="2053436"/>
          </a:xfrm>
          <a:prstGeom prst="rect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7" name="Google Shape;3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359" y="1865238"/>
            <a:ext cx="2743200" cy="2057400"/>
          </a:xfrm>
          <a:prstGeom prst="rect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8" name="Google Shape;30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7009" y="1865238"/>
            <a:ext cx="2743200" cy="2057400"/>
          </a:xfrm>
          <a:prstGeom prst="rect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9" name="Google Shape;309;p27"/>
          <p:cNvSpPr txBox="1"/>
          <p:nvPr/>
        </p:nvSpPr>
        <p:spPr>
          <a:xfrm>
            <a:off x="1313850" y="4500475"/>
            <a:ext cx="3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Low Dynamic Range</a:t>
            </a:r>
            <a:endParaRPr b="0" i="0" sz="14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395700" y="3995025"/>
            <a:ext cx="274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Clipped at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min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3211350" y="3995025"/>
            <a:ext cx="274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Clipped at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(saturated)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" name="Google Shape;312;p27"/>
          <p:cNvCxnSpPr/>
          <p:nvPr/>
        </p:nvCxnSpPr>
        <p:spPr>
          <a:xfrm>
            <a:off x="366625" y="4508425"/>
            <a:ext cx="55878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13" name="Google Shape;313;p27"/>
          <p:cNvSpPr txBox="1"/>
          <p:nvPr/>
        </p:nvSpPr>
        <p:spPr>
          <a:xfrm>
            <a:off x="6027000" y="4010475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 Dynamic Range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Digitization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471900" y="4774200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99" y="1812249"/>
            <a:ext cx="5079049" cy="298532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5990650" y="2843213"/>
            <a:ext cx="23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Two steps required: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Quantization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Digitization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471900" y="4774200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99" y="1812249"/>
            <a:ext cx="5079049" cy="298532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5990650" y="2843213"/>
            <a:ext cx="23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Two steps required: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Sampling</a:t>
            </a:r>
            <a:endParaRPr b="0" i="0" sz="1600" u="none" cap="none" strike="noStrik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Quantization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1366975" y="3300350"/>
            <a:ext cx="389400" cy="406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3843475" y="3300350"/>
            <a:ext cx="389400" cy="406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Sampling and Aliasing in 1D</a:t>
            </a:r>
            <a:endParaRPr/>
          </a:p>
        </p:txBody>
      </p:sp>
      <p:pic>
        <p:nvPicPr>
          <p:cNvPr id="337" name="Google Shape;3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125" y="2037250"/>
            <a:ext cx="3788950" cy="175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0"/>
          <p:cNvSpPr txBox="1"/>
          <p:nvPr/>
        </p:nvSpPr>
        <p:spPr>
          <a:xfrm>
            <a:off x="4509150" y="1837725"/>
            <a:ext cx="434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Aliasing of a one-dimensional signal: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blue sine wave at f = 3/4 and the red sine wave at f = 5/4 have the same digital samples, when sampled at f = 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These two signals are said to be “aliased”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are now no longer able to reconstruct the original signal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408000" y="4053225"/>
            <a:ext cx="8349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Shannon’s Sampling Theorem: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minimum sampling rate required to reconstruct a signal from its instantaneous samples must be at least twice the highest frequency: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≥ 2*f</a:t>
            </a:r>
            <a:r>
              <a:rPr b="1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Sampling and Aliasing in 2D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471900" y="3431625"/>
            <a:ext cx="540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Aliasing of a two-dimensional signal: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(a) original full-resolution image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(b) downsampled 4 × with a 25% fill factor box filter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(c) downsampled 4 × with a 100% fill factor box filter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(d) downsampled 4 × with a high-quality 9-tap filter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6" name="Google Shape;3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000" y="1813833"/>
            <a:ext cx="5409584" cy="15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5881500" y="1813825"/>
            <a:ext cx="2988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Notice how the higher frequencies are aliased into visible frequencies with the lower quality filters, while the 9-tap filter completely removes these higher frequencies. (Anti-aliasing filter)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Digitization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2712925" y="4881725"/>
            <a:ext cx="41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913" y="1738825"/>
            <a:ext cx="3718180" cy="32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1184475" y="2371650"/>
            <a:ext cx="14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 Image ➡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952275" y="4039125"/>
            <a:ext cx="18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3) Sampling ➡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2"/>
          <p:cNvSpPr txBox="1"/>
          <p:nvPr/>
        </p:nvSpPr>
        <p:spPr>
          <a:xfrm>
            <a:off x="6507850" y="2524050"/>
            <a:ext cx="18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➡ 2) Scan line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6507850" y="4039125"/>
            <a:ext cx="20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➡ 4) Quantization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Effect of Sampling</a:t>
            </a:r>
            <a:endParaRPr/>
          </a:p>
        </p:txBody>
      </p:sp>
      <p:pic>
        <p:nvPicPr>
          <p:cNvPr id="364" name="Google Shape;364;p33"/>
          <p:cNvPicPr preferRelativeResize="0"/>
          <p:nvPr/>
        </p:nvPicPr>
        <p:blipFill rotWithShape="1">
          <a:blip r:embed="rId3">
            <a:alphaModFix/>
          </a:blip>
          <a:srcRect b="0" l="17143" r="0" t="0"/>
          <a:stretch/>
        </p:blipFill>
        <p:spPr>
          <a:xfrm>
            <a:off x="422075" y="2186100"/>
            <a:ext cx="8299875" cy="18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Effect of Quantization</a:t>
            </a:r>
            <a:endParaRPr/>
          </a:p>
        </p:txBody>
      </p:sp>
      <p:pic>
        <p:nvPicPr>
          <p:cNvPr id="370" name="Google Shape;3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679038"/>
            <a:ext cx="228783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725" y="1679038"/>
            <a:ext cx="228783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99" y="3324950"/>
            <a:ext cx="228783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9724" y="3324950"/>
            <a:ext cx="2287830" cy="16459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Google Shape;374;p34"/>
          <p:cNvGraphicFramePr/>
          <p:nvPr/>
        </p:nvGraphicFramePr>
        <p:xfrm>
          <a:off x="5474000" y="284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{F4AAF6D5-23AE-4795-B10A-1275F684EF8A}</a:tableStyleId>
              </a:tblPr>
              <a:tblGrid>
                <a:gridCol w="1511425"/>
                <a:gridCol w="1511425"/>
              </a:tblGrid>
              <a:tr h="48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256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128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8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64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32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63" y="1679038"/>
            <a:ext cx="2304288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Effect of Quantization</a:t>
            </a:r>
            <a:endParaRPr/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950" y="1679038"/>
            <a:ext cx="228783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674" y="3324950"/>
            <a:ext cx="2304288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9721" y="3324950"/>
            <a:ext cx="2304288" cy="16459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35"/>
          <p:cNvGraphicFramePr/>
          <p:nvPr/>
        </p:nvGraphicFramePr>
        <p:xfrm>
          <a:off x="5474000" y="284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{F4AAF6D5-23AE-4795-B10A-1275F684EF8A}</a:tableStyleId>
              </a:tblPr>
              <a:tblGrid>
                <a:gridCol w="1511425"/>
                <a:gridCol w="1511425"/>
              </a:tblGrid>
              <a:tr h="48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16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8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 levels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 levels (binary)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5" name="Google Shape;385;p35"/>
          <p:cNvSpPr txBox="1"/>
          <p:nvPr/>
        </p:nvSpPr>
        <p:spPr>
          <a:xfrm>
            <a:off x="5474000" y="3998300"/>
            <a:ext cx="245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False contouring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Digital Image Acquisition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Effect of Quantization</a:t>
            </a:r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1631075" y="4399575"/>
            <a:ext cx="41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2" name="Google Shape;392;p36"/>
          <p:cNvPicPr preferRelativeResize="0"/>
          <p:nvPr/>
        </p:nvPicPr>
        <p:blipFill rotWithShape="1">
          <a:blip r:embed="rId3">
            <a:alphaModFix/>
          </a:blip>
          <a:srcRect b="0" l="734" r="0" t="0"/>
          <a:stretch/>
        </p:blipFill>
        <p:spPr>
          <a:xfrm>
            <a:off x="1631075" y="1986500"/>
            <a:ext cx="6374098" cy="241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