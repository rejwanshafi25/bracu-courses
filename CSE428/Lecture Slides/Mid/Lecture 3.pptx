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Roboto"/>
      <p:regular r:id="rId33"/>
      <p:bold r:id="rId34"/>
      <p:italic r:id="rId35"/>
      <p:boldItalic r:id="rId36"/>
    </p:embeddedFont>
    <p:embeddedFont>
      <p:font typeface="EB Garamond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haPhLCz5Q56p5dGHUxl8p9+yV2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4F2B6E-67AF-4471-BEC5-1C5404868013}">
  <a:tblStyle styleId="{074F2B6E-67AF-4471-BEC5-1C540486801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BGaramond-boldItalic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-italic.fntdata"/><Relationship Id="rId12" Type="http://schemas.openxmlformats.org/officeDocument/2006/relationships/slide" Target="slides/slide6.xml"/><Relationship Id="rId34" Type="http://schemas.openxmlformats.org/officeDocument/2006/relationships/font" Target="fonts/Roboto-bold.fntdata"/><Relationship Id="rId15" Type="http://schemas.openxmlformats.org/officeDocument/2006/relationships/slide" Target="slides/slide9.xml"/><Relationship Id="rId37" Type="http://schemas.openxmlformats.org/officeDocument/2006/relationships/font" Target="fonts/EBGaramond-regular.fntdata"/><Relationship Id="rId14" Type="http://schemas.openxmlformats.org/officeDocument/2006/relationships/slide" Target="slides/slide8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1.xml"/><Relationship Id="rId39" Type="http://schemas.openxmlformats.org/officeDocument/2006/relationships/font" Target="fonts/EBGaramond-italic.fntdata"/><Relationship Id="rId16" Type="http://schemas.openxmlformats.org/officeDocument/2006/relationships/slide" Target="slides/slide10.xml"/><Relationship Id="rId38" Type="http://schemas.openxmlformats.org/officeDocument/2006/relationships/font" Target="fonts/EBGaramond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9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9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9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0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" name="Google Shape;23;p3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2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2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32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32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3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3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3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3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4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4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4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34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3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5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3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6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6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36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3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3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7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7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7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3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8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38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Relationship Id="rId4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000"/>
              <a:t>Lecture 4: Point Processing - Part 1</a:t>
            </a:r>
            <a:endParaRPr sz="3000"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69" name="Google Shape;69;p1"/>
          <p:cNvSpPr txBox="1"/>
          <p:nvPr>
            <p:ph type="ctrTitle"/>
          </p:nvPr>
        </p:nvSpPr>
        <p:spPr>
          <a:xfrm>
            <a:off x="390525" y="12466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CSE428: Image Processing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Spatial Image Processing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Introduction</a:t>
            </a:r>
            <a:endParaRPr/>
          </a:p>
        </p:txBody>
      </p:sp>
      <p:sp>
        <p:nvSpPr>
          <p:cNvPr id="75" name="Google Shape;75;p2"/>
          <p:cNvSpPr txBox="1"/>
          <p:nvPr/>
        </p:nvSpPr>
        <p:spPr>
          <a:xfrm>
            <a:off x="471900" y="3379100"/>
            <a:ext cx="82221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Transform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pixel values in some other, but equivalent form.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■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 example, fourier, wavelet, unity (no transform)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Spatial processing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direct manipulation of pixels (i.e. unity transform)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g(x, y) = T </a:t>
            </a: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f(x, y)</a:t>
            </a: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where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= input image,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= output image,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= mapping function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Scope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(i) Enhancement - improved visual quality (ii) Improved recognition rate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471900" y="1762600"/>
            <a:ext cx="485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Typical image processing pipeline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7" name="Google Shape;77;p2"/>
          <p:cNvGrpSpPr/>
          <p:nvPr/>
        </p:nvGrpSpPr>
        <p:grpSpPr>
          <a:xfrm>
            <a:off x="1904905" y="2371585"/>
            <a:ext cx="5334199" cy="700253"/>
            <a:chOff x="1534489" y="2371650"/>
            <a:chExt cx="6096925" cy="800381"/>
          </a:xfrm>
        </p:grpSpPr>
        <p:grpSp>
          <p:nvGrpSpPr>
            <p:cNvPr id="78" name="Google Shape;78;p2"/>
            <p:cNvGrpSpPr/>
            <p:nvPr/>
          </p:nvGrpSpPr>
          <p:grpSpPr>
            <a:xfrm>
              <a:off x="1534489" y="2404281"/>
              <a:ext cx="767750" cy="767750"/>
              <a:chOff x="649050" y="2020650"/>
              <a:chExt cx="1212300" cy="1212300"/>
            </a:xfrm>
          </p:grpSpPr>
          <p:sp>
            <p:nvSpPr>
              <p:cNvPr id="79" name="Google Shape;79;p2"/>
              <p:cNvSpPr/>
              <p:nvPr/>
            </p:nvSpPr>
            <p:spPr>
              <a:xfrm>
                <a:off x="649050" y="2020650"/>
                <a:ext cx="1212300" cy="1212300"/>
              </a:xfrm>
              <a:prstGeom prst="roundRect">
                <a:avLst>
                  <a:gd fmla="val 7071" name="adj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0" name="Google Shape;80;p2"/>
              <p:cNvGrpSpPr/>
              <p:nvPr/>
            </p:nvGrpSpPr>
            <p:grpSpPr>
              <a:xfrm>
                <a:off x="829200" y="2571750"/>
                <a:ext cx="852000" cy="577500"/>
                <a:chOff x="857250" y="2571750"/>
                <a:chExt cx="852000" cy="577500"/>
              </a:xfrm>
            </p:grpSpPr>
            <p:sp>
              <p:nvSpPr>
                <p:cNvPr id="81" name="Google Shape;81;p2"/>
                <p:cNvSpPr/>
                <p:nvPr/>
              </p:nvSpPr>
              <p:spPr>
                <a:xfrm>
                  <a:off x="857250" y="2779950"/>
                  <a:ext cx="426900" cy="3693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" name="Google Shape;82;p2"/>
                <p:cNvSpPr/>
                <p:nvPr/>
              </p:nvSpPr>
              <p:spPr>
                <a:xfrm>
                  <a:off x="1041750" y="2571750"/>
                  <a:ext cx="667500" cy="5775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" name="Google Shape;83;p2"/>
              <p:cNvSpPr/>
              <p:nvPr/>
            </p:nvSpPr>
            <p:spPr>
              <a:xfrm>
                <a:off x="1460700" y="2204350"/>
                <a:ext cx="220500" cy="22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" name="Google Shape;84;p2"/>
            <p:cNvSpPr/>
            <p:nvPr/>
          </p:nvSpPr>
          <p:spPr>
            <a:xfrm>
              <a:off x="3829800" y="2404275"/>
              <a:ext cx="1506300" cy="7677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Transformed Image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" name="Google Shape;85;p2"/>
            <p:cNvGrpSpPr/>
            <p:nvPr/>
          </p:nvGrpSpPr>
          <p:grpSpPr>
            <a:xfrm flipH="1">
              <a:off x="6863664" y="2404281"/>
              <a:ext cx="767750" cy="767750"/>
              <a:chOff x="649050" y="2020650"/>
              <a:chExt cx="1212300" cy="1212300"/>
            </a:xfrm>
          </p:grpSpPr>
          <p:sp>
            <p:nvSpPr>
              <p:cNvPr id="86" name="Google Shape;86;p2"/>
              <p:cNvSpPr/>
              <p:nvPr/>
            </p:nvSpPr>
            <p:spPr>
              <a:xfrm>
                <a:off x="649050" y="2020650"/>
                <a:ext cx="1212300" cy="1212300"/>
              </a:xfrm>
              <a:prstGeom prst="roundRect">
                <a:avLst>
                  <a:gd fmla="val 7071" name="adj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7" name="Google Shape;87;p2"/>
              <p:cNvGrpSpPr/>
              <p:nvPr/>
            </p:nvGrpSpPr>
            <p:grpSpPr>
              <a:xfrm>
                <a:off x="829200" y="2571750"/>
                <a:ext cx="852000" cy="577500"/>
                <a:chOff x="857250" y="2571750"/>
                <a:chExt cx="852000" cy="577500"/>
              </a:xfrm>
            </p:grpSpPr>
            <p:sp>
              <p:nvSpPr>
                <p:cNvPr id="88" name="Google Shape;88;p2"/>
                <p:cNvSpPr/>
                <p:nvPr/>
              </p:nvSpPr>
              <p:spPr>
                <a:xfrm>
                  <a:off x="857250" y="2779950"/>
                  <a:ext cx="426900" cy="3693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>
                  <a:off x="1041750" y="2571750"/>
                  <a:ext cx="667500" cy="5775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0" name="Google Shape;90;p2"/>
              <p:cNvSpPr/>
              <p:nvPr/>
            </p:nvSpPr>
            <p:spPr>
              <a:xfrm>
                <a:off x="1460700" y="2204350"/>
                <a:ext cx="220500" cy="22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91" name="Google Shape;91;p2"/>
            <p:cNvCxnSpPr>
              <a:stCxn id="79" idx="3"/>
              <a:endCxn id="84" idx="1"/>
            </p:cNvCxnSpPr>
            <p:nvPr/>
          </p:nvCxnSpPr>
          <p:spPr>
            <a:xfrm>
              <a:off x="2302239" y="2788156"/>
              <a:ext cx="1527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92" name="Google Shape;92;p2"/>
            <p:cNvCxnSpPr>
              <a:stCxn id="84" idx="3"/>
              <a:endCxn id="86" idx="3"/>
            </p:cNvCxnSpPr>
            <p:nvPr/>
          </p:nvCxnSpPr>
          <p:spPr>
            <a:xfrm>
              <a:off x="5336100" y="2788125"/>
              <a:ext cx="1527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3" name="Google Shape;93;p2"/>
            <p:cNvSpPr txBox="1"/>
            <p:nvPr/>
          </p:nvSpPr>
          <p:spPr>
            <a:xfrm>
              <a:off x="2312900" y="2371650"/>
              <a:ext cx="1506300" cy="4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Transform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5346750" y="2371650"/>
              <a:ext cx="1506300" cy="4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Processing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Spatial Image Processing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Types</a:t>
            </a:r>
            <a:endParaRPr/>
          </a:p>
        </p:txBody>
      </p:sp>
      <p:graphicFrame>
        <p:nvGraphicFramePr>
          <p:cNvPr id="100" name="Google Shape;100;p3"/>
          <p:cNvGraphicFramePr/>
          <p:nvPr/>
        </p:nvGraphicFramePr>
        <p:xfrm>
          <a:off x="1411688" y="2266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{074F2B6E-67AF-4471-BEC5-1C5404868013}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1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1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1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1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1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1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1" name="Google Shape;101;p3"/>
          <p:cNvGraphicFramePr/>
          <p:nvPr/>
        </p:nvGraphicFramePr>
        <p:xfrm>
          <a:off x="5435213" y="2266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{074F2B6E-67AF-4471-BEC5-1C5404868013}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1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1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1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1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1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1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2" name="Google Shape;102;p3"/>
          <p:cNvSpPr/>
          <p:nvPr/>
        </p:nvSpPr>
        <p:spPr>
          <a:xfrm>
            <a:off x="2339438" y="3059100"/>
            <a:ext cx="3224100" cy="1186200"/>
          </a:xfrm>
          <a:prstGeom prst="arc">
            <a:avLst>
              <a:gd fmla="val 10777175" name="adj1"/>
              <a:gd fmla="val 16279035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3962688" y="2835950"/>
            <a:ext cx="1218600" cy="399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 flipH="1">
            <a:off x="3962913" y="2990400"/>
            <a:ext cx="2452500" cy="1186200"/>
          </a:xfrm>
          <a:prstGeom prst="arc">
            <a:avLst>
              <a:gd fmla="val 10730511" name="adj1"/>
              <a:gd fmla="val 16279035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71900" y="1762600"/>
            <a:ext cx="485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Point Processing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1060250" y="46102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image,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f(x, 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5083775" y="46102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image,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g(x, 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Spatial Image Processing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Types</a:t>
            </a:r>
            <a:endParaRPr/>
          </a:p>
        </p:txBody>
      </p:sp>
      <p:graphicFrame>
        <p:nvGraphicFramePr>
          <p:cNvPr id="113" name="Google Shape;113;p4"/>
          <p:cNvGraphicFramePr/>
          <p:nvPr/>
        </p:nvGraphicFramePr>
        <p:xfrm>
          <a:off x="1411688" y="2266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{074F2B6E-67AF-4471-BEC5-1C5404868013}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6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9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6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4" name="Google Shape;114;p4"/>
          <p:cNvGraphicFramePr/>
          <p:nvPr/>
        </p:nvGraphicFramePr>
        <p:xfrm>
          <a:off x="5435213" y="2266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{074F2B6E-67AF-4471-BEC5-1C5404868013}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1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1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1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1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1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1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5" name="Google Shape;115;p4"/>
          <p:cNvSpPr/>
          <p:nvPr/>
        </p:nvSpPr>
        <p:spPr>
          <a:xfrm>
            <a:off x="2339438" y="3059100"/>
            <a:ext cx="3224100" cy="1186200"/>
          </a:xfrm>
          <a:prstGeom prst="arc">
            <a:avLst>
              <a:gd fmla="val 10777175" name="adj1"/>
              <a:gd fmla="val 16279035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962688" y="2835950"/>
            <a:ext cx="1218600" cy="399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 flipH="1">
            <a:off x="3962913" y="2990400"/>
            <a:ext cx="2452500" cy="1186200"/>
          </a:xfrm>
          <a:prstGeom prst="arc">
            <a:avLst>
              <a:gd fmla="val 10730511" name="adj1"/>
              <a:gd fmla="val 16279035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471900" y="1762600"/>
            <a:ext cx="485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Neighborhood Processing (Filtering)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1060250" y="46102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image,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f(x, 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5083775" y="46102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image,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g(x, 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69650" y="3436650"/>
            <a:ext cx="128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✕</a:t>
            </a: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neighbor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Spatial Image Processing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Types</a:t>
            </a:r>
            <a:endParaRPr/>
          </a:p>
        </p:txBody>
      </p:sp>
      <p:graphicFrame>
        <p:nvGraphicFramePr>
          <p:cNvPr id="127" name="Google Shape;127;p5"/>
          <p:cNvGraphicFramePr/>
          <p:nvPr/>
        </p:nvGraphicFramePr>
        <p:xfrm>
          <a:off x="1411688" y="2266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{074F2B6E-67AF-4471-BEC5-1C5404868013}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9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6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6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9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6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8" name="Google Shape;128;p5"/>
          <p:cNvGraphicFramePr/>
          <p:nvPr/>
        </p:nvGraphicFramePr>
        <p:xfrm>
          <a:off x="5435213" y="2266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{074F2B6E-67AF-4471-BEC5-1C5404868013}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1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1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1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1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1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12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9" name="Google Shape;129;p5"/>
          <p:cNvSpPr/>
          <p:nvPr/>
        </p:nvSpPr>
        <p:spPr>
          <a:xfrm>
            <a:off x="2339438" y="3059100"/>
            <a:ext cx="3224100" cy="1186200"/>
          </a:xfrm>
          <a:prstGeom prst="arc">
            <a:avLst>
              <a:gd fmla="val 10777175" name="adj1"/>
              <a:gd fmla="val 16279035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3962688" y="2835950"/>
            <a:ext cx="1218600" cy="399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 flipH="1">
            <a:off x="3962913" y="2990400"/>
            <a:ext cx="2452500" cy="1186200"/>
          </a:xfrm>
          <a:prstGeom prst="arc">
            <a:avLst>
              <a:gd fmla="val 10730511" name="adj1"/>
              <a:gd fmla="val 16279035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471900" y="1762600"/>
            <a:ext cx="485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Global Processing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1060250" y="46102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image,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f(x, 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5083775" y="46102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image,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g(x, 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Mapping Function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 </a:t>
            </a:r>
            <a:endParaRPr/>
          </a:p>
        </p:txBody>
      </p:sp>
      <p:pic>
        <p:nvPicPr>
          <p:cNvPr id="140" name="Google Shape;14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995" y="2571750"/>
            <a:ext cx="3200399" cy="2154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2490" y="2571750"/>
            <a:ext cx="3200399" cy="215493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 txBox="1"/>
          <p:nvPr/>
        </p:nvSpPr>
        <p:spPr>
          <a:xfrm>
            <a:off x="471900" y="1795625"/>
            <a:ext cx="8222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= T </a:t>
            </a: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where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= input intensity,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= output intensity,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[]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= mapping function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Mapping functions can be visualized graphically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1792650" y="4726675"/>
            <a:ext cx="196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Contrast stretching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5412150" y="4726675"/>
            <a:ext cx="196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Unity mapping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998" y="2561075"/>
            <a:ext cx="3200401" cy="2176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2498" y="2561075"/>
            <a:ext cx="3200401" cy="217627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Mapping Function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 </a:t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471900" y="1795625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Will consider [0, 1] range for simplicity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1792650" y="4726675"/>
            <a:ext cx="196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Contrast stretching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5412150" y="4726675"/>
            <a:ext cx="196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Unity mapping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Arithmetic Operations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Addition and Subtraction - Brightness Adjustment</a:t>
            </a:r>
            <a:endParaRPr/>
          </a:p>
        </p:txBody>
      </p:sp>
      <p:sp>
        <p:nvSpPr>
          <p:cNvPr id="160" name="Google Shape;160;p8"/>
          <p:cNvSpPr txBox="1"/>
          <p:nvPr/>
        </p:nvSpPr>
        <p:spPr>
          <a:xfrm>
            <a:off x="471900" y="1795625"/>
            <a:ext cx="8222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= r ± C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where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= input intensity,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= output intensity,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= a positive constant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Have to make sure the outputs are </a:t>
            </a:r>
            <a:r>
              <a:rPr b="0" i="0" lang="en" sz="16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clipped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between [0, 1] 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Increases (+) or decreases (-) the overall brightness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90" y="2719025"/>
            <a:ext cx="3291840" cy="2359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9725" y="2686263"/>
            <a:ext cx="3383280" cy="2424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Arithmetic Operations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Addition and Subtraction - Brightness Adjustment</a:t>
            </a:r>
            <a:endParaRPr/>
          </a:p>
        </p:txBody>
      </p:sp>
      <p:sp>
        <p:nvSpPr>
          <p:cNvPr id="168" name="Google Shape;168;p9"/>
          <p:cNvSpPr txBox="1"/>
          <p:nvPr/>
        </p:nvSpPr>
        <p:spPr>
          <a:xfrm>
            <a:off x="471900" y="1795625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Addition might saturate high intensity levels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350" y="2202875"/>
            <a:ext cx="7315199" cy="2891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350" y="2203704"/>
            <a:ext cx="7315199" cy="288950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Arithmetic Operations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Addition and Subtraction - Brightness Adjustment</a:t>
            </a:r>
            <a:endParaRPr/>
          </a:p>
        </p:txBody>
      </p:sp>
      <p:sp>
        <p:nvSpPr>
          <p:cNvPr id="176" name="Google Shape;176;p10"/>
          <p:cNvSpPr txBox="1"/>
          <p:nvPr/>
        </p:nvSpPr>
        <p:spPr>
          <a:xfrm>
            <a:off x="471900" y="1795625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Subtraction might saturate low intensity levels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1157" y="2746463"/>
            <a:ext cx="3200401" cy="2304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94" y="2746463"/>
            <a:ext cx="3200401" cy="230428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Arithmetic Operations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Multiplication and Division - Contrast Adjustment</a:t>
            </a:r>
            <a:endParaRPr/>
          </a:p>
        </p:txBody>
      </p:sp>
      <p:sp>
        <p:nvSpPr>
          <p:cNvPr id="184" name="Google Shape;184;p11"/>
          <p:cNvSpPr txBox="1"/>
          <p:nvPr/>
        </p:nvSpPr>
        <p:spPr>
          <a:xfrm>
            <a:off x="471900" y="1795625"/>
            <a:ext cx="8222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= r </a:t>
            </a: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✕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 or r</a:t>
            </a:r>
            <a:r>
              <a:rPr b="0" i="1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800" u="none" cap="none" strike="noStrike">
                <a:solidFill>
                  <a:srgbClr val="0505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</a:t>
            </a:r>
            <a:r>
              <a:rPr b="0" i="1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= input intensity,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= output intensity,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= a positive constant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Have to make sure the outputs are </a:t>
            </a:r>
            <a:r>
              <a:rPr b="0" i="0" lang="en" sz="16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clipped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between [0, 1] 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Combined with addition/subtraction, can be used for </a:t>
            </a:r>
            <a:r>
              <a:rPr b="0" i="0" lang="en" sz="16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contrast adjustment</a:t>
            </a:r>
            <a:endParaRPr b="0" i="0" sz="16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226717"/>
            <a:ext cx="7315199" cy="288950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Arithmetic Operations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Multiplication and Division - Contrast Adjustment</a:t>
            </a:r>
            <a:endParaRPr/>
          </a:p>
        </p:txBody>
      </p:sp>
      <p:sp>
        <p:nvSpPr>
          <p:cNvPr id="191" name="Google Shape;191;p12"/>
          <p:cNvSpPr txBox="1"/>
          <p:nvPr/>
        </p:nvSpPr>
        <p:spPr>
          <a:xfrm>
            <a:off x="471900" y="1795625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Overall brightness increased, contrast increased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350" y="2226717"/>
            <a:ext cx="7315199" cy="288950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Arithmetic Operations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Multiplication and Division - Contrast Adjustment</a:t>
            </a:r>
            <a:endParaRPr/>
          </a:p>
        </p:txBody>
      </p:sp>
      <p:sp>
        <p:nvSpPr>
          <p:cNvPr id="198" name="Google Shape;198;p13"/>
          <p:cNvSpPr txBox="1"/>
          <p:nvPr/>
        </p:nvSpPr>
        <p:spPr>
          <a:xfrm>
            <a:off x="471900" y="1795625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Overall brightness decreased, contrast decreased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2498" y="2668650"/>
            <a:ext cx="3200401" cy="217627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Contrast Stretching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 </a:t>
            </a:r>
            <a:endParaRPr/>
          </a:p>
        </p:txBody>
      </p:sp>
      <p:sp>
        <p:nvSpPr>
          <p:cNvPr id="205" name="Google Shape;205;p14"/>
          <p:cNvSpPr txBox="1"/>
          <p:nvPr/>
        </p:nvSpPr>
        <p:spPr>
          <a:xfrm>
            <a:off x="471900" y="1795625"/>
            <a:ext cx="8222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wide range near black/white is </a:t>
            </a: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compressed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to a corresponding narrow range 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small range near the middle is </a:t>
            </a: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expanded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to a wide range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Limiting case of contrast stretching is </a:t>
            </a: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thresholding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Produces </a:t>
            </a:r>
            <a:r>
              <a:rPr b="0" i="0" lang="en" sz="16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binary image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6" name="Google Shape;2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2995" y="2679325"/>
            <a:ext cx="3200399" cy="215493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4"/>
          <p:cNvSpPr txBox="1"/>
          <p:nvPr/>
        </p:nvSpPr>
        <p:spPr>
          <a:xfrm>
            <a:off x="1792650" y="4834250"/>
            <a:ext cx="196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Contrast stretching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14"/>
          <p:cNvSpPr txBox="1"/>
          <p:nvPr/>
        </p:nvSpPr>
        <p:spPr>
          <a:xfrm>
            <a:off x="5412150" y="4834250"/>
            <a:ext cx="196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Thresholding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Contrast Stretching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Using arithmetic operation</a:t>
            </a:r>
            <a:endParaRPr/>
          </a:p>
        </p:txBody>
      </p:sp>
      <p:sp>
        <p:nvSpPr>
          <p:cNvPr id="214" name="Google Shape;214;p15"/>
          <p:cNvSpPr txBox="1"/>
          <p:nvPr/>
        </p:nvSpPr>
        <p:spPr>
          <a:xfrm>
            <a:off x="471900" y="1795625"/>
            <a:ext cx="8222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= C</a:t>
            </a:r>
            <a:r>
              <a:rPr b="0" baseline="-2500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✕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 - C</a:t>
            </a:r>
            <a:r>
              <a:rPr b="0" baseline="-2500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Some loss of information near low and high intensity levels</a:t>
            </a:r>
            <a:endParaRPr b="0" i="0" sz="16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5" name="Google Shape;2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4175" y="2430363"/>
            <a:ext cx="3177539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626" y="2430363"/>
            <a:ext cx="241173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4551" y="2430375"/>
            <a:ext cx="241173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5"/>
          <p:cNvSpPr txBox="1"/>
          <p:nvPr/>
        </p:nvSpPr>
        <p:spPr>
          <a:xfrm>
            <a:off x="437725" y="4716375"/>
            <a:ext cx="241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Input image (LANDSAT band 1)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15"/>
          <p:cNvSpPr txBox="1"/>
          <p:nvPr/>
        </p:nvSpPr>
        <p:spPr>
          <a:xfrm>
            <a:off x="3591438" y="4716375"/>
            <a:ext cx="196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Stretching function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15"/>
          <p:cNvSpPr txBox="1"/>
          <p:nvPr/>
        </p:nvSpPr>
        <p:spPr>
          <a:xfrm>
            <a:off x="6497938" y="4716375"/>
            <a:ext cx="196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Output image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899" y="2519450"/>
            <a:ext cx="2743200" cy="193841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Contrast Stretching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Using arithmetic operation</a:t>
            </a:r>
            <a:endParaRPr/>
          </a:p>
        </p:txBody>
      </p:sp>
      <p:sp>
        <p:nvSpPr>
          <p:cNvPr id="227" name="Google Shape;227;p16"/>
          <p:cNvSpPr txBox="1"/>
          <p:nvPr/>
        </p:nvSpPr>
        <p:spPr>
          <a:xfrm>
            <a:off x="471900" y="1795625"/>
            <a:ext cx="822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to calculate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baseline="-2500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baseline="-2500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b="0" i="0" sz="16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684938" y="4461375"/>
            <a:ext cx="196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Histogram of 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16"/>
          <p:cNvSpPr txBox="1"/>
          <p:nvPr/>
        </p:nvSpPr>
        <p:spPr>
          <a:xfrm>
            <a:off x="3602388" y="4461375"/>
            <a:ext cx="196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Histogram of (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I-0.1)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16"/>
          <p:cNvSpPr txBox="1"/>
          <p:nvPr/>
        </p:nvSpPr>
        <p:spPr>
          <a:xfrm>
            <a:off x="6334638" y="4461375"/>
            <a:ext cx="196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Histogram of 4x(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I-0.1)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1" name="Google Shape;2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0" y="2515913"/>
            <a:ext cx="2743200" cy="194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599" y="2519450"/>
            <a:ext cx="2743200" cy="1938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Contrast Stretching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Using Piecewise Linear Mapping</a:t>
            </a:r>
            <a:endParaRPr/>
          </a:p>
        </p:txBody>
      </p:sp>
      <p:pic>
        <p:nvPicPr>
          <p:cNvPr id="238" name="Google Shape;2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025" y="1860525"/>
            <a:ext cx="2994776" cy="296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7"/>
          <p:cNvSpPr txBox="1"/>
          <p:nvPr/>
        </p:nvSpPr>
        <p:spPr>
          <a:xfrm>
            <a:off x="242025" y="4829750"/>
            <a:ext cx="322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Rafael C. Gonzalez &amp; Richard E. Woods, 2018, </a:t>
            </a:r>
            <a:r>
              <a:rPr b="0" i="1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Digital Image Processing</a:t>
            </a: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4th Edition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17"/>
          <p:cNvSpPr txBox="1"/>
          <p:nvPr/>
        </p:nvSpPr>
        <p:spPr>
          <a:xfrm>
            <a:off x="3284575" y="1860525"/>
            <a:ext cx="57249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[0, r</a:t>
            </a:r>
            <a:r>
              <a:rPr b="0" baseline="-2500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is mapped to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[0, s</a:t>
            </a:r>
            <a:r>
              <a:rPr b="0" baseline="-2500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where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baseline="-2500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1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</a:t>
            </a:r>
            <a:r>
              <a:rPr b="0" i="1" lang="en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[Compressed]</a:t>
            </a:r>
            <a:b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[r</a:t>
            </a:r>
            <a:r>
              <a:rPr b="0" baseline="-2500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1]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is mapped to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</a:t>
            </a:r>
            <a:r>
              <a:rPr b="0" baseline="-2500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1] 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where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baseline="-2500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1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r>
              <a:rPr b="0" i="1" lang="en" sz="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[Compressed]  </a:t>
            </a:r>
            <a:b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[r</a:t>
            </a:r>
            <a:r>
              <a:rPr b="0" baseline="-2500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</a:t>
            </a:r>
            <a:r>
              <a:rPr b="0" baseline="-2500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is mapped to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</a:t>
            </a:r>
            <a:r>
              <a:rPr b="0" baseline="-2500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</a:t>
            </a:r>
            <a:r>
              <a:rPr b="0" baseline="-2500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b="0" i="1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Stretched</a:t>
            </a: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  <a:b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 clipping, hence no loss of information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Contrast Stretching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Using Piecewise Linear Mapping</a:t>
            </a:r>
            <a:endParaRPr/>
          </a:p>
        </p:txBody>
      </p:sp>
      <p:sp>
        <p:nvSpPr>
          <p:cNvPr id="246" name="Google Shape;246;p18"/>
          <p:cNvSpPr txBox="1"/>
          <p:nvPr/>
        </p:nvSpPr>
        <p:spPr>
          <a:xfrm>
            <a:off x="230825" y="4866600"/>
            <a:ext cx="322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Rafael C. Gonzalez &amp; Richard E. Woods, 2018, </a:t>
            </a:r>
            <a:r>
              <a:rPr b="0" i="1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Digital Image Processing</a:t>
            </a: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4th Edition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7" name="Google Shape;2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825" y="1691501"/>
            <a:ext cx="4341175" cy="317509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8"/>
          <p:cNvSpPr txBox="1"/>
          <p:nvPr/>
        </p:nvSpPr>
        <p:spPr>
          <a:xfrm>
            <a:off x="4728900" y="2124650"/>
            <a:ext cx="39651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(a) Piecewise linear transformation function. </a:t>
            </a:r>
            <a:b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(b) A low-contrast electron microscope image of pollen, magnified 700 times. </a:t>
            </a:r>
            <a:b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(c) Result of contrast stretching. </a:t>
            </a:r>
            <a:b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(d) Result of thresholding.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(Original image courtesy of Dr. Roger Heady, Research School of Biological Sciences, Australian National University, Canberra, Australia.)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Intensity Transformation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What is happening 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1210175" y="4890250"/>
            <a:ext cx="6576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Alasdair McAndrew, 2004, </a:t>
            </a:r>
            <a:r>
              <a:rPr b="0" i="1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An Introduction to Digital Image Processing with Matlab: Notes for SCM2511 Image Processing 1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55" name="Google Shape;255;p19"/>
          <p:cNvGraphicFramePr/>
          <p:nvPr/>
        </p:nvGraphicFramePr>
        <p:xfrm>
          <a:off x="1283613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{074F2B6E-67AF-4471-BEC5-1C5404868013}</a:tableStyleId>
              </a:tblPr>
              <a:tblGrid>
                <a:gridCol w="451175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7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1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2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3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4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5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6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7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8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9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10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11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12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13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14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15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</a:tr>
              <a:tr h="27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</a:t>
                      </a:r>
                      <a:r>
                        <a:rPr baseline="-25000" lang="en" sz="1400" u="none" cap="none" strike="noStrike"/>
                        <a:t>r</a:t>
                      </a:r>
                      <a:endParaRPr baseline="-25000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15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70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110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45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70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35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0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15</a:t>
                      </a:r>
                      <a:endParaRPr sz="9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56" name="Google Shape;256;p19"/>
          <p:cNvSpPr txBox="1"/>
          <p:nvPr/>
        </p:nvSpPr>
        <p:spPr>
          <a:xfrm>
            <a:off x="1283613" y="1806250"/>
            <a:ext cx="196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 Histogram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7" name="Google Shape;2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0163" y="3019508"/>
            <a:ext cx="4151312" cy="1870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9"/>
          <p:cNvPicPr preferRelativeResize="0"/>
          <p:nvPr/>
        </p:nvPicPr>
        <p:blipFill rotWithShape="1">
          <a:blip r:embed="rId4">
            <a:alphaModFix/>
          </a:blip>
          <a:srcRect b="0" l="24971" r="-6" t="0"/>
          <a:stretch/>
        </p:blipFill>
        <p:spPr>
          <a:xfrm>
            <a:off x="5361462" y="3019500"/>
            <a:ext cx="2594276" cy="187074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9"/>
          <p:cNvSpPr txBox="1"/>
          <p:nvPr/>
        </p:nvSpPr>
        <p:spPr>
          <a:xfrm>
            <a:off x="1283613" y="2967938"/>
            <a:ext cx="196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Original histogram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3322538" y="2967938"/>
            <a:ext cx="196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Stretching map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5678038" y="2967938"/>
            <a:ext cx="196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Stretched histogram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Intensity Transformation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Basic transformations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0" y="4774200"/>
            <a:ext cx="245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Rafael C. Gonzalez &amp; Richard E. Woods, 2018, </a:t>
            </a:r>
            <a:r>
              <a:rPr b="0" i="1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Digital Image Processing</a:t>
            </a: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4th Edition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8" name="Google Shape;2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7388" y="1766475"/>
            <a:ext cx="3929228" cy="3377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Intensity Transformation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Log Transformation - Dynamic Range Compression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471900" y="3841275"/>
            <a:ext cx="322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Rafael C. Gonzalez &amp; Richard E. Woods, 2018, </a:t>
            </a:r>
            <a:r>
              <a:rPr b="0" i="1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Digital Image Processing</a:t>
            </a: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4th Edition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5" name="Google Shape;27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1761950"/>
            <a:ext cx="4175421" cy="2079326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 txBox="1"/>
          <p:nvPr/>
        </p:nvSpPr>
        <p:spPr>
          <a:xfrm>
            <a:off x="471900" y="4096800"/>
            <a:ext cx="746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= c log(1 + r), r ≥ 0, c ≥ 0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Low range gray levels expanded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High range gray levels compressed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^ Visualization of fourier spectra of an image before and after log compression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7" name="Google Shape;27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1123" y="1761950"/>
            <a:ext cx="3063680" cy="207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Intensity Transformation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Power Law Transformation 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379900" y="4737850"/>
            <a:ext cx="322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Rafael C. Gonzalez &amp; Richard E. Woods, 2018, </a:t>
            </a:r>
            <a:r>
              <a:rPr b="0" i="1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Digital Image Processing</a:t>
            </a: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4th Edition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4" name="Google Shape;28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1827625"/>
            <a:ext cx="3328964" cy="2910237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3"/>
          <p:cNvSpPr txBox="1"/>
          <p:nvPr/>
        </p:nvSpPr>
        <p:spPr>
          <a:xfrm>
            <a:off x="3900900" y="2544000"/>
            <a:ext cx="4793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= cr</a:t>
            </a:r>
            <a:r>
              <a:rPr b="0" baseline="3000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γ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 ≥ 0, c, </a:t>
            </a:r>
            <a:r>
              <a:rPr b="1" i="0" lang="en" sz="1400" u="none" cap="none" strike="noStrike">
                <a:solidFill>
                  <a:srgbClr val="202122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  <a:t>γ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0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generalized version of log transformation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1" i="0" lang="en" sz="1400" u="none" cap="none" strike="noStrike">
                <a:solidFill>
                  <a:srgbClr val="202122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  <a:t>γ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1 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Inverse log transformation, dynamic range expansion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1" i="0" lang="en" sz="1400" u="none" cap="none" strike="noStrike">
                <a:solidFill>
                  <a:srgbClr val="202122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  <a:t>γ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1 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Log transformation, dynamic range compression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Intensity Transformation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Power Law Transformation - Dynamic Range Compression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471900" y="4866600"/>
            <a:ext cx="322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Rafael C. Gonzalez &amp; Richard E. Woods, 2018, </a:t>
            </a:r>
            <a:r>
              <a:rPr b="0" i="1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Digital Image Processing</a:t>
            </a: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4th Edition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2" name="Google Shape;29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1698300"/>
            <a:ext cx="3371725" cy="314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4"/>
          <p:cNvSpPr txBox="1"/>
          <p:nvPr/>
        </p:nvSpPr>
        <p:spPr>
          <a:xfrm>
            <a:off x="4728900" y="2124650"/>
            <a:ext cx="39651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(a) Magnetic resonance image (MRI) of a fractured human spine (the region of the fracture is enclosed by the circle). </a:t>
            </a:r>
            <a:b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(b)–(d) Results of applying the transformation in Eq. (3-5) with c = 1 and </a:t>
            </a:r>
            <a:r>
              <a:rPr b="1" i="0" lang="en" sz="1400" u="none" cap="none" strike="noStrike">
                <a:solidFill>
                  <a:srgbClr val="202122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  <a:t>γ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= 0.6, 0.4, 0.3, respectively.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(Original image courtesy of Dr. David R. Pickens, Department of Radiology and Radiological Sciences, Vanderbilt University Medical Center.)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Intensity Transformation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Power Law Transformation - Dynamic Range Expansion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471900" y="4866600"/>
            <a:ext cx="322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Rafael C. Gonzalez &amp; Richard E. Woods, 2018, </a:t>
            </a:r>
            <a:r>
              <a:rPr b="0" i="1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Digital Image Processing</a:t>
            </a: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4th Edition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4728900" y="2553963"/>
            <a:ext cx="3965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(a) Ariel Image</a:t>
            </a:r>
            <a:b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(b)–(d) Results of applying the transformation in Eq. (3-5) with c = 1 and </a:t>
            </a:r>
            <a:r>
              <a:rPr b="1" i="0" lang="en" sz="1400" u="none" cap="none" strike="noStrike">
                <a:solidFill>
                  <a:srgbClr val="202122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</a:rPr>
              <a:t>γ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= 3, 4, 5, respectively.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(Original image courtesy of NAS)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1" name="Google Shape;30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00" y="1811225"/>
            <a:ext cx="3983267" cy="305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Intensity Transformation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000"/>
              <a:t>Gray-Level Slicing </a:t>
            </a:r>
            <a:endParaRPr/>
          </a:p>
        </p:txBody>
      </p:sp>
      <p:sp>
        <p:nvSpPr>
          <p:cNvPr id="307" name="Google Shape;307;p26"/>
          <p:cNvSpPr txBox="1"/>
          <p:nvPr/>
        </p:nvSpPr>
        <p:spPr>
          <a:xfrm>
            <a:off x="0" y="4774200"/>
            <a:ext cx="169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By Rafael C. Gonzalez &amp; Richard E. Woods, 2018, </a:t>
            </a:r>
            <a:r>
              <a:rPr b="0" i="1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Digital Image Processing</a:t>
            </a:r>
            <a:r>
              <a:rPr b="0" i="0" lang="en" sz="6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4th Edition</a:t>
            </a:r>
            <a:endParaRPr b="0" i="0" sz="600" u="none" cap="none" strike="noStrik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8" name="Google Shape;30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5825" y="3609000"/>
            <a:ext cx="4419785" cy="153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3013" y="1685845"/>
            <a:ext cx="5239877" cy="199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