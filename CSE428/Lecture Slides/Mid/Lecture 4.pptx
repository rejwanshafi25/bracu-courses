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y="5143500" cx="9144000"/>
  <p:notesSz cx="6858000" cy="9144000"/>
  <p:embeddedFontLst>
    <p:embeddedFont>
      <p:font typeface="Roboto"/>
      <p:regular r:id="rId81"/>
      <p:bold r:id="rId82"/>
      <p:italic r:id="rId83"/>
      <p:boldItalic r:id="rId84"/>
    </p:embeddedFont>
    <p:embeddedFont>
      <p:font typeface="Cambria Math"/>
      <p:regular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6" roundtripDataSignature="AMtx7miNVVlPu11RfHaHMvgQyBYOTjac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882063-F85C-4262-BCFF-7C8CF0552B12}">
  <a:tblStyle styleId="{35882063-F85C-4262-BCFF-7C8CF0552B1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090C996-3937-4791-B839-4F53BED45A3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Roboto-boldItalic.fntdata"/><Relationship Id="rId83" Type="http://schemas.openxmlformats.org/officeDocument/2006/relationships/font" Target="fonts/Roboto-italic.fntdata"/><Relationship Id="rId42" Type="http://schemas.openxmlformats.org/officeDocument/2006/relationships/slide" Target="slides/slide36.xml"/><Relationship Id="rId86" Type="http://customschemas.google.com/relationships/presentationmetadata" Target="metadata"/><Relationship Id="rId41" Type="http://schemas.openxmlformats.org/officeDocument/2006/relationships/slide" Target="slides/slide35.xml"/><Relationship Id="rId85" Type="http://schemas.openxmlformats.org/officeDocument/2006/relationships/font" Target="fonts/CambriaMath-regular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font" Target="fonts/Roboto-bold.fntdata"/><Relationship Id="rId81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6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76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76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76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7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7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7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7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3" name="Google Shape;23;p7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" name="Google Shape;26;p7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0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8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8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" name="Google Shape;31;p8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1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81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8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8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2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2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82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8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3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3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83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8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8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4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4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4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8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5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85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8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7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7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5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5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Relationship Id="rId7" Type="http://schemas.openxmlformats.org/officeDocument/2006/relationships/image" Target="../media/image50.png"/><Relationship Id="rId8" Type="http://schemas.openxmlformats.org/officeDocument/2006/relationships/image" Target="../media/image4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Relationship Id="rId4" Type="http://schemas.openxmlformats.org/officeDocument/2006/relationships/image" Target="../media/image20.png"/><Relationship Id="rId5" Type="http://schemas.openxmlformats.org/officeDocument/2006/relationships/image" Target="../media/image29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Relationship Id="rId6" Type="http://schemas.openxmlformats.org/officeDocument/2006/relationships/image" Target="../media/image5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6.png"/><Relationship Id="rId4" Type="http://schemas.openxmlformats.org/officeDocument/2006/relationships/image" Target="../media/image66.png"/><Relationship Id="rId5" Type="http://schemas.openxmlformats.org/officeDocument/2006/relationships/image" Target="../media/image53.png"/><Relationship Id="rId6" Type="http://schemas.openxmlformats.org/officeDocument/2006/relationships/image" Target="../media/image6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3.png"/><Relationship Id="rId4" Type="http://schemas.openxmlformats.org/officeDocument/2006/relationships/image" Target="../media/image5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4.png"/><Relationship Id="rId4" Type="http://schemas.openxmlformats.org/officeDocument/2006/relationships/image" Target="../media/image58.png"/><Relationship Id="rId5" Type="http://schemas.openxmlformats.org/officeDocument/2006/relationships/image" Target="../media/image6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72.png"/><Relationship Id="rId5" Type="http://schemas.openxmlformats.org/officeDocument/2006/relationships/image" Target="../media/image62.png"/><Relationship Id="rId6" Type="http://schemas.openxmlformats.org/officeDocument/2006/relationships/image" Target="../media/image68.png"/><Relationship Id="rId7" Type="http://schemas.openxmlformats.org/officeDocument/2006/relationships/image" Target="../media/image67.png"/><Relationship Id="rId8" Type="http://schemas.openxmlformats.org/officeDocument/2006/relationships/image" Target="../media/image7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8.png"/><Relationship Id="rId4" Type="http://schemas.openxmlformats.org/officeDocument/2006/relationships/image" Target="../media/image77.png"/><Relationship Id="rId5" Type="http://schemas.openxmlformats.org/officeDocument/2006/relationships/image" Target="../media/image7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6.png"/><Relationship Id="rId4" Type="http://schemas.openxmlformats.org/officeDocument/2006/relationships/image" Target="../media/image74.png"/><Relationship Id="rId9" Type="http://schemas.openxmlformats.org/officeDocument/2006/relationships/image" Target="../media/image85.png"/><Relationship Id="rId5" Type="http://schemas.openxmlformats.org/officeDocument/2006/relationships/image" Target="../media/image80.png"/><Relationship Id="rId6" Type="http://schemas.openxmlformats.org/officeDocument/2006/relationships/image" Target="../media/image73.png"/><Relationship Id="rId7" Type="http://schemas.openxmlformats.org/officeDocument/2006/relationships/image" Target="../media/image79.png"/><Relationship Id="rId8" Type="http://schemas.openxmlformats.org/officeDocument/2006/relationships/image" Target="../media/image8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3.png"/><Relationship Id="rId4" Type="http://schemas.openxmlformats.org/officeDocument/2006/relationships/image" Target="../media/image87.png"/><Relationship Id="rId10" Type="http://schemas.openxmlformats.org/officeDocument/2006/relationships/image" Target="../media/image74.png"/><Relationship Id="rId9" Type="http://schemas.openxmlformats.org/officeDocument/2006/relationships/image" Target="../media/image85.png"/><Relationship Id="rId5" Type="http://schemas.openxmlformats.org/officeDocument/2006/relationships/image" Target="../media/image89.png"/><Relationship Id="rId6" Type="http://schemas.openxmlformats.org/officeDocument/2006/relationships/image" Target="../media/image88.png"/><Relationship Id="rId7" Type="http://schemas.openxmlformats.org/officeDocument/2006/relationships/image" Target="../media/image86.png"/><Relationship Id="rId8" Type="http://schemas.openxmlformats.org/officeDocument/2006/relationships/image" Target="../media/image9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2.png"/><Relationship Id="rId4" Type="http://schemas.openxmlformats.org/officeDocument/2006/relationships/image" Target="../media/image9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5.png"/><Relationship Id="rId4" Type="http://schemas.openxmlformats.org/officeDocument/2006/relationships/image" Target="../media/image94.png"/><Relationship Id="rId5" Type="http://schemas.openxmlformats.org/officeDocument/2006/relationships/image" Target="../media/image92.png"/><Relationship Id="rId6" Type="http://schemas.openxmlformats.org/officeDocument/2006/relationships/image" Target="../media/image103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1.png"/><Relationship Id="rId4" Type="http://schemas.openxmlformats.org/officeDocument/2006/relationships/image" Target="../media/image100.png"/><Relationship Id="rId5" Type="http://schemas.openxmlformats.org/officeDocument/2006/relationships/image" Target="../media/image98.png"/><Relationship Id="rId6" Type="http://schemas.openxmlformats.org/officeDocument/2006/relationships/image" Target="../media/image9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2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11.png"/><Relationship Id="rId4" Type="http://schemas.openxmlformats.org/officeDocument/2006/relationships/image" Target="../media/image118.png"/><Relationship Id="rId5" Type="http://schemas.openxmlformats.org/officeDocument/2006/relationships/image" Target="../media/image11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94.png"/><Relationship Id="rId4" Type="http://schemas.openxmlformats.org/officeDocument/2006/relationships/image" Target="../media/image103.jpg"/><Relationship Id="rId5" Type="http://schemas.openxmlformats.org/officeDocument/2006/relationships/image" Target="../media/image109.png"/><Relationship Id="rId6" Type="http://schemas.openxmlformats.org/officeDocument/2006/relationships/image" Target="../media/image10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06.png"/><Relationship Id="rId4" Type="http://schemas.openxmlformats.org/officeDocument/2006/relationships/image" Target="../media/image113.png"/><Relationship Id="rId5" Type="http://schemas.openxmlformats.org/officeDocument/2006/relationships/image" Target="../media/image12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1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94.png"/><Relationship Id="rId4" Type="http://schemas.openxmlformats.org/officeDocument/2006/relationships/image" Target="../media/image103.jpg"/><Relationship Id="rId5" Type="http://schemas.openxmlformats.org/officeDocument/2006/relationships/image" Target="../media/image10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19.png"/><Relationship Id="rId4" Type="http://schemas.openxmlformats.org/officeDocument/2006/relationships/image" Target="../media/image123.png"/><Relationship Id="rId5" Type="http://schemas.openxmlformats.org/officeDocument/2006/relationships/image" Target="../media/image103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22.png"/><Relationship Id="rId4" Type="http://schemas.openxmlformats.org/officeDocument/2006/relationships/image" Target="../media/image106.png"/><Relationship Id="rId5" Type="http://schemas.openxmlformats.org/officeDocument/2006/relationships/image" Target="../media/image11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21.png"/><Relationship Id="rId4" Type="http://schemas.openxmlformats.org/officeDocument/2006/relationships/image" Target="../media/image118.png"/><Relationship Id="rId5" Type="http://schemas.openxmlformats.org/officeDocument/2006/relationships/image" Target="../media/image11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2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24.png"/><Relationship Id="rId4" Type="http://schemas.openxmlformats.org/officeDocument/2006/relationships/image" Target="../media/image12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2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28.png"/><Relationship Id="rId4" Type="http://schemas.openxmlformats.org/officeDocument/2006/relationships/image" Target="../media/image13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3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/>
              <a:t>Lecture 5: Point Processing - Part 2</a:t>
            </a:r>
            <a:endParaRPr sz="3000"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 txBox="1"/>
          <p:nvPr>
            <p:ph type="ctrTitle"/>
          </p:nvPr>
        </p:nvSpPr>
        <p:spPr>
          <a:xfrm>
            <a:off x="390525" y="12466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CSE428: Image Processing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Definition</a:t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471900" y="1695900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each gray level, </a:t>
            </a:r>
            <a:r>
              <a:rPr b="1" i="0" lang="en" sz="16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many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pixels have that exact value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471900" y="2468875"/>
            <a:ext cx="8222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="0" i="1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is the number of pixels with with intensity </a:t>
            </a:r>
            <a:r>
              <a:rPr b="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="0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Normalized histogram: for each gray level, </a:t>
            </a:r>
            <a:r>
              <a:rPr b="1" i="0" lang="en" sz="16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percentage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of pixels have that exact value. I.e., “unnormalized” histogram divided by the total number of pixels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6000" y="2127000"/>
            <a:ext cx="5691999" cy="299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 txBox="1"/>
          <p:nvPr/>
        </p:nvSpPr>
        <p:spPr>
          <a:xfrm>
            <a:off x="460950" y="4069675"/>
            <a:ext cx="8222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="0" i="1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is the number of pixels with with intensity </a:t>
            </a:r>
            <a:r>
              <a:rPr b="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="0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is the total number of pixels</a:t>
            </a:r>
            <a:endParaRPr b="0" baseline="-2500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Normalized histogram is also called the probability density function (PDF) - why?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0250" y="3681400"/>
            <a:ext cx="1203488" cy="4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18500"/>
            <a:ext cx="2560321" cy="25603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" name="Google Shape;8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1974" y="2318500"/>
            <a:ext cx="3482035" cy="25603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" name="Google Shape;87;p3"/>
          <p:cNvGraphicFramePr/>
          <p:nvPr/>
        </p:nvGraphicFramePr>
        <p:xfrm>
          <a:off x="3166275" y="250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{35882063-F85C-4262-BCFF-7C8CF0552B12}</a:tableStyleId>
              </a:tblPr>
              <a:tblGrid>
                <a:gridCol w="631250"/>
                <a:gridCol w="631250"/>
              </a:tblGrid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</a:t>
                      </a:r>
                      <a:r>
                        <a:rPr baseline="-25000"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k</a:t>
                      </a:r>
                      <a:endParaRPr baseline="-25000" sz="14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</a:t>
                      </a:r>
                      <a:r>
                        <a:rPr baseline="-25000"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k</a:t>
                      </a:r>
                      <a:endParaRPr baseline="-25000" sz="14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8" name="Google Shape;88;p3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(4 x 4) image with 2 bit or 4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1148" y="2318500"/>
            <a:ext cx="3622851" cy="256031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2318500"/>
            <a:ext cx="2560321" cy="256032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6" name="Google Shape;96;p4"/>
          <p:cNvGraphicFramePr/>
          <p:nvPr/>
        </p:nvGraphicFramePr>
        <p:xfrm>
          <a:off x="3166275" y="250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{35882063-F85C-4262-BCFF-7C8CF0552B12}</a:tableStyleId>
              </a:tblPr>
              <a:tblGrid>
                <a:gridCol w="631250"/>
                <a:gridCol w="631250"/>
                <a:gridCol w="631250"/>
              </a:tblGrid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</a:t>
                      </a:r>
                      <a:r>
                        <a:rPr baseline="-25000"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k</a:t>
                      </a:r>
                      <a:endParaRPr baseline="-25000" sz="14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n</a:t>
                      </a:r>
                      <a:r>
                        <a:rPr baseline="-25000"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k</a:t>
                      </a:r>
                      <a:endParaRPr baseline="-25000" sz="14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f</a:t>
                      </a:r>
                      <a:r>
                        <a:rPr baseline="-25000"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</a:t>
                      </a:r>
                      <a:r>
                        <a:rPr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(r</a:t>
                      </a:r>
                      <a:r>
                        <a:rPr baseline="-25000"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k</a:t>
                      </a:r>
                      <a:r>
                        <a:rPr lang="en" sz="14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)</a:t>
                      </a:r>
                      <a:endParaRPr sz="14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0.31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0.38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0.12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0.19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7" name="Google Shape;97;p4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(4 x 4) image with 2 bit or 4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Histograms are not unique!</a:t>
            </a:r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All of these images have the exact same histogram (equal number of black and white)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71888"/>
            <a:ext cx="2505075" cy="25050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" name="Google Shape;1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0400" y="2371888"/>
            <a:ext cx="2505075" cy="25050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" name="Google Shape;10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8925" y="2371888"/>
            <a:ext cx="2505075" cy="25050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8500" y="2326300"/>
            <a:ext cx="2885914" cy="250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2125" y="2308000"/>
            <a:ext cx="2542032" cy="25420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" name="Google Shape;113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Histograms are not unique!</a:t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second image is a pixel permutation of the first image, hence same histogram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888" y="2326287"/>
            <a:ext cx="2505456" cy="250545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500" y="4079850"/>
            <a:ext cx="2094995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Definition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471900" y="1695900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a given gray level, </a:t>
            </a:r>
            <a:r>
              <a:rPr b="1" i="0" lang="en" sz="16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many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pixels have values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≤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that value.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471900" y="2468875"/>
            <a:ext cx="8222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="0" i="1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is the number of pixels with with intensity ≤ </a:t>
            </a:r>
            <a:r>
              <a:rPr b="0" i="1" lang="en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b="0" baseline="-2500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baseline="-2500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Integration of histogram = cumulative histogram.</a:t>
            </a:r>
            <a:br>
              <a:rPr b="0" baseline="-2500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Normalized cumulative histogram: for each gray level, </a:t>
            </a:r>
            <a:r>
              <a:rPr b="1" i="0" lang="en" sz="16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percentage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of pixels have values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≤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that value. Also now as cumulative density function (CDF).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460950" y="4403950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●"/>
            </a:pPr>
            <a:r>
              <a:rPr b="0" i="0" lang="en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Interpretation of CDF(r) = probability that a randomly chosen pixel will have value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≤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6375" y="2127002"/>
            <a:ext cx="4273149" cy="4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8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3" name="Google Shape;133;p8"/>
          <p:cNvGraphicFramePr/>
          <p:nvPr/>
        </p:nvGraphicFramePr>
        <p:xfrm>
          <a:off x="33873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1023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850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" name="Google Shape;140;p9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</a:t>
            </a:r>
            <a:r>
              <a:rPr b="1" i="0" lang="en" sz="16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64</a:t>
            </a:r>
            <a:r>
              <a:rPr b="0" i="0" lang="en" sz="16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x 64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1" name="Google Shape;141;p9"/>
          <p:cNvGraphicFramePr/>
          <p:nvPr/>
        </p:nvGraphicFramePr>
        <p:xfrm>
          <a:off x="33873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790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 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(=</a:t>
                      </a: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790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/</a:t>
                      </a:r>
                      <a:r>
                        <a:rPr b="1" lang="en" sz="1200" u="none" cap="none" strike="noStrike">
                          <a:solidFill>
                            <a:schemeClr val="accent6"/>
                          </a:solidFill>
                        </a:rPr>
                        <a:t>4096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2"/>
                          </a:solidFill>
                        </a:rPr>
                        <a:t>1023</a:t>
                      </a:r>
                      <a:endParaRPr b="1" sz="1200" u="none" cap="none" strike="noStrike">
                        <a:solidFill>
                          <a:schemeClr val="accent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 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(=</a:t>
                      </a:r>
                      <a:r>
                        <a:rPr b="1" lang="en" sz="1200" u="none" cap="none" strike="noStrike">
                          <a:solidFill>
                            <a:schemeClr val="accent2"/>
                          </a:solidFill>
                        </a:rPr>
                        <a:t>1023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/</a:t>
                      </a:r>
                      <a:r>
                        <a:rPr b="1" lang="en" sz="1200" u="none" cap="none" strike="noStrike">
                          <a:solidFill>
                            <a:schemeClr val="accent6"/>
                          </a:solidFill>
                        </a:rPr>
                        <a:t>4096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)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850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10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9" name="Google Shape;149;p10"/>
          <p:cNvGraphicFramePr/>
          <p:nvPr/>
        </p:nvGraphicFramePr>
        <p:xfrm>
          <a:off x="33873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1023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850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p11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7" name="Google Shape;157;p11"/>
          <p:cNvGraphicFramePr/>
          <p:nvPr/>
        </p:nvGraphicFramePr>
        <p:xfrm>
          <a:off x="33873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790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790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1023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850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4" name="Google Shape;164;p12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5" name="Google Shape;165;p12"/>
          <p:cNvGraphicFramePr/>
          <p:nvPr/>
        </p:nvGraphicFramePr>
        <p:xfrm>
          <a:off x="33873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790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3"/>
                          </a:solidFill>
                        </a:rPr>
                        <a:t>1023</a:t>
                      </a:r>
                      <a:endParaRPr b="1" sz="12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2"/>
                          </a:solidFill>
                        </a:rPr>
                        <a:t>1813</a:t>
                      </a:r>
                      <a:r>
                        <a:rPr lang="en" sz="1200" u="none" cap="none" strike="noStrike"/>
                        <a:t> 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(=</a:t>
                      </a: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790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+</a:t>
                      </a:r>
                      <a:r>
                        <a:rPr b="1" lang="en" sz="1200" u="none" cap="none" strike="noStrike">
                          <a:solidFill>
                            <a:schemeClr val="accent3"/>
                          </a:solidFill>
                        </a:rPr>
                        <a:t>1023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850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" name="Google Shape;172;p13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3" name="Google Shape;173;p13"/>
          <p:cNvGraphicFramePr/>
          <p:nvPr/>
        </p:nvGraphicFramePr>
        <p:xfrm>
          <a:off x="33873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790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0.19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790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1023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0.25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1813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3"/>
                          </a:solidFill>
                        </a:rPr>
                        <a:t>850</a:t>
                      </a:r>
                      <a:endParaRPr b="1" sz="12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2"/>
                          </a:solidFill>
                        </a:rPr>
                        <a:t>2663</a:t>
                      </a:r>
                      <a:r>
                        <a:rPr lang="en" sz="1200" u="none" cap="none" strike="noStrike">
                          <a:solidFill>
                            <a:srgbClr val="050505"/>
                          </a:solidFill>
                        </a:rPr>
                        <a:t> = (</a:t>
                      </a: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1813</a:t>
                      </a:r>
                      <a:r>
                        <a:rPr lang="en" sz="1200" u="none" cap="none" strike="noStrike">
                          <a:solidFill>
                            <a:srgbClr val="050505"/>
                          </a:solidFill>
                        </a:rPr>
                        <a:t>+</a:t>
                      </a:r>
                      <a:r>
                        <a:rPr b="1" lang="en" sz="1200" u="none" cap="none" strike="noStrike">
                          <a:solidFill>
                            <a:schemeClr val="accent3"/>
                          </a:solidFill>
                        </a:rPr>
                        <a:t>850</a:t>
                      </a:r>
                      <a:r>
                        <a:rPr lang="en" sz="1200" u="none" cap="none" strike="noStrike">
                          <a:solidFill>
                            <a:srgbClr val="050505"/>
                          </a:solidFill>
                        </a:rPr>
                        <a:t>) </a:t>
                      </a:r>
                      <a:endParaRPr sz="1200" u="none" cap="none" strike="noStrike">
                        <a:solidFill>
                          <a:srgbClr val="05050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0" name="Google Shape;180;p14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1" name="Google Shape;181;p14"/>
          <p:cNvGraphicFramePr/>
          <p:nvPr/>
        </p:nvGraphicFramePr>
        <p:xfrm>
          <a:off x="33873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790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0.19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790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1023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0.25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1813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850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50505"/>
                          </a:solidFill>
                        </a:rPr>
                        <a:t>2663</a:t>
                      </a:r>
                      <a:endParaRPr sz="1200" u="none" cap="none" strike="noStrike">
                        <a:solidFill>
                          <a:srgbClr val="05050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3319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3648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3893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4015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4096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187" name="Google Shape;1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8" name="Google Shape;188;p15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9" name="Google Shape;189;p15"/>
          <p:cNvGraphicFramePr/>
          <p:nvPr/>
        </p:nvGraphicFramePr>
        <p:xfrm>
          <a:off x="33873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  <a:gridCol w="12253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[CDF]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790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0.19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790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1023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0.25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1813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0.44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850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50505"/>
                          </a:solidFill>
                        </a:rPr>
                        <a:t>2663</a:t>
                      </a:r>
                      <a:endParaRPr sz="1200" u="none" cap="none" strike="noStrike">
                        <a:solidFill>
                          <a:srgbClr val="05050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0.65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3319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3648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3893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4015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4096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1.00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195" name="Google Shape;1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6" name="Google Shape;196;p16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7" name="Google Shape;197;p16"/>
          <p:cNvGraphicFramePr/>
          <p:nvPr/>
        </p:nvGraphicFramePr>
        <p:xfrm>
          <a:off x="33873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  <a:gridCol w="12253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[CDF]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790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3"/>
                          </a:solidFill>
                        </a:rPr>
                        <a:t>1023</a:t>
                      </a:r>
                      <a:endParaRPr b="1" sz="12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2"/>
                          </a:solidFill>
                        </a:rPr>
                        <a:t>1813</a:t>
                      </a:r>
                      <a:r>
                        <a:rPr lang="en" sz="1200" u="none" cap="none" strike="noStrike"/>
                        <a:t> 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(=</a:t>
                      </a: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790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+</a:t>
                      </a:r>
                      <a:r>
                        <a:rPr b="1" lang="en" sz="1200" u="none" cap="none" strike="noStrike">
                          <a:solidFill>
                            <a:schemeClr val="accent3"/>
                          </a:solidFill>
                        </a:rPr>
                        <a:t>1023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0.44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850</a:t>
                      </a:r>
                      <a:endParaRPr sz="12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050505"/>
                          </a:solidFill>
                        </a:rPr>
                        <a:t>2663</a:t>
                      </a:r>
                      <a:endParaRPr sz="1200" u="none" cap="none" strike="noStrike">
                        <a:solidFill>
                          <a:srgbClr val="05050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0.65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3319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3648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3893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4015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4096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1.00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203" name="Google Shape;2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17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05" name="Google Shape;205;p17"/>
          <p:cNvGraphicFramePr/>
          <p:nvPr/>
        </p:nvGraphicFramePr>
        <p:xfrm>
          <a:off x="338730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  <a:gridCol w="12253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[CDF]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790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3"/>
                          </a:solidFill>
                        </a:rPr>
                        <a:t>1023</a:t>
                      </a:r>
                      <a:endParaRPr b="1" sz="12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2"/>
                          </a:solidFill>
                        </a:rPr>
                        <a:t>1813</a:t>
                      </a:r>
                      <a:r>
                        <a:rPr lang="en" sz="1200" u="none" cap="none" strike="noStrike"/>
                        <a:t> 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(=</a:t>
                      </a: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790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+</a:t>
                      </a:r>
                      <a:r>
                        <a:rPr b="1" lang="en" sz="1200" u="none" cap="none" strike="noStrike">
                          <a:solidFill>
                            <a:schemeClr val="accent3"/>
                          </a:solidFill>
                        </a:rPr>
                        <a:t>1023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0.44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6"/>
                          </a:solidFill>
                        </a:rPr>
                        <a:t>850</a:t>
                      </a:r>
                      <a:endParaRPr b="1" sz="12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9900FF"/>
                          </a:solidFill>
                        </a:rPr>
                        <a:t>2663</a:t>
                      </a:r>
                      <a:r>
                        <a:rPr lang="en" sz="1200" u="none" cap="none" strike="noStrike"/>
                        <a:t> 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(=</a:t>
                      </a:r>
                      <a:r>
                        <a:rPr b="1" lang="en" sz="1200" u="none" cap="none" strike="noStrike">
                          <a:solidFill>
                            <a:schemeClr val="accent2"/>
                          </a:solidFill>
                        </a:rPr>
                        <a:t>1813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+</a:t>
                      </a:r>
                      <a:r>
                        <a:rPr b="1" lang="en" sz="1200" u="none" cap="none" strike="noStrike">
                          <a:solidFill>
                            <a:schemeClr val="accent6"/>
                          </a:solidFill>
                        </a:rPr>
                        <a:t>850</a:t>
                      </a:r>
                      <a:r>
                        <a:rPr lang="en" sz="1200" u="none" cap="none" strike="noStrike">
                          <a:solidFill>
                            <a:srgbClr val="9E9E9E"/>
                          </a:solidFill>
                        </a:rPr>
                        <a:t>)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0.65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3319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3648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3893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4015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4096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1.00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p18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5500" y="2555688"/>
            <a:ext cx="5881273" cy="2137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6338" y="2553995"/>
            <a:ext cx="5879593" cy="214053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Cumulative 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220" name="Google Shape;2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2381250"/>
            <a:ext cx="2486025" cy="248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" name="Google Shape;221;p19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4050" y="1846488"/>
            <a:ext cx="5029200" cy="23033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7" name="Google Shape;227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More Example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471900" y="4162313"/>
            <a:ext cx="8222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Histogram of a dark image.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histogram is concentrated in the low-range gray values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1834025"/>
            <a:ext cx="3079377" cy="232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4050" y="1836425"/>
            <a:ext cx="5029200" cy="23234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813" y="1830925"/>
            <a:ext cx="3081528" cy="23344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6" name="Google Shape;236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More Example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71900" y="4162313"/>
            <a:ext cx="8222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Histogram of a bright image.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histogram is concentrated in the high-range gray values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813" y="1830925"/>
            <a:ext cx="3081528" cy="23344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4050" y="1846488"/>
            <a:ext cx="5029200" cy="23033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More Example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471900" y="4162313"/>
            <a:ext cx="822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Histogram of a low contrast image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histogram is concentrated in the mid-range gray values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image looks “washed-out”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813" y="1830925"/>
            <a:ext cx="3081528" cy="23344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4050" y="1846488"/>
            <a:ext cx="5029200" cy="23033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2" name="Google Shape;252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More Example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71900" y="4162313"/>
            <a:ext cx="822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Histogram of a high contrast image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histogram is (somewhat) uniformly distributed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Contrast can be further increased by “flattening” the histogram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325" y="1811788"/>
            <a:ext cx="3092611" cy="23500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9" name="Google Shape;259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More Example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471900" y="4162313"/>
            <a:ext cx="8222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Histograms of a color image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distribution of the three color channels are calculated separately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1" name="Google Shape;2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8661" y="1811238"/>
            <a:ext cx="2831991" cy="23510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Stretching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Histogram Point of View</a:t>
            </a:r>
            <a:endParaRPr/>
          </a:p>
        </p:txBody>
      </p:sp>
      <p:pic>
        <p:nvPicPr>
          <p:cNvPr id="267" name="Google Shape;2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13" y="1748788"/>
            <a:ext cx="3374136" cy="16459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8" name="Google Shape;2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25" y="3497575"/>
            <a:ext cx="3374136" cy="16459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9" name="Google Shape;269;p25"/>
          <p:cNvSpPr/>
          <p:nvPr/>
        </p:nvSpPr>
        <p:spPr>
          <a:xfrm>
            <a:off x="2933725" y="2495550"/>
            <a:ext cx="1131900" cy="1848900"/>
          </a:xfrm>
          <a:prstGeom prst="arc">
            <a:avLst>
              <a:gd fmla="val 16200000" name="adj1"/>
              <a:gd fmla="val 5178137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4073100" y="3219900"/>
            <a:ext cx="10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= T(r)?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Stretching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Histogram Point of View</a:t>
            </a:r>
            <a:endParaRPr/>
          </a:p>
        </p:txBody>
      </p:sp>
      <p:pic>
        <p:nvPicPr>
          <p:cNvPr id="276" name="Google Shape;2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13" y="1748788"/>
            <a:ext cx="3374136" cy="16459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7" name="Google Shape;2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25" y="3497575"/>
            <a:ext cx="3374136" cy="16459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8" name="Google Shape;278;p26"/>
          <p:cNvSpPr/>
          <p:nvPr/>
        </p:nvSpPr>
        <p:spPr>
          <a:xfrm>
            <a:off x="2933725" y="2495550"/>
            <a:ext cx="1131900" cy="1848900"/>
          </a:xfrm>
          <a:prstGeom prst="arc">
            <a:avLst>
              <a:gd fmla="val 16200000" name="adj1"/>
              <a:gd fmla="val 5178137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4073100" y="3219900"/>
            <a:ext cx="10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= T(r)?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0" name="Google Shape;280;p26"/>
          <p:cNvCxnSpPr/>
          <p:nvPr/>
        </p:nvCxnSpPr>
        <p:spPr>
          <a:xfrm flipH="1">
            <a:off x="560275" y="3260900"/>
            <a:ext cx="728400" cy="1737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" name="Google Shape;281;p26"/>
          <p:cNvCxnSpPr/>
          <p:nvPr/>
        </p:nvCxnSpPr>
        <p:spPr>
          <a:xfrm>
            <a:off x="2342025" y="3294525"/>
            <a:ext cx="986100" cy="17595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2" name="Google Shape;282;p26"/>
          <p:cNvSpPr txBox="1"/>
          <p:nvPr/>
        </p:nvSpPr>
        <p:spPr>
          <a:xfrm>
            <a:off x="997375" y="2994500"/>
            <a:ext cx="2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b="1" i="0" sz="14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26"/>
          <p:cNvSpPr txBox="1"/>
          <p:nvPr/>
        </p:nvSpPr>
        <p:spPr>
          <a:xfrm>
            <a:off x="2263575" y="2994500"/>
            <a:ext cx="2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1" i="0" sz="14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737425" y="1695150"/>
            <a:ext cx="22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→ 0        H → 255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Stretching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Histogram Point of View</a:t>
            </a:r>
            <a:endParaRPr/>
          </a:p>
        </p:txBody>
      </p:sp>
      <p:pic>
        <p:nvPicPr>
          <p:cNvPr id="290" name="Google Shape;2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13" y="1748788"/>
            <a:ext cx="3374136" cy="16459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1" name="Google Shape;2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25" y="3497575"/>
            <a:ext cx="3374136" cy="16459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2" name="Google Shape;292;p27"/>
          <p:cNvSpPr/>
          <p:nvPr/>
        </p:nvSpPr>
        <p:spPr>
          <a:xfrm>
            <a:off x="2933725" y="2495550"/>
            <a:ext cx="1131900" cy="1848900"/>
          </a:xfrm>
          <a:prstGeom prst="arc">
            <a:avLst>
              <a:gd fmla="val 16200000" name="adj1"/>
              <a:gd fmla="val 5178137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4073100" y="3219900"/>
            <a:ext cx="10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= T(r)?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4" name="Google Shape;294;p27"/>
          <p:cNvCxnSpPr/>
          <p:nvPr/>
        </p:nvCxnSpPr>
        <p:spPr>
          <a:xfrm flipH="1">
            <a:off x="560275" y="3260900"/>
            <a:ext cx="728400" cy="1737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" name="Google Shape;295;p27"/>
          <p:cNvCxnSpPr/>
          <p:nvPr/>
        </p:nvCxnSpPr>
        <p:spPr>
          <a:xfrm>
            <a:off x="2342025" y="3294525"/>
            <a:ext cx="986100" cy="17595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" name="Google Shape;296;p27"/>
          <p:cNvSpPr txBox="1"/>
          <p:nvPr/>
        </p:nvSpPr>
        <p:spPr>
          <a:xfrm>
            <a:off x="997375" y="2994500"/>
            <a:ext cx="2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b="1" i="0" sz="14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2263575" y="2994500"/>
            <a:ext cx="2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1" i="0" sz="14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27"/>
          <p:cNvSpPr txBox="1"/>
          <p:nvPr/>
        </p:nvSpPr>
        <p:spPr>
          <a:xfrm>
            <a:off x="5737425" y="1695150"/>
            <a:ext cx="22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→ 0        H → 255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9" name="Google Shape;29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2975" y="2095350"/>
            <a:ext cx="1781291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Stretching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Histogram Point of View</a:t>
            </a:r>
            <a:endParaRPr/>
          </a:p>
        </p:txBody>
      </p:sp>
      <p:pic>
        <p:nvPicPr>
          <p:cNvPr id="305" name="Google Shape;3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13" y="1748788"/>
            <a:ext cx="3374136" cy="16459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6" name="Google Shape;30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25" y="3497575"/>
            <a:ext cx="3374136" cy="16459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7" name="Google Shape;307;p28"/>
          <p:cNvSpPr/>
          <p:nvPr/>
        </p:nvSpPr>
        <p:spPr>
          <a:xfrm>
            <a:off x="2933725" y="2495550"/>
            <a:ext cx="1131900" cy="1848900"/>
          </a:xfrm>
          <a:prstGeom prst="arc">
            <a:avLst>
              <a:gd fmla="val 16200000" name="adj1"/>
              <a:gd fmla="val 5178137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4073100" y="3219900"/>
            <a:ext cx="10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= T(r)?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9" name="Google Shape;309;p28"/>
          <p:cNvCxnSpPr/>
          <p:nvPr/>
        </p:nvCxnSpPr>
        <p:spPr>
          <a:xfrm flipH="1">
            <a:off x="560275" y="3260900"/>
            <a:ext cx="728400" cy="1737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0" name="Google Shape;310;p28"/>
          <p:cNvCxnSpPr/>
          <p:nvPr/>
        </p:nvCxnSpPr>
        <p:spPr>
          <a:xfrm>
            <a:off x="2342025" y="3294525"/>
            <a:ext cx="986100" cy="17595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" name="Google Shape;311;p28"/>
          <p:cNvSpPr txBox="1"/>
          <p:nvPr/>
        </p:nvSpPr>
        <p:spPr>
          <a:xfrm>
            <a:off x="997375" y="2994500"/>
            <a:ext cx="2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b="1" i="0" sz="14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2263575" y="2994500"/>
            <a:ext cx="2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1" i="0" sz="14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28"/>
          <p:cNvSpPr txBox="1"/>
          <p:nvPr/>
        </p:nvSpPr>
        <p:spPr>
          <a:xfrm>
            <a:off x="5737425" y="1695150"/>
            <a:ext cx="22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→ 0        H → 255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4" name="Google Shape;31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2975" y="2095350"/>
            <a:ext cx="1781291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3100" y="2739201"/>
            <a:ext cx="4236073" cy="225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Stretching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Histogram Point of View</a:t>
            </a:r>
            <a:endParaRPr/>
          </a:p>
        </p:txBody>
      </p:sp>
      <p:pic>
        <p:nvPicPr>
          <p:cNvPr id="321" name="Google Shape;3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13" y="1748788"/>
            <a:ext cx="3374136" cy="16459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2" name="Google Shape;32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25" y="3497575"/>
            <a:ext cx="3374136" cy="16459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3" name="Google Shape;323;p29"/>
          <p:cNvSpPr/>
          <p:nvPr/>
        </p:nvSpPr>
        <p:spPr>
          <a:xfrm>
            <a:off x="2933725" y="2495550"/>
            <a:ext cx="1131900" cy="1848900"/>
          </a:xfrm>
          <a:prstGeom prst="arc">
            <a:avLst>
              <a:gd fmla="val 16200000" name="adj1"/>
              <a:gd fmla="val 5178137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4073100" y="3219900"/>
            <a:ext cx="10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= T(r)?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5" name="Google Shape;325;p29"/>
          <p:cNvCxnSpPr/>
          <p:nvPr/>
        </p:nvCxnSpPr>
        <p:spPr>
          <a:xfrm flipH="1">
            <a:off x="560275" y="3260900"/>
            <a:ext cx="728400" cy="1737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6" name="Google Shape;326;p29"/>
          <p:cNvCxnSpPr/>
          <p:nvPr/>
        </p:nvCxnSpPr>
        <p:spPr>
          <a:xfrm>
            <a:off x="2342025" y="3294525"/>
            <a:ext cx="986100" cy="17595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7" name="Google Shape;327;p29"/>
          <p:cNvSpPr txBox="1"/>
          <p:nvPr/>
        </p:nvSpPr>
        <p:spPr>
          <a:xfrm>
            <a:off x="997375" y="2994500"/>
            <a:ext cx="2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b="1" i="0" sz="14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29"/>
          <p:cNvSpPr txBox="1"/>
          <p:nvPr/>
        </p:nvSpPr>
        <p:spPr>
          <a:xfrm>
            <a:off x="2263575" y="2994500"/>
            <a:ext cx="2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1" i="0" sz="14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9" name="Google Shape;32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72600" y="1796938"/>
            <a:ext cx="2994776" cy="296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9"/>
          <p:cNvSpPr txBox="1"/>
          <p:nvPr/>
        </p:nvSpPr>
        <p:spPr>
          <a:xfrm>
            <a:off x="5472600" y="4766163"/>
            <a:ext cx="322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Stretching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Histogram Point of View</a:t>
            </a:r>
            <a:endParaRPr/>
          </a:p>
        </p:txBody>
      </p:sp>
      <p:pic>
        <p:nvPicPr>
          <p:cNvPr id="336" name="Google Shape;3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" y="1723375"/>
            <a:ext cx="3017518" cy="203179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7" name="Google Shape;33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3247" y="1723375"/>
            <a:ext cx="3017518" cy="203179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8" name="Google Shape;338;p30"/>
          <p:cNvSpPr txBox="1"/>
          <p:nvPr/>
        </p:nvSpPr>
        <p:spPr>
          <a:xfrm>
            <a:off x="39900" y="3354975"/>
            <a:ext cx="3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400" u="none" cap="none" strike="noStrike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3121788" y="3354975"/>
            <a:ext cx="3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400" u="none" cap="none" strike="noStrike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63238" y="3754899"/>
            <a:ext cx="3017518" cy="138859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1" name="Google Shape;34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3755164"/>
            <a:ext cx="3017518" cy="138805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2" name="Google Shape;342;p30"/>
          <p:cNvSpPr txBox="1"/>
          <p:nvPr/>
        </p:nvSpPr>
        <p:spPr>
          <a:xfrm>
            <a:off x="0" y="4743025"/>
            <a:ext cx="26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4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30"/>
          <p:cNvSpPr txBox="1"/>
          <p:nvPr/>
        </p:nvSpPr>
        <p:spPr>
          <a:xfrm>
            <a:off x="3101825" y="4743025"/>
            <a:ext cx="26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4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Can we do better?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Can we do better? - YES!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Demo</a:t>
            </a:r>
            <a:endParaRPr/>
          </a:p>
        </p:txBody>
      </p:sp>
      <p:pic>
        <p:nvPicPr>
          <p:cNvPr id="359" name="Google Shape;3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" y="1723375"/>
            <a:ext cx="3017518" cy="203179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0" name="Google Shape;36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3247" y="1723375"/>
            <a:ext cx="3017518" cy="203179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1" name="Google Shape;361;p33"/>
          <p:cNvSpPr txBox="1"/>
          <p:nvPr/>
        </p:nvSpPr>
        <p:spPr>
          <a:xfrm>
            <a:off x="39900" y="3354975"/>
            <a:ext cx="3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400" u="none" cap="none" strike="noStrike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121788" y="3354975"/>
            <a:ext cx="3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400" u="none" cap="none" strike="noStrike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3" name="Google Shape;36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63238" y="3754899"/>
            <a:ext cx="3017518" cy="138859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4" name="Google Shape;36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3755164"/>
            <a:ext cx="3017518" cy="138805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5" name="Google Shape;365;p33"/>
          <p:cNvSpPr txBox="1"/>
          <p:nvPr/>
        </p:nvSpPr>
        <p:spPr>
          <a:xfrm>
            <a:off x="0" y="4743025"/>
            <a:ext cx="26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4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3"/>
          <p:cNvSpPr txBox="1"/>
          <p:nvPr/>
        </p:nvSpPr>
        <p:spPr>
          <a:xfrm>
            <a:off x="3101825" y="4743025"/>
            <a:ext cx="26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4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7" name="Google Shape;367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26490" y="1720100"/>
            <a:ext cx="3017518" cy="202996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8" name="Google Shape;368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26475" y="3754252"/>
            <a:ext cx="3017518" cy="138988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Motivation - Entropy</a:t>
            </a:r>
            <a:endParaRPr/>
          </a:p>
        </p:txBody>
      </p:sp>
      <p:sp>
        <p:nvSpPr>
          <p:cNvPr id="374" name="Google Shape;374;p34"/>
          <p:cNvSpPr txBox="1"/>
          <p:nvPr/>
        </p:nvSpPr>
        <p:spPr>
          <a:xfrm>
            <a:off x="471900" y="2404600"/>
            <a:ext cx="7149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Entropy specifies the uncertainty of image pixels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Uncertain events have more information than certain events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Entropy is a measure of dispersion of histograms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Uniform distribution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dispersed, high entropy, high contrast (desirable)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5" name="Google Shape;37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8575" y="1889600"/>
            <a:ext cx="2866851" cy="51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34"/>
          <p:cNvGrpSpPr/>
          <p:nvPr/>
        </p:nvGrpSpPr>
        <p:grpSpPr>
          <a:xfrm>
            <a:off x="678050" y="3451305"/>
            <a:ext cx="3893951" cy="1112119"/>
            <a:chOff x="678050" y="3451305"/>
            <a:chExt cx="3893951" cy="1112119"/>
          </a:xfrm>
        </p:grpSpPr>
        <p:pic>
          <p:nvPicPr>
            <p:cNvPr id="377" name="Google Shape;377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8050" y="3451305"/>
              <a:ext cx="1470880" cy="1112117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78" name="Google Shape;378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48931" y="3451307"/>
              <a:ext cx="2423070" cy="1112117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379" name="Google Shape;379;p34"/>
          <p:cNvGrpSpPr/>
          <p:nvPr/>
        </p:nvGrpSpPr>
        <p:grpSpPr>
          <a:xfrm>
            <a:off x="4571993" y="3451299"/>
            <a:ext cx="3893957" cy="1112125"/>
            <a:chOff x="4571993" y="3451299"/>
            <a:chExt cx="3893957" cy="1112125"/>
          </a:xfrm>
        </p:grpSpPr>
        <p:pic>
          <p:nvPicPr>
            <p:cNvPr id="380" name="Google Shape;380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71993" y="3451299"/>
              <a:ext cx="1470880" cy="111211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81" name="Google Shape;381;p3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042880" y="3451307"/>
              <a:ext cx="2423070" cy="111211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382" name="Google Shape;382;p34"/>
          <p:cNvSpPr txBox="1"/>
          <p:nvPr/>
        </p:nvSpPr>
        <p:spPr>
          <a:xfrm>
            <a:off x="1503625" y="4563425"/>
            <a:ext cx="22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Entropy = 6.34</a:t>
            </a:r>
            <a:endParaRPr b="0" i="0" sz="1400" u="none" cap="none" strike="noStrike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34"/>
          <p:cNvSpPr txBox="1"/>
          <p:nvPr/>
        </p:nvSpPr>
        <p:spPr>
          <a:xfrm>
            <a:off x="5397563" y="4563425"/>
            <a:ext cx="22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Entropy = 7.64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Motivation - Uniform Distribution</a:t>
            </a:r>
            <a:endParaRPr/>
          </a:p>
        </p:txBody>
      </p:sp>
      <p:pic>
        <p:nvPicPr>
          <p:cNvPr id="389" name="Google Shape;38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6699" y="1927150"/>
            <a:ext cx="4114798" cy="2160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1952875"/>
            <a:ext cx="4114800" cy="2108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8400" y="4174076"/>
            <a:ext cx="4637477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400" y="4660929"/>
            <a:ext cx="3852843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6700" y="1951152"/>
            <a:ext cx="4114798" cy="211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1951150"/>
            <a:ext cx="4114800" cy="211226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Motivation - Uniform Distribution</a:t>
            </a:r>
            <a:endParaRPr/>
          </a:p>
        </p:txBody>
      </p:sp>
      <p:pic>
        <p:nvPicPr>
          <p:cNvPr id="400" name="Google Shape;40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8400" y="4174076"/>
            <a:ext cx="4637477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400" y="4684925"/>
            <a:ext cx="3511549" cy="2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Basic Idea for Histogram Equalization</a:t>
            </a:r>
            <a:endParaRPr/>
          </a:p>
        </p:txBody>
      </p:sp>
      <p:pic>
        <p:nvPicPr>
          <p:cNvPr id="407" name="Google Shape;40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062975"/>
            <a:ext cx="3539575" cy="158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7"/>
          <p:cNvSpPr txBox="1"/>
          <p:nvPr/>
        </p:nvSpPr>
        <p:spPr>
          <a:xfrm>
            <a:off x="471838" y="4019450"/>
            <a:ext cx="3539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Goal</a:t>
            </a:r>
            <a:r>
              <a:rPr b="0" i="0" lang="en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Find a map s = T(r) such that the resulting PDF is flat, i.e., the resulting CDF is linear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7"/>
          <p:cNvSpPr txBox="1"/>
          <p:nvPr/>
        </p:nvSpPr>
        <p:spPr>
          <a:xfrm>
            <a:off x="471825" y="3650150"/>
            <a:ext cx="353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Zefram - Own work, Public Domain, https://commons.wikimedia.org/w/index.php?curid=668605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Basic Idea for Histogram Equalization</a:t>
            </a:r>
            <a:endParaRPr/>
          </a:p>
        </p:txBody>
      </p:sp>
      <p:sp>
        <p:nvSpPr>
          <p:cNvPr id="415" name="Google Shape;415;p38"/>
          <p:cNvSpPr txBox="1"/>
          <p:nvPr/>
        </p:nvSpPr>
        <p:spPr>
          <a:xfrm>
            <a:off x="4657575" y="1725150"/>
            <a:ext cx="4036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Observation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(Assuming normalized gray values)</a:t>
            </a: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an ideal uniform distribution, y% pixels have values less than y [see the CDF]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Reverse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A pixel with y% pixels having smaller values than itself should have a value y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6" name="Google Shape;41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062975"/>
            <a:ext cx="3539575" cy="158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8"/>
          <p:cNvSpPr txBox="1"/>
          <p:nvPr/>
        </p:nvSpPr>
        <p:spPr>
          <a:xfrm>
            <a:off x="471838" y="4019450"/>
            <a:ext cx="3539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Goal</a:t>
            </a:r>
            <a:r>
              <a:rPr b="0" i="0" lang="en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Find a map s = T(r) such that the resulting PDF is flat, i.e., the resulting CDF is linear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8"/>
          <p:cNvSpPr txBox="1"/>
          <p:nvPr/>
        </p:nvSpPr>
        <p:spPr>
          <a:xfrm>
            <a:off x="471825" y="3650150"/>
            <a:ext cx="353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Zefram - Own work, Public Domain, https://commons.wikimedia.org/w/index.php?curid=668605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Basic Idea for Histogram Equalization</a:t>
            </a:r>
            <a:endParaRPr/>
          </a:p>
        </p:txBody>
      </p:sp>
      <p:sp>
        <p:nvSpPr>
          <p:cNvPr id="424" name="Google Shape;424;p39"/>
          <p:cNvSpPr txBox="1"/>
          <p:nvPr/>
        </p:nvSpPr>
        <p:spPr>
          <a:xfrm>
            <a:off x="4657575" y="1725150"/>
            <a:ext cx="4036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Observation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(Assuming normalized gray values)</a:t>
            </a: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an ideal uniform distribution, y% pixels have values less than y [see the CDF]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Reverse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A pixel with y% pixels having smaller values than itself should have a value y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5" name="Google Shape;4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2062975"/>
            <a:ext cx="3539575" cy="158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9"/>
          <p:cNvSpPr txBox="1"/>
          <p:nvPr/>
        </p:nvSpPr>
        <p:spPr>
          <a:xfrm>
            <a:off x="471838" y="4019450"/>
            <a:ext cx="3539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Goal</a:t>
            </a:r>
            <a:r>
              <a:rPr b="0" i="0" lang="en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Find a map s = T(r) such that the resulting PDF is flat, i.e., the resulting CDF is linear</a:t>
            </a:r>
            <a:endParaRPr b="0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39"/>
          <p:cNvSpPr txBox="1"/>
          <p:nvPr/>
        </p:nvSpPr>
        <p:spPr>
          <a:xfrm>
            <a:off x="471825" y="3650150"/>
            <a:ext cx="353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Zefram - Own work, Public Domain, https://commons.wikimedia.org/w/index.php?curid=668605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39"/>
          <p:cNvSpPr txBox="1"/>
          <p:nvPr/>
        </p:nvSpPr>
        <p:spPr>
          <a:xfrm>
            <a:off x="4657575" y="3450300"/>
            <a:ext cx="4036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Idea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(Assuming normalized gray values [0, 1])</a:t>
            </a: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a given gray value x, we know the percentage of pixels with values ≤ x (CDF)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Hence, map x to its CDF value to get a flat histogram/linear CDF.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188" y="1842599"/>
            <a:ext cx="6355078" cy="3242011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Basic Idea for Histogram Equalization</a:t>
            </a:r>
            <a:endParaRPr/>
          </a:p>
        </p:txBody>
      </p:sp>
      <p:pic>
        <p:nvPicPr>
          <p:cNvPr id="435" name="Google Shape;43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9225" y="4512125"/>
            <a:ext cx="692600" cy="225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0"/>
          <p:cNvSpPr/>
          <p:nvPr/>
        </p:nvSpPr>
        <p:spPr>
          <a:xfrm>
            <a:off x="3361750" y="4737975"/>
            <a:ext cx="224100" cy="225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188" y="1842599"/>
            <a:ext cx="6355078" cy="3242011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Basic Idea for Histogram Equalization</a:t>
            </a:r>
            <a:endParaRPr/>
          </a:p>
        </p:txBody>
      </p:sp>
      <p:pic>
        <p:nvPicPr>
          <p:cNvPr id="443" name="Google Shape;44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9225" y="4512125"/>
            <a:ext cx="692600" cy="22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9700" y="4512125"/>
            <a:ext cx="790468" cy="22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188" y="1842599"/>
            <a:ext cx="6355078" cy="3242011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Basic Idea for Histogram Equalization</a:t>
            </a:r>
            <a:endParaRPr/>
          </a:p>
        </p:txBody>
      </p:sp>
      <p:pic>
        <p:nvPicPr>
          <p:cNvPr id="451" name="Google Shape;45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9225" y="4512125"/>
            <a:ext cx="692600" cy="22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9700" y="4512125"/>
            <a:ext cx="790468" cy="22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9525" y="2185300"/>
            <a:ext cx="2424117" cy="22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9530" y="1959450"/>
            <a:ext cx="549568" cy="22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69525" y="2822125"/>
            <a:ext cx="1844443" cy="22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69525" y="3250750"/>
            <a:ext cx="2597269" cy="22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Numerical Example</a:t>
            </a:r>
            <a:endParaRPr/>
          </a:p>
        </p:txBody>
      </p:sp>
      <p:graphicFrame>
        <p:nvGraphicFramePr>
          <p:cNvPr id="462" name="Google Shape;462;p43"/>
          <p:cNvGraphicFramePr/>
          <p:nvPr/>
        </p:nvGraphicFramePr>
        <p:xfrm>
          <a:off x="471900" y="239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  <a:gridCol w="1225300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[CDF]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1023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1813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0.44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850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2663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0.65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3319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3648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3893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4015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4096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1.00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3" name="Google Shape;463;p43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(</a:t>
            </a: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8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8" name="Google Shape;468;p44"/>
          <p:cNvGraphicFramePr/>
          <p:nvPr/>
        </p:nvGraphicFramePr>
        <p:xfrm>
          <a:off x="471900" y="239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  <a:gridCol w="1225300"/>
                <a:gridCol w="1616475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[CDF]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 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round(7xF(r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))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1023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1813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0.44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850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2663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0.65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3319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3648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3893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4015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4096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1.00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9" name="Google Shape;469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Numerical Example</a:t>
            </a:r>
            <a:endParaRPr/>
          </a:p>
        </p:txBody>
      </p:sp>
      <p:sp>
        <p:nvSpPr>
          <p:cNvPr id="470" name="Google Shape;470;p44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(</a:t>
            </a: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8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5" name="Google Shape;475;p45"/>
          <p:cNvGraphicFramePr/>
          <p:nvPr/>
        </p:nvGraphicFramePr>
        <p:xfrm>
          <a:off x="471900" y="239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  <a:gridCol w="1225300"/>
                <a:gridCol w="1616475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[CDF]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 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round(7xF(r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))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0.19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=round(</a:t>
                      </a:r>
                      <a:r>
                        <a:rPr b="1" lang="en" sz="1200" u="none" cap="none" strike="noStrike">
                          <a:solidFill>
                            <a:schemeClr val="accent6"/>
                          </a:solidFill>
                        </a:rPr>
                        <a:t>7 </a:t>
                      </a:r>
                      <a:r>
                        <a:rPr lang="en" sz="1200" u="none" cap="none" strike="noStrike">
                          <a:solidFill>
                            <a:schemeClr val="dk2"/>
                          </a:solidFill>
                        </a:rPr>
                        <a:t>x </a:t>
                      </a: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0.19</a:t>
                      </a:r>
                      <a:r>
                        <a:rPr lang="en" sz="1200" u="none" cap="none" strike="noStrike"/>
                        <a:t>)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1023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1813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0.44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850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2663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0.65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3319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3648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3893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4015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4096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1.00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6" name="Google Shape;476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Numerical Example</a:t>
            </a:r>
            <a:endParaRPr/>
          </a:p>
        </p:txBody>
      </p:sp>
      <p:sp>
        <p:nvSpPr>
          <p:cNvPr id="477" name="Google Shape;477;p45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(</a:t>
            </a:r>
            <a:r>
              <a:rPr b="1" i="0" lang="en" sz="1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8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2" name="Google Shape;482;p46"/>
          <p:cNvGraphicFramePr/>
          <p:nvPr/>
        </p:nvGraphicFramePr>
        <p:xfrm>
          <a:off x="471900" y="239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  <a:gridCol w="1225300"/>
                <a:gridCol w="1616475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[CDF]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 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round(7xF(r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))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0.19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=round(</a:t>
                      </a:r>
                      <a:r>
                        <a:rPr b="1" lang="en" sz="1200" u="none" cap="none" strike="noStrike">
                          <a:solidFill>
                            <a:schemeClr val="accent2"/>
                          </a:solidFill>
                        </a:rPr>
                        <a:t>1.33</a:t>
                      </a:r>
                      <a:r>
                        <a:rPr lang="en" sz="1200" u="none" cap="none" strike="noStrike"/>
                        <a:t>)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1023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1813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0.44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850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2663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0.65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3319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3648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3893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4015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4096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1.00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3" name="Google Shape;483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Numerical Example</a:t>
            </a:r>
            <a:endParaRPr/>
          </a:p>
        </p:txBody>
      </p:sp>
      <p:sp>
        <p:nvSpPr>
          <p:cNvPr id="484" name="Google Shape;484;p46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(</a:t>
            </a:r>
            <a:r>
              <a:rPr b="1" i="0" lang="en" sz="1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8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9" name="Google Shape;489;p47"/>
          <p:cNvGraphicFramePr/>
          <p:nvPr/>
        </p:nvGraphicFramePr>
        <p:xfrm>
          <a:off x="471900" y="239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  <a:gridCol w="1225300"/>
                <a:gridCol w="1616475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[CDF]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 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round(7xF(r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))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5"/>
                          </a:solidFill>
                        </a:rPr>
                        <a:t>0.19</a:t>
                      </a:r>
                      <a:endParaRPr b="1" sz="1200" u="none" cap="none" strike="noStrike">
                        <a:solidFill>
                          <a:schemeClr val="accent5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accent2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accent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1023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1813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0.44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850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2663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0.65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3319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3648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3893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4015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4096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1.00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0" name="Google Shape;490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Numerical Example</a:t>
            </a:r>
            <a:endParaRPr/>
          </a:p>
        </p:txBody>
      </p:sp>
      <p:sp>
        <p:nvSpPr>
          <p:cNvPr id="491" name="Google Shape;491;p47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(</a:t>
            </a:r>
            <a:r>
              <a:rPr b="1" i="0" lang="en" sz="1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8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6" name="Google Shape;496;p48"/>
          <p:cNvGraphicFramePr/>
          <p:nvPr/>
        </p:nvGraphicFramePr>
        <p:xfrm>
          <a:off x="471900" y="239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  <a:gridCol w="1225300"/>
                <a:gridCol w="1616475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[CDF]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 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round(7xF(r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))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1023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1813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0.44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850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2663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0.65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3319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3648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3893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4015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4096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1.00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7" name="Google Shape;497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Numerical Example</a:t>
            </a:r>
            <a:endParaRPr/>
          </a:p>
        </p:txBody>
      </p:sp>
      <p:sp>
        <p:nvSpPr>
          <p:cNvPr id="498" name="Google Shape;498;p48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(</a:t>
            </a: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8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3" name="Google Shape;503;p49"/>
          <p:cNvGraphicFramePr/>
          <p:nvPr/>
        </p:nvGraphicFramePr>
        <p:xfrm>
          <a:off x="471900" y="239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{3090C996-3937-4791-B839-4F53BED45A30}</a:tableStyleId>
              </a:tblPr>
              <a:tblGrid>
                <a:gridCol w="589125"/>
                <a:gridCol w="761600"/>
                <a:gridCol w="1333175"/>
                <a:gridCol w="1462550"/>
                <a:gridCol w="1225300"/>
                <a:gridCol w="1616475"/>
              </a:tblGrid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aseline="-25000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[PDF]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" sz="1200" u="none" cap="none" strike="noStrike"/>
                        <a:t> 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 </a:t>
                      </a:r>
                      <a:r>
                        <a:rPr lang="en" sz="1200" u="none" cap="none" strike="noStrike"/>
                        <a:t>[CDF]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 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round(7xF(r</a:t>
                      </a:r>
                      <a:r>
                        <a:rPr baseline="-25000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)) 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790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1023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1813</a:t>
                      </a:r>
                      <a:endParaRPr sz="1200" u="none" cap="none" strike="noStrike">
                        <a:solidFill>
                          <a:srgbClr val="9E9E9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0.44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850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0.21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2663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0.65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656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0.16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3319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329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3648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0.89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245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3893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122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0.03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4015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0.98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81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0.02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4096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1.00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7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4" name="Google Shape;504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Numerical Example</a:t>
            </a:r>
            <a:endParaRPr/>
          </a:p>
        </p:txBody>
      </p:sp>
      <p:sp>
        <p:nvSpPr>
          <p:cNvPr id="505" name="Google Shape;505;p49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(</a:t>
            </a: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8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Numerical Example</a:t>
            </a:r>
            <a:endParaRPr/>
          </a:p>
        </p:txBody>
      </p:sp>
      <p:sp>
        <p:nvSpPr>
          <p:cNvPr id="511" name="Google Shape;511;p50"/>
          <p:cNvSpPr txBox="1"/>
          <p:nvPr/>
        </p:nvSpPr>
        <p:spPr>
          <a:xfrm>
            <a:off x="471900" y="1788388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random (64 x 64) image with 3 bit or 8 quantization levels (</a:t>
            </a: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8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2" name="Google Shape;51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1338" y="2623922"/>
            <a:ext cx="2743200" cy="154616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3" name="Google Shape;51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138" y="2623925"/>
            <a:ext cx="2743200" cy="15453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4" name="Google Shape;514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4538" y="2623925"/>
            <a:ext cx="2743200" cy="15453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1988" y="3449163"/>
            <a:ext cx="1892001" cy="16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0" name="Google Shape;520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8963" y="3449175"/>
            <a:ext cx="2011680" cy="16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1" name="Google Shape;521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1988" y="1772763"/>
            <a:ext cx="1892001" cy="1600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2" name="Google Shape;522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8963" y="1772775"/>
            <a:ext cx="2011680" cy="1600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3" name="Google Shape;523;p5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Examples</a:t>
            </a:r>
            <a:endParaRPr/>
          </a:p>
        </p:txBody>
      </p:sp>
      <p:pic>
        <p:nvPicPr>
          <p:cNvPr id="524" name="Google Shape;524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900" y="1772775"/>
            <a:ext cx="2014369" cy="1600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5" name="Google Shape;525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86275" y="1772775"/>
            <a:ext cx="1892001" cy="1600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6" name="Google Shape;526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86263" y="3449163"/>
            <a:ext cx="1892001" cy="16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7" name="Google Shape;52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38" y="3449175"/>
            <a:ext cx="2011680" cy="16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8963" y="3449175"/>
            <a:ext cx="2011680" cy="16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3" name="Google Shape;53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1988" y="3449163"/>
            <a:ext cx="1892001" cy="16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4" name="Google Shape;534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1988" y="1771638"/>
            <a:ext cx="1892001" cy="1600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5" name="Google Shape;535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8963" y="1772775"/>
            <a:ext cx="2011680" cy="1600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86263" y="1772763"/>
            <a:ext cx="1892001" cy="1600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7" name="Google Shape;537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238" y="1772775"/>
            <a:ext cx="2011680" cy="1600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8" name="Google Shape;538;p5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Examples</a:t>
            </a:r>
            <a:endParaRPr/>
          </a:p>
        </p:txBody>
      </p:sp>
      <p:pic>
        <p:nvPicPr>
          <p:cNvPr id="539" name="Google Shape;539;p5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86263" y="3449163"/>
            <a:ext cx="1892001" cy="16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40" name="Google Shape;540;p5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3238" y="3449175"/>
            <a:ext cx="2011680" cy="16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sp>
        <p:nvSpPr>
          <p:cNvPr id="546" name="Google Shape;546;p53"/>
          <p:cNvSpPr txBox="1"/>
          <p:nvPr/>
        </p:nvSpPr>
        <p:spPr>
          <a:xfrm>
            <a:off x="471900" y="1897800"/>
            <a:ext cx="399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Wrong method - channel wise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7" name="Google Shape;54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1788" y="2362700"/>
            <a:ext cx="1652625" cy="262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0273" y="2361550"/>
            <a:ext cx="1655064" cy="2624328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sp>
        <p:nvSpPr>
          <p:cNvPr id="554" name="Google Shape;554;p54"/>
          <p:cNvSpPr txBox="1"/>
          <p:nvPr/>
        </p:nvSpPr>
        <p:spPr>
          <a:xfrm>
            <a:off x="471900" y="1897800"/>
            <a:ext cx="399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Wrong method - channel wise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5" name="Google Shape;55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1788" y="2362700"/>
            <a:ext cx="1652625" cy="2622024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54"/>
          <p:cNvSpPr txBox="1"/>
          <p:nvPr/>
        </p:nvSpPr>
        <p:spPr>
          <a:xfrm>
            <a:off x="4701600" y="1897800"/>
            <a:ext cx="399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Correct method - RGB to LAB, equalize L, LAB to RGB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54"/>
          <p:cNvSpPr txBox="1"/>
          <p:nvPr/>
        </p:nvSpPr>
        <p:spPr>
          <a:xfrm>
            <a:off x="4701600" y="4897975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https://en.wikipedia.org/wiki/CIELAB_color_space</a:t>
            </a:r>
            <a:endParaRPr b="0" i="0" sz="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Failure of 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 </a:t>
            </a:r>
            <a:endParaRPr/>
          </a:p>
        </p:txBody>
      </p:sp>
      <p:pic>
        <p:nvPicPr>
          <p:cNvPr id="563" name="Google Shape;563;p55"/>
          <p:cNvPicPr preferRelativeResize="0"/>
          <p:nvPr/>
        </p:nvPicPr>
        <p:blipFill rotWithShape="1">
          <a:blip r:embed="rId3">
            <a:alphaModFix/>
          </a:blip>
          <a:srcRect b="0" l="0" r="27324" t="0"/>
          <a:stretch/>
        </p:blipFill>
        <p:spPr>
          <a:xfrm>
            <a:off x="398925" y="1726075"/>
            <a:ext cx="3870524" cy="318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55"/>
          <p:cNvSpPr txBox="1"/>
          <p:nvPr/>
        </p:nvSpPr>
        <p:spPr>
          <a:xfrm>
            <a:off x="398925" y="4908175"/>
            <a:ext cx="532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Reproduced from https://scikit-image.org/docs/stable/auto_examples/color_exposure/plot_equalize.html?highlight=histogram%20equalization</a:t>
            </a:r>
            <a:endParaRPr b="0" i="0" sz="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55"/>
          <p:cNvSpPr txBox="1"/>
          <p:nvPr/>
        </p:nvSpPr>
        <p:spPr>
          <a:xfrm>
            <a:off x="4572000" y="3040075"/>
            <a:ext cx="399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Details in low (or high) intensity value lost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Noise (grains) amplified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3625" y="3434975"/>
            <a:ext cx="1885650" cy="1600207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Failure of 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 </a:t>
            </a:r>
            <a:endParaRPr/>
          </a:p>
        </p:txBody>
      </p:sp>
      <p:sp>
        <p:nvSpPr>
          <p:cNvPr id="572" name="Google Shape;572;p56"/>
          <p:cNvSpPr txBox="1"/>
          <p:nvPr/>
        </p:nvSpPr>
        <p:spPr>
          <a:xfrm>
            <a:off x="4572000" y="3040075"/>
            <a:ext cx="399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Does not perform well for images with large area in low intensity region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“Equalized” histogram does not have linear CDF 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3" name="Google Shape;573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650" y="3434975"/>
            <a:ext cx="208026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8988" y="1771650"/>
            <a:ext cx="1743663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900" y="1771650"/>
            <a:ext cx="2097738" cy="1600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4613" y="3434975"/>
            <a:ext cx="1883664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3434975"/>
            <a:ext cx="2097750" cy="159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900" y="1774600"/>
            <a:ext cx="2097750" cy="1594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27999" y="1771650"/>
            <a:ext cx="188565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5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Failure of Histogram Equalization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 </a:t>
            </a:r>
            <a:endParaRPr/>
          </a:p>
        </p:txBody>
      </p:sp>
      <p:sp>
        <p:nvSpPr>
          <p:cNvPr id="585" name="Google Shape;585;p57"/>
          <p:cNvSpPr txBox="1"/>
          <p:nvPr/>
        </p:nvSpPr>
        <p:spPr>
          <a:xfrm>
            <a:off x="4572000" y="3040075"/>
            <a:ext cx="399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Flat histogram (linear CDF) not always good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Notice - Background much clear, but face details lost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Adaptive Histogram Equalization (AHE)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Idea</a:t>
            </a:r>
            <a:endParaRPr/>
          </a:p>
        </p:txBody>
      </p:sp>
      <p:pic>
        <p:nvPicPr>
          <p:cNvPr id="591" name="Google Shape;59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879275"/>
            <a:ext cx="4114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8"/>
          <p:cNvSpPr txBox="1"/>
          <p:nvPr/>
        </p:nvSpPr>
        <p:spPr>
          <a:xfrm>
            <a:off x="471900" y="4622475"/>
            <a:ext cx="4114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Vswitchs - Own work, CC0, https://commons.wikimedia.org/w/index.php?curid=17467187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58"/>
          <p:cNvSpPr txBox="1"/>
          <p:nvPr/>
        </p:nvSpPr>
        <p:spPr>
          <a:xfrm>
            <a:off x="5167975" y="2265575"/>
            <a:ext cx="3525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If image contains regions that are significantly lighter (or darker), the contrast in those regions will not be sufficiently enhanced.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Apply histogram equalization on a local neighbor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Adaptive Histogram Equalization (AHE)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Examples</a:t>
            </a:r>
            <a:endParaRPr/>
          </a:p>
        </p:txBody>
      </p:sp>
      <p:pic>
        <p:nvPicPr>
          <p:cNvPr id="599" name="Google Shape;59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86875"/>
            <a:ext cx="7315200" cy="260177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9"/>
          <p:cNvSpPr txBox="1"/>
          <p:nvPr/>
        </p:nvSpPr>
        <p:spPr>
          <a:xfrm>
            <a:off x="979725" y="4558350"/>
            <a:ext cx="235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Original Image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59"/>
          <p:cNvSpPr txBox="1"/>
          <p:nvPr/>
        </p:nvSpPr>
        <p:spPr>
          <a:xfrm>
            <a:off x="3429000" y="4588650"/>
            <a:ext cx="2286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Global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59"/>
          <p:cNvSpPr txBox="1"/>
          <p:nvPr/>
        </p:nvSpPr>
        <p:spPr>
          <a:xfrm>
            <a:off x="5715000" y="4576350"/>
            <a:ext cx="2699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Local (3x3)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59"/>
          <p:cNvSpPr txBox="1"/>
          <p:nvPr/>
        </p:nvSpPr>
        <p:spPr>
          <a:xfrm>
            <a:off x="914400" y="1740575"/>
            <a:ext cx="415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2050" y="1738150"/>
            <a:ext cx="5321808" cy="3182441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Adaptive Histogram Equalization (AHE)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Examples</a:t>
            </a:r>
            <a:endParaRPr/>
          </a:p>
        </p:txBody>
      </p:sp>
      <p:sp>
        <p:nvSpPr>
          <p:cNvPr id="610" name="Google Shape;610;p60"/>
          <p:cNvSpPr txBox="1"/>
          <p:nvPr/>
        </p:nvSpPr>
        <p:spPr>
          <a:xfrm>
            <a:off x="1920000" y="4920425"/>
            <a:ext cx="532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Reproduced from https://scikit-image.org/docs/stable/auto_examples/color_exposure/plot_equalize.html?highlight=histogram%20equalization</a:t>
            </a:r>
            <a:endParaRPr b="0" i="0" sz="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4550" y="2034863"/>
            <a:ext cx="2743200" cy="208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2039675"/>
            <a:ext cx="2743200" cy="2074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1350" y="2039663"/>
            <a:ext cx="2743200" cy="2074606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6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Adaptive Histogram Equalization (AHE)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Examples</a:t>
            </a:r>
            <a:endParaRPr/>
          </a:p>
        </p:txBody>
      </p:sp>
      <p:sp>
        <p:nvSpPr>
          <p:cNvPr id="619" name="Google Shape;619;p61"/>
          <p:cNvSpPr txBox="1"/>
          <p:nvPr/>
        </p:nvSpPr>
        <p:spPr>
          <a:xfrm>
            <a:off x="667950" y="4129750"/>
            <a:ext cx="235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Original Image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61"/>
          <p:cNvSpPr txBox="1"/>
          <p:nvPr/>
        </p:nvSpPr>
        <p:spPr>
          <a:xfrm>
            <a:off x="3439950" y="4160050"/>
            <a:ext cx="2286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Global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61"/>
          <p:cNvSpPr txBox="1"/>
          <p:nvPr/>
        </p:nvSpPr>
        <p:spPr>
          <a:xfrm>
            <a:off x="5850600" y="4147750"/>
            <a:ext cx="2951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Local (36x36)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Adaptive Histogram Equalization (AHE)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Failure Example</a:t>
            </a:r>
            <a:endParaRPr/>
          </a:p>
        </p:txBody>
      </p:sp>
      <p:pic>
        <p:nvPicPr>
          <p:cNvPr id="627" name="Google Shape;62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1350" y="2024225"/>
            <a:ext cx="2743200" cy="210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2025425"/>
            <a:ext cx="2743201" cy="2103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4550" y="2025425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62"/>
          <p:cNvSpPr txBox="1"/>
          <p:nvPr/>
        </p:nvSpPr>
        <p:spPr>
          <a:xfrm>
            <a:off x="667950" y="4129750"/>
            <a:ext cx="235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Original Image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62"/>
          <p:cNvSpPr txBox="1"/>
          <p:nvPr/>
        </p:nvSpPr>
        <p:spPr>
          <a:xfrm>
            <a:off x="3439950" y="4160050"/>
            <a:ext cx="2286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Global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62"/>
          <p:cNvSpPr txBox="1"/>
          <p:nvPr/>
        </p:nvSpPr>
        <p:spPr>
          <a:xfrm>
            <a:off x="5850600" y="4147750"/>
            <a:ext cx="2951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Local (100x100)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3" name="Google Shape;633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54550" y="2025425"/>
            <a:ext cx="274320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Adaptive Histogram Equalization (AHE)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Failure Example</a:t>
            </a:r>
            <a:endParaRPr/>
          </a:p>
        </p:txBody>
      </p:sp>
      <p:sp>
        <p:nvSpPr>
          <p:cNvPr id="639" name="Google Shape;639;p63"/>
          <p:cNvSpPr txBox="1"/>
          <p:nvPr/>
        </p:nvSpPr>
        <p:spPr>
          <a:xfrm>
            <a:off x="667950" y="4129750"/>
            <a:ext cx="235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Original Image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63"/>
          <p:cNvSpPr txBox="1"/>
          <p:nvPr/>
        </p:nvSpPr>
        <p:spPr>
          <a:xfrm>
            <a:off x="3439950" y="4160050"/>
            <a:ext cx="2286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Global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63"/>
          <p:cNvSpPr txBox="1"/>
          <p:nvPr/>
        </p:nvSpPr>
        <p:spPr>
          <a:xfrm>
            <a:off x="5850600" y="4147750"/>
            <a:ext cx="2951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Local (100x100)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2" name="Google Shape;64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4113" y="2025423"/>
            <a:ext cx="1498779" cy="2103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3" name="Google Shape;64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5438" y="2025428"/>
            <a:ext cx="1498775" cy="21031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4" name="Google Shape;644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3000" y="2025428"/>
            <a:ext cx="1498775" cy="21031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Limited Adaptive Histogram Equalization (CLAHE)</a:t>
            </a:r>
            <a:endParaRPr/>
          </a:p>
        </p:txBody>
      </p:sp>
      <p:pic>
        <p:nvPicPr>
          <p:cNvPr id="650" name="Google Shape;65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5500" y="3152100"/>
            <a:ext cx="471487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64"/>
          <p:cNvSpPr txBox="1"/>
          <p:nvPr/>
        </p:nvSpPr>
        <p:spPr>
          <a:xfrm>
            <a:off x="2225550" y="4866600"/>
            <a:ext cx="4714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Vswitchs - Own work, CC0, https://commons.wikimedia.org/w/index.php?curid=17500777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64"/>
          <p:cNvSpPr txBox="1"/>
          <p:nvPr/>
        </p:nvSpPr>
        <p:spPr>
          <a:xfrm>
            <a:off x="471900" y="1928600"/>
            <a:ext cx="822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Both global and AHE tends to amplify the contrast in near-constant region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Result - noise amplification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Solution: Contrast Limited AHE (CLAHE), where the contrast amplification is limited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Limited Adaptive Histogram Equalization (CLAHE)</a:t>
            </a:r>
            <a:endParaRPr/>
          </a:p>
        </p:txBody>
      </p:sp>
      <p:pic>
        <p:nvPicPr>
          <p:cNvPr id="658" name="Google Shape;65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1350" y="2024225"/>
            <a:ext cx="2743200" cy="210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2025425"/>
            <a:ext cx="2743201" cy="2103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4550" y="2025425"/>
            <a:ext cx="27432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65"/>
          <p:cNvSpPr txBox="1"/>
          <p:nvPr/>
        </p:nvSpPr>
        <p:spPr>
          <a:xfrm>
            <a:off x="667950" y="4129750"/>
            <a:ext cx="235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Original Image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65"/>
          <p:cNvSpPr txBox="1"/>
          <p:nvPr/>
        </p:nvSpPr>
        <p:spPr>
          <a:xfrm>
            <a:off x="3439950" y="4160050"/>
            <a:ext cx="2286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Global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65"/>
          <p:cNvSpPr txBox="1"/>
          <p:nvPr/>
        </p:nvSpPr>
        <p:spPr>
          <a:xfrm>
            <a:off x="5850600" y="4147750"/>
            <a:ext cx="2951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Local (100x100)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65"/>
          <p:cNvSpPr txBox="1"/>
          <p:nvPr/>
        </p:nvSpPr>
        <p:spPr>
          <a:xfrm>
            <a:off x="5826150" y="4468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Clip limit = 1% of kernel size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4550" y="2024588"/>
            <a:ext cx="2743200" cy="2104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1350" y="2024588"/>
            <a:ext cx="2743200" cy="2104783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6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Limited Adaptive Histogram Equalization (CLAHE)</a:t>
            </a:r>
            <a:endParaRPr/>
          </a:p>
        </p:txBody>
      </p:sp>
      <p:pic>
        <p:nvPicPr>
          <p:cNvPr id="672" name="Google Shape;672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900" y="2025425"/>
            <a:ext cx="2743201" cy="2103121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6"/>
          <p:cNvSpPr txBox="1"/>
          <p:nvPr/>
        </p:nvSpPr>
        <p:spPr>
          <a:xfrm>
            <a:off x="667950" y="4129750"/>
            <a:ext cx="235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Original Image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66"/>
          <p:cNvSpPr txBox="1"/>
          <p:nvPr/>
        </p:nvSpPr>
        <p:spPr>
          <a:xfrm>
            <a:off x="3439950" y="4160050"/>
            <a:ext cx="2286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Global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66"/>
          <p:cNvSpPr txBox="1"/>
          <p:nvPr/>
        </p:nvSpPr>
        <p:spPr>
          <a:xfrm>
            <a:off x="5850600" y="4147750"/>
            <a:ext cx="2951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Local (100x100)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66"/>
          <p:cNvSpPr txBox="1"/>
          <p:nvPr/>
        </p:nvSpPr>
        <p:spPr>
          <a:xfrm>
            <a:off x="5826150" y="4468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Clip limit = 1% of kernel size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3000" y="2025428"/>
            <a:ext cx="1498775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6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Limited Adaptive Histogram Equalization (CLAHE)</a:t>
            </a:r>
            <a:endParaRPr/>
          </a:p>
        </p:txBody>
      </p:sp>
      <p:sp>
        <p:nvSpPr>
          <p:cNvPr id="683" name="Google Shape;683;p67"/>
          <p:cNvSpPr txBox="1"/>
          <p:nvPr/>
        </p:nvSpPr>
        <p:spPr>
          <a:xfrm>
            <a:off x="667950" y="4129750"/>
            <a:ext cx="235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Original Image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67"/>
          <p:cNvSpPr txBox="1"/>
          <p:nvPr/>
        </p:nvSpPr>
        <p:spPr>
          <a:xfrm>
            <a:off x="3439950" y="4160050"/>
            <a:ext cx="2286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Global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67"/>
          <p:cNvSpPr txBox="1"/>
          <p:nvPr/>
        </p:nvSpPr>
        <p:spPr>
          <a:xfrm>
            <a:off x="5850600" y="4147750"/>
            <a:ext cx="2951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Local (100x100)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6" name="Google Shape;68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113" y="2025423"/>
            <a:ext cx="1498779" cy="2103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7" name="Google Shape;687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5438" y="2025428"/>
            <a:ext cx="1498775" cy="21031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8" name="Google Shape;688;p67"/>
          <p:cNvSpPr txBox="1"/>
          <p:nvPr/>
        </p:nvSpPr>
        <p:spPr>
          <a:xfrm>
            <a:off x="5826150" y="4468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Clip limit = 5% of kernel size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4550" y="2039125"/>
            <a:ext cx="2743200" cy="2075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00" y="2039675"/>
            <a:ext cx="2743200" cy="2074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1350" y="2039663"/>
            <a:ext cx="2743200" cy="2074606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6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Limited Adaptive Histogram Equalization (CLAHE)</a:t>
            </a:r>
            <a:endParaRPr/>
          </a:p>
        </p:txBody>
      </p:sp>
      <p:sp>
        <p:nvSpPr>
          <p:cNvPr id="697" name="Google Shape;697;p68"/>
          <p:cNvSpPr txBox="1"/>
          <p:nvPr/>
        </p:nvSpPr>
        <p:spPr>
          <a:xfrm>
            <a:off x="667950" y="4129750"/>
            <a:ext cx="235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Original Image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68"/>
          <p:cNvSpPr txBox="1"/>
          <p:nvPr/>
        </p:nvSpPr>
        <p:spPr>
          <a:xfrm>
            <a:off x="3439950" y="4160050"/>
            <a:ext cx="2286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Global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68"/>
          <p:cNvSpPr txBox="1"/>
          <p:nvPr/>
        </p:nvSpPr>
        <p:spPr>
          <a:xfrm>
            <a:off x="5850600" y="4147750"/>
            <a:ext cx="2951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Local (36x36) Histogram Equalization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68"/>
          <p:cNvSpPr txBox="1"/>
          <p:nvPr/>
        </p:nvSpPr>
        <p:spPr>
          <a:xfrm>
            <a:off x="5826150" y="4468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Clip limit = 1% of kernel size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Matching (Specification)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706" name="Google Shape;70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725" y="2391750"/>
            <a:ext cx="8220457" cy="210591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69"/>
          <p:cNvSpPr txBox="1"/>
          <p:nvPr/>
        </p:nvSpPr>
        <p:spPr>
          <a:xfrm>
            <a:off x="471900" y="4497675"/>
            <a:ext cx="822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Reproduced from https://scikit-image.org/docs/stable/auto_examples/color_exposure/plot_histogram_matching.html?highlight=histogram%20equalization</a:t>
            </a:r>
            <a:endParaRPr b="0" i="0" sz="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Matching (Specification)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713" name="Google Shape;71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000" y="1717850"/>
            <a:ext cx="1258824" cy="32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2499" y="1717838"/>
            <a:ext cx="3200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70"/>
          <p:cNvSpPr txBox="1"/>
          <p:nvPr/>
        </p:nvSpPr>
        <p:spPr>
          <a:xfrm>
            <a:off x="0" y="4866600"/>
            <a:ext cx="822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Reproduced from https://scikit-image.org/docs/stable/auto_examples/color_exposure/plot_histogram_matching.html?highlight=histogram%20equalization</a:t>
            </a:r>
            <a:endParaRPr b="0" i="0" sz="6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Matching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How to</a:t>
            </a:r>
            <a:endParaRPr/>
          </a:p>
        </p:txBody>
      </p:sp>
      <p:pic>
        <p:nvPicPr>
          <p:cNvPr id="721" name="Google Shape;7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975950"/>
            <a:ext cx="4191550" cy="28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71"/>
          <p:cNvSpPr txBox="1"/>
          <p:nvPr/>
        </p:nvSpPr>
        <p:spPr>
          <a:xfrm>
            <a:off x="471900" y="4787050"/>
            <a:ext cx="8112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Llorenzi - https://commons.wikimedia.org/wiki/File:Histogram_matching.PNG, CC BY-SA 3.0, https://commons.wikimedia.org/w/index.php?curid=65976023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Matching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How to</a:t>
            </a:r>
            <a:endParaRPr/>
          </a:p>
        </p:txBody>
      </p:sp>
      <p:pic>
        <p:nvPicPr>
          <p:cNvPr id="728" name="Google Shape;72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975950"/>
            <a:ext cx="4191550" cy="28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2249" y="3141713"/>
            <a:ext cx="3547376" cy="35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72"/>
          <p:cNvSpPr txBox="1"/>
          <p:nvPr/>
        </p:nvSpPr>
        <p:spPr>
          <a:xfrm>
            <a:off x="471900" y="4787050"/>
            <a:ext cx="8112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Llorenzi - https://commons.wikimedia.org/wiki/File:Histogram_matching.PNG, CC BY-SA 3.0, https://commons.wikimedia.org/w/index.php?curid=65976023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7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Histogram Matching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Example</a:t>
            </a:r>
            <a:endParaRPr/>
          </a:p>
        </p:txBody>
      </p:sp>
      <p:pic>
        <p:nvPicPr>
          <p:cNvPr id="736" name="Google Shape;73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197650"/>
            <a:ext cx="8229601" cy="1693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